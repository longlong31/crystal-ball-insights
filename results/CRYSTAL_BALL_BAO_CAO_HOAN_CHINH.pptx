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7620">
            <a:solidFill>
              <a:srgbClr val="D4D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 Ball • AI Portfolio Research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D:\CRM\crystal-ball-insights\src\assets\dashboard-preview.jp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6629400" y="548640"/>
            <a:ext cx="507492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132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 BALL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1298448"/>
            <a:ext cx="5806440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AI trong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Danh mục Đầu tư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21792" y="331012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bảo vệ dự án theo rubric • Predict-then-optimize • Walk-forward backtest • Ablation study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160520"/>
            <a:ext cx="3977640" cy="0"/>
          </a:xfrm>
          <a:prstGeom prst="line">
            <a:avLst/>
          </a:prstGeom>
          <a:noFill/>
          <a:ln w="38100">
            <a:solidFill>
              <a:srgbClr val="167A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5902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Quách Thành Long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06/09/2026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33488" y="5806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9.5–10/10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418320" y="58795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 đáp ứng rubric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 bảo vệ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Dự án không chỉ là giao diện demo, mà là một pipeline nghiên cứu AI/ML có thể tái lập cho quản lý danh mục đầu tư.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58368" y="2743200"/>
            <a:ext cx="205740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88036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33009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sản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50215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cổ phiếu + TLT/GLD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89504" y="2743200"/>
            <a:ext cx="205740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88036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35808" y="33009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ngoài mẫu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35808" y="350215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mẫu chuỗi thời gian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2743200"/>
            <a:ext cx="205740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288036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66944" y="33009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66944" y="350215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51776" y="2743200"/>
            <a:ext cx="205740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88036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1.626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98080" y="33009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tốt nhất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350215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APT_3Factor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582912" y="2743200"/>
            <a:ext cx="205740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9216" y="288036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9.5–10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729216" y="33009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729216" y="350215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đánh giá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4251960"/>
            <a:ext cx="5303520" cy="114300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37997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681728"/>
            <a:ext cx="4974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dữ liệu thật, split chống leakage, baseline đa tầng, mô hình đề xuất, ablation, backtest, Streamlit demo và báo cáo DOCX/Markdown.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251960"/>
            <a:ext cx="5303520" cy="1143000"/>
          </a:xfrm>
          <a:prstGeom prst="rect">
            <a:avLst/>
          </a:prstGeom>
          <a:solidFill>
            <a:srgbClr val="F8FAFC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437997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cần nói trung thực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73952" y="4681728"/>
            <a:ext cx="49743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PA-Transformer có giá trị nghiên cứu qua ablation; kết quả Sharpe cao nhất hiện tại thuộc về APT_3Factor, không nên tuyên bố sai rằng mô hình đề xuất thắng mọi baseline.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24535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results/RUBRIC_CHUNG_MINH_SIEU_CHI_TIET.md; ai-portfolio-research/results/*.csv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Rubric: mức đáp ứng theo từng tiêu chí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881360" cy="4297680"/>
        </p:xfrm>
        <a:graphic>
          <a:graphicData uri="http://schemas.openxmlformats.org/drawingml/2006/table">
            <a:tbl>
              <a:tblPr/>
              <a:tblGrid>
                <a:gridCol w="685800"/>
                <a:gridCol w="3154680"/>
                <a:gridCol w="1417320"/>
                <a:gridCol w="5623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Rubric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Nội dung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Bằng chứng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Bài toán, dữ liệu, tiền xử lý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1.5/1.5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Đủ input/output, Yahoo Finance, features trailing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Train/Valid/Test &amp; leakage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1.5/1.5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split, embargo 81 phiên, test ngoài mẫu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&amp; so sánh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1.5/1.5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Rule-based, classical, deep learning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hình đề xuất &amp; ablation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2.0/2.0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PA-Transformer A/A+B/A+B+C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Backtest, Sharpe, MDD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1.4–1.5/1.5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Walk-forward, transaction cost, metrics đầy đủ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Streamlit, GitHub, tái lập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1.0/1.0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app_streamlit.py, README, requirements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Báo cáo &amp; hoàn thiện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1.0/1.0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DOCX/Markdown, figures, web app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5806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7A3E"/>
                </a:solidFill>
              </a:rPr>
              <a:t>Kết luận: đủ bằng chứng để bảo vệ cả phần triển khai lẫn phương pháp nghiên cứu.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toán: predict-then-optimize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24231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93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2104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Dữ liệu thị trường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2104" y="2907792"/>
            <a:ext cx="2057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Giá điều chỉnh Yahoo Finance, benchmark SPY, risk-free ^IRX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136392" y="2615184"/>
            <a:ext cx="310896" cy="320040"/>
          </a:xfrm>
          <a:prstGeom prst="rightArrow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828800"/>
            <a:ext cx="2423160" cy="196596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1993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21024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Dự báo lợi suất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21024" y="2907792"/>
            <a:ext cx="2057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Mô hình ước lượng mu_hat cho 21 phiên tiếp theo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25312" y="2615184"/>
            <a:ext cx="310896" cy="320040"/>
          </a:xfrm>
          <a:prstGeom prst="rightArrow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828800"/>
            <a:ext cx="2423160" cy="1965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993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A3E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9944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Tối ưu danh mục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9944" y="2907792"/>
            <a:ext cx="2057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Markowitz Max-Sharpe, long-only, max weight 25%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714232" y="2615184"/>
            <a:ext cx="310896" cy="320040"/>
          </a:xfrm>
          <a:prstGeom prst="rightArrow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1828800"/>
            <a:ext cx="24231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1993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98864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Backtest ngoài mẫu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98864" y="2907792"/>
            <a:ext cx="2057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085"/>
                </a:solidFill>
              </a:rPr>
              <a:t>Walk-forward trên test, có transaction cost 10 bps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68680" y="4572000"/>
            <a:ext cx="10241280" cy="749808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00016"/>
            <a:ext cx="991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 vấn đáp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33272" y="5001768"/>
            <a:ext cx="99120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được dùng để cải thiện đầu vào lợi suất kỳ vọng cho bài toán phân bổ vốn, không phải để “đoán giá” cảm tính.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và tiền xử lý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20116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6459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" y="20665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2104" y="226771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ngành + đa dạng hóa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52928" y="1508760"/>
            <a:ext cx="20116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6459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99232" y="20665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Lookback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226771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quá khứ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0056" y="1508760"/>
            <a:ext cx="20116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6459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66360" y="20665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66360" y="226771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tháng giao dịch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87184" y="1508760"/>
            <a:ext cx="20116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3488" y="16459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33488" y="20665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33488" y="226771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momentum/risk/technical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354312" y="1508760"/>
            <a:ext cx="20116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16459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500616" y="20665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00616" y="226771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Ratio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3063240"/>
            <a:ext cx="51663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dữ liệu: Yahoo Finance qua yfinance; cache tại data/raw/prices.csv và riskfree.csv.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xử lý: căn chỉnh ngày giao dịch, loại dòng thiếu, tính daily returns.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trưng: ret_1, ret_5, ret_21, vol_21, rsi_14, macd_diff, zscore_50.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đặc trưng chỉ dùng dữ liệu quá khứ tại thời điểm dự báo.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990088"/>
          <a:ext cx="4892040" cy="2103120"/>
        </p:xfrm>
        <a:graphic>
          <a:graphicData uri="http://schemas.openxmlformats.org/drawingml/2006/table">
            <a:tbl>
              <a:tblPr/>
              <a:tblGrid>
                <a:gridCol w="1143000"/>
                <a:gridCol w="374904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Nhóm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Cổ phiếu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AAPL, MSFT, GOOGL, AMZN, JPM, JNJ, PG, XOM, NVDA, KO, DIS, WMT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Đa dạng hóa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TLT, GLD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Risk-free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^IRX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Chống data leakage: điểm mạnh cốt lõi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Không shuffle chuỗi thời gian. Không dùng tương lai. Có embargo 81 phiên.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233172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77824" y="2752344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29535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31/12/2018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2194560"/>
            <a:ext cx="233172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233172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83864" y="2752344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83864" y="29535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31/12/2021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2194560"/>
            <a:ext cx="233172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233172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89904" y="2752344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89904" y="29535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ngoài mẫu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549640" y="2194560"/>
            <a:ext cx="233172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95944" y="233172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95944" y="2752344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Embargo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95944" y="29535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+ 21 phiên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4672" y="3803904"/>
            <a:ext cx="3429000" cy="114300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9319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Trailing features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" y="4233672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tại ngày t chỉ dùng dữ liệu đến ngày t, target là lợi suất t → t+21.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89120" y="3803904"/>
            <a:ext cx="3429000" cy="114300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39319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Time split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53712" y="4233672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Train/valid/test theo thứ tự thời gian, phù hợp với mô phỏng đầu tư thật.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73568" y="3803904"/>
            <a:ext cx="3429000" cy="1143000"/>
          </a:xfrm>
          <a:prstGeom prst="rect">
            <a:avLst/>
          </a:prstGeom>
          <a:solidFill>
            <a:srgbClr val="F8FAFC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39319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Frozen test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4233672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trên train, early-stop bằng valid, suy luận trên test sau khi đóng băng tham số.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so sánh đủ rộng và công bằng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337560" cy="361188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45336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47088"/>
            <a:ext cx="300837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EqualWeight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RiskParity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60/40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làm mốc tối thiểu nhưng rất khó đánh bại trong danh mục nhiều nhiễu.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361188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545336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finance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1847088"/>
            <a:ext cx="300837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APT_3Factor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Đưa prior kinh tế/tài chính vào dự báo lợi suất kỳ vọng.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337560" cy="3611880"/>
          </a:xfrm>
          <a:prstGeom prst="rect">
            <a:avLst/>
          </a:prstGeom>
          <a:solidFill>
            <a:srgbClr val="F8FAFC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545336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1847088"/>
            <a:ext cx="300837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/ GRU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xem mô hình phi tuyến có tạo alpha tốt hơn baseline cổ điển không.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56052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7A3E"/>
                </a:solidFill>
              </a:rPr>
              <a:t>Toàn bộ chiến lược được đánh giá trên cùng tập test và cùng walk-forward backtest engine.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đề xuất: PA-Transformer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36192"/>
            <a:ext cx="53949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self-attention: học mẫu động thái trong cửa sổ 60 phiên của từng tài sản.</a:t>
            </a:r>
            <a:endParaRPr lang="en-US" sz="1620" dirty="0"/>
          </a:p>
          <a:p>
            <a:r>
              <a:rPr lang="en-US" sz="16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Cross-asset attention: cho phép các tài sản học quan hệ tương quan/regime với nhau.</a:t>
            </a:r>
            <a:endParaRPr lang="en-US" sz="1620" dirty="0"/>
          </a:p>
          <a:p>
            <a:r>
              <a:rPr lang="en-US" sz="16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Sharpe-aware loss: gắn mục tiêu học với hiệu suất danh mục, không chỉ MSE dự báo.</a:t>
            </a:r>
            <a:endParaRPr lang="en-US" sz="1620" dirty="0"/>
          </a:p>
          <a:p>
            <a:r>
              <a:rPr lang="en-US" sz="16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ra: vector lợi suất kỳ vọng mu_hat cho 14 tài sản, đưa vào Max-Sharpe optimizer.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492240" y="1508760"/>
            <a:ext cx="4480560" cy="777240"/>
          </a:xfrm>
          <a:prstGeom prst="rect">
            <a:avLst/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691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Input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[60 × 14 × 7]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21040" y="2423160"/>
            <a:ext cx="685800" cy="411480"/>
          </a:xfrm>
          <a:prstGeom prst="downArrow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907792"/>
            <a:ext cx="448056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7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30358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7A3E"/>
                </a:solidFill>
              </a:rPr>
              <a:t>PA-Transformer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67A3E"/>
                </a:solidFill>
              </a:rPr>
              <a:t>Temporal + Cross-Asset + Sharpe Loss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321040" y="3822192"/>
            <a:ext cx="685800" cy="411480"/>
          </a:xfrm>
          <a:prstGeom prst="downArrow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4315968"/>
            <a:ext cx="44805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4622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Output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mu_hat → trọng số danh mục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Study: mô hình đề xuất được bóc tách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5257800" cy="2468880"/>
        </p:xfrm>
        <a:graphic>
          <a:graphicData uri="http://schemas.openxmlformats.org/drawingml/2006/table">
            <a:tbl>
              <a:tblPr/>
              <a:tblGrid>
                <a:gridCol w="731520"/>
                <a:gridCol w="2057400"/>
                <a:gridCol w="822960"/>
                <a:gridCol w="164592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Thành phần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luận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 self-attention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0.663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Mạnh nhất trong nhóm proposed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A+B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Cross-asset attention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0.557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Giảm do khả năng overfit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A+B+C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Sharpe-aware loss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0.657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Phục hồi hiệu suất gần stage A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D:\CRM\crystal-ball-insights\ai-portfolio-research\report\figures\ablati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17320"/>
            <a:ext cx="5074920" cy="3337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4343400"/>
            <a:ext cx="525780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4471416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4773168"/>
            <a:ext cx="49286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không cần tăng đều. Giá trị nằm ở việc giải thích: cross-asset attention cần universe lớn hơn, Sharpe-aware loss có tác dụng regularization.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02920" y="624535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ai-portfolio-research/results/ablation_table.csv; report/figures/ablation_bar.png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Backtest: kiểm định ngoài mẫu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pic>
        <p:nvPicPr>
          <p:cNvPr id="5" name="Image 0" descr="D:\CRM\crystal-ball-insights\ai-portfolio-research\report\figures\equity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80644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508760"/>
            <a:ext cx="4480560" cy="96012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76872" y="1636776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76872" y="1938528"/>
            <a:ext cx="41513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cân bằng khoảng mỗi 21 phiên trên tập test; tại mỗi ngày chỉ dùng dữ liệu đã có đến ngày đó.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12280" y="2697480"/>
            <a:ext cx="4480560" cy="960120"/>
          </a:xfrm>
          <a:prstGeom prst="rect">
            <a:avLst/>
          </a:prstGeom>
          <a:solidFill>
            <a:srgbClr val="F8FAFC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76872" y="2825496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giao dịch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76872" y="3127248"/>
            <a:ext cx="41513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cost 10 bps theo thay đổi trọng số giữa hai lần tái cân bằng.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12280" y="3886200"/>
            <a:ext cx="4480560" cy="96012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76872" y="4014216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Ràng buộc thực tế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76872" y="4315968"/>
            <a:ext cx="41513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Long-only, tổng trọng số bằng 1, mỗi tài sản tối đa 25%, covariance Ledoit-Wolf rolling 252 phiên.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24535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ai-portfolio-research/src/backtest.py; src/optimizer.py; report/figures/equity_curves.png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tổng hợp: APT_3Factor dẫn đầu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pic>
        <p:nvPicPr>
          <p:cNvPr id="5" name="Image 0" descr="D:\CRM\crystal-ball-insights\ai-portfolio-research\report\figures\sharp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44168"/>
            <a:ext cx="5440680" cy="4279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554480"/>
            <a:ext cx="22402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84264" y="169164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684264" y="2112264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Return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84264" y="231343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APT_3Factor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9006840" y="1554480"/>
            <a:ext cx="22402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53144" y="169164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1.626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153144" y="2112264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53144" y="231343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nhất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537960" y="2871216"/>
            <a:ext cx="22402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84264" y="3008376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-13.67%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684264" y="342900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84264" y="363016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drawdown tối đa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006840" y="2871216"/>
            <a:ext cx="2240280" cy="1005840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53144" y="3008376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1.910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153144" y="342900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Calmar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153144" y="363016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/ drawdown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537960" y="4315968"/>
            <a:ext cx="4709160" cy="96012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02552" y="4443984"/>
            <a:ext cx="4379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 trung thực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702552" y="4745736"/>
            <a:ext cx="43799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tốt nhất thuộc về APT_3Factor. PA-Transformer chưa thắng mọi baseline, nhưng ablation chỉ ra bài học mô hình hóa có giá trị.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02920" y="624535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ai-portfolio-research/results/metrics_summary.csv; report/figures/sharpe_comparison.png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Frontier: bằng chứng tối ưu hóa danh mục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pic>
        <p:nvPicPr>
          <p:cNvPr id="5" name="Image 0" descr="D:\CRM\crystal-ball-insights\ai-portfolio-research\report\figures\efficient_fron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53312"/>
            <a:ext cx="557784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0" y="1600200"/>
            <a:ext cx="452628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điểm là một danh mục ngẫu nhiên trong không gian rủi ro-lợi suất.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Ngôi sao Max-Sharpe thể hiện danh mục tối ưu theo ước lượng mu và covariance.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dùng Ledoit-Wolf shrinkage để giảm nhiễu so với covariance mẫu.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Ràng buộc max weight 25% giúp danh mục không tập trung quá mức.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720840" y="4983480"/>
            <a:ext cx="4526280" cy="658368"/>
          </a:xfrm>
          <a:prstGeom prst="rect">
            <a:avLst/>
          </a:prstGeom>
          <a:solidFill>
            <a:srgbClr val="F8FAFC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5111496"/>
            <a:ext cx="4197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 vấn đáp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85432" y="5413248"/>
            <a:ext cx="41970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này chứng minh dự án có phần tối ưu danh mục thực sự, không chỉ huấn luyện mô hình dự báo.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demo: nơi trình diễn trực tiếp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17320"/>
            <a:ext cx="507492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4533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1847088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`ai-portfolio-research/app_streamlit.py`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Chạy: `streamlit run app_streamlit.py`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" y="2743200"/>
            <a:ext cx="3154680" cy="749808"/>
          </a:xfrm>
          <a:prstGeom prst="rect">
            <a:avLst/>
          </a:prstGeom>
          <a:solidFill>
            <a:srgbClr val="F0FDF4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843784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Danh mục đề xuất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2104" y="31363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Trọng số và CSV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16552" y="2743200"/>
            <a:ext cx="3154680" cy="749808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843784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Efficient Frontier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31363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Tối ưu Max-Sharpe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19872" y="2743200"/>
            <a:ext cx="3154680" cy="749808"/>
          </a:xfrm>
          <a:prstGeom prst="rect">
            <a:avLst/>
          </a:prstGeom>
          <a:solidFill>
            <a:srgbClr val="F0FDF4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843784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Backtest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38744" y="31363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Equity curve + metrics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3232" y="3794760"/>
            <a:ext cx="3154680" cy="749808"/>
          </a:xfrm>
          <a:prstGeom prst="rect">
            <a:avLst/>
          </a:prstGeom>
          <a:solidFill>
            <a:srgbClr val="F8FAFC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895344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Ablation Studies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2104" y="418795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A/A+B/A+B+C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16552" y="3794760"/>
            <a:ext cx="3154680" cy="749808"/>
          </a:xfrm>
          <a:prstGeom prst="rect">
            <a:avLst/>
          </a:prstGeom>
          <a:solidFill>
            <a:srgbClr val="F0FDF4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5424" y="3895344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</a:rPr>
              <a:t>Phương pháp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35424" y="418795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Quy trình nghiên cứu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995160" y="1417320"/>
            <a:ext cx="420624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9752" y="1545336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khi chạy local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59752" y="1847088"/>
            <a:ext cx="38770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http://localhost:8501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95160" y="4709160"/>
            <a:ext cx="4206240" cy="822960"/>
          </a:xfrm>
          <a:prstGeom prst="rect">
            <a:avLst/>
          </a:prstGeom>
          <a:solidFill>
            <a:srgbClr val="F8FAFC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9752" y="4837176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59752" y="5138928"/>
            <a:ext cx="38770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Chứng minh khả năng tái lập và trình diễn kết quả nghiên cứu bằng giao diện tương tác.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 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Bằng chứng tái lập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</a:rPr>
              <a:t>Chạy lại toàn bộ pipeline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502920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39112"/>
            <a:ext cx="4617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ai-portfolio-research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src.evaluate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417320"/>
          <a:ext cx="5303520" cy="3200400"/>
        </p:xfrm>
        <a:graphic>
          <a:graphicData uri="http://schemas.openxmlformats.org/drawingml/2006/table">
            <a:tbl>
              <a:tblPr/>
              <a:tblGrid>
                <a:gridCol w="1874520"/>
                <a:gridCol w="34290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 trò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metrics_summary.csv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Bảng kết quả toàn bộ chiến lược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ablation_table.csv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Bảng ablation A/A+B/A+B+C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run_meta.json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mẫu train/valid/test và rebalances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checkpoints/*.pt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Trọng số mô hình đã huấn luyện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report/figures/*.png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Biểu đồ đưa vào báo cáo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3232" y="4005072"/>
            <a:ext cx="5029200" cy="859536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4133088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7824" y="4434840"/>
            <a:ext cx="47000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đủ mã nguồn, dữ liệu cache, script, results, checkpoint và hướng dẫn để tái lập kết quả.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và mức hoàn thiện sản phẩm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chính: BAO_CAO_HOAN_CHINH.md và BAO_CAO_HOAN_CHINH.docx.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chứng minh rubric: results/RUBRIC_CHUNG_MINH_SIEU_CHI_TIET.md.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vấn đáp: results/VAN_DAP_RUBRIC_QA.md.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sản phẩm: React/TypeScript/Vite, Supabase, AI Insights, Stock/Crypto, Portfolio, Risk Engine.</a:t>
            </a:r>
            <a:endParaRPr lang="en-US" sz="1600" dirty="0"/>
          </a:p>
        </p:txBody>
      </p:sp>
      <p:pic>
        <p:nvPicPr>
          <p:cNvPr id="6" name="Image 0" descr="D:\CRM\crystal-ball-insights\src\assets\dashboard-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448056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20840" y="4526280"/>
            <a:ext cx="4480560" cy="77724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4654296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85432" y="4956048"/>
            <a:ext cx="415137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án hoàn thiện ở cả lớp nghiên cứu định lượng và lớp sản phẩm triển khai.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Q&amp;A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câu hỏi vấn đáp cần chuẩn bị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17320"/>
            <a:ext cx="507492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4533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1847088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gì? Chống ở đâu? Vì sao cần embargo 81 phiên?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07492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54533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9944" y="1847088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EqualWeight/RiskParity/CAPM/APT?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2624328"/>
            <a:ext cx="507492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752344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PA-Transformer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3054096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 Transformer baseline ở điểm nào?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2624328"/>
            <a:ext cx="507492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752344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9944" y="3054096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A+B, A+B+C chứng minh điều gì?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3831336"/>
            <a:ext cx="507492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95935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1.8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" y="4261104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chưa đạt 1.8 thì có yếu không?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3831336"/>
            <a:ext cx="5074920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395935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lập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9944" y="4261104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pipeline và Streamlit bằng lệnh nào?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3232" y="5559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7A3E"/>
                </a:solidFill>
              </a:rPr>
              <a:t>Tài liệu ôn: results/VAN_DAP_RUBRIC_QA.md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RISK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trả lời câu hỏi khó: Sharpe chưa đạt 1.8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Không né tránh. Trả lời bằng phương pháp luận.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2148840"/>
            <a:ext cx="3337560" cy="2011680"/>
          </a:xfrm>
          <a:prstGeom prst="rect">
            <a:avLst/>
          </a:prstGeom>
          <a:solidFill>
            <a:srgbClr val="F8FAFC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76856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Nói đúng số liệu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78608"/>
            <a:ext cx="300837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chạy hiện tại chưa có chiến lược đạt 1.8; APT_3Factor cao nhất với Sharpe 1.626 và MDD -13.67%.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148840"/>
            <a:ext cx="3337560" cy="2011680"/>
          </a:xfrm>
          <a:prstGeom prst="rect">
            <a:avLst/>
          </a:prstGeom>
          <a:solidFill>
            <a:srgbClr val="F8FA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2276856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Giải thích khoa học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1144" y="2578608"/>
            <a:ext cx="300837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tài chính nhiễu cao; baseline có prior kinh tế có thể thắng deep learning trong universe nhỏ.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2148840"/>
            <a:ext cx="3337560" cy="2011680"/>
          </a:xfrm>
          <a:prstGeom prst="rect">
            <a:avLst/>
          </a:prstGeom>
          <a:solidFill>
            <a:srgbClr val="F8FAFC"/>
          </a:solidFill>
          <a:ln w="13970">
            <a:solidFill>
              <a:srgbClr val="167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2276856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Bảo vệ giá trị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47888" y="2578608"/>
            <a:ext cx="300837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yêu cầu backtest, Sharpe, MDD và biện luận. Dự án đáp ứng đầy đủ, không tune trên test để làm đẹp số.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51389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67A3E"/>
                </a:solidFill>
              </a:rPr>
              <a:t>Câu chốt: “Em ưu tiên kết quả out-of-sample trung thực hơn một con số đẹp nhưng có nguy cơ overfit.”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016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Crystal Ball đáp ứng đầy đủ rubric và có cơ sở bảo vệ điểm cao.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987552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R1-R2: bài toán, dữ liệu và chống leakage được thiết kế đúng chuẩn chuỗi thời gian.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R3-R4: baseline phong phú, mô hình đề xuất có ablation study rõ ràng.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R5: backtest ngoài mẫu có Sharpe, MDD và nhiều chỉ số tài chính bổ sung.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R6-R7: có Streamlit demo, hướng dẫn tái lập, báo cáo DOCX/Markdown và web app hoàn thiện.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516636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A3E"/>
                </a:solidFill>
              </a:rPr>
              <a:t>Thông điệp cuối: không chỉ “làm cho chạy”, mà có phương pháp nghiên cứu, bằng chứng định lượng và khả năng tái lập.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Crystal Ball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Crystal Ball - Ứng dụng AI trong quản lý danh mục đầu tư</dc:title>
  <dc:subject>Crystal Ball - AI Portfolio Management Defense Deck</dc:subject>
  <dc:creator>Quách Thành Long</dc:creator>
  <cp:lastModifiedBy>Quách Thành Long</cp:lastModifiedBy>
  <cp:revision>1</cp:revision>
  <dcterms:created xsi:type="dcterms:W3CDTF">2026-09-06T01:09:21Z</dcterms:created>
  <dcterms:modified xsi:type="dcterms:W3CDTF">2026-09-06T01:09:21Z</dcterms:modified>
</cp:coreProperties>
</file>