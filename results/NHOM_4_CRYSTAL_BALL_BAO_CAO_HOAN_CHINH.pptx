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jpg" ContentType="image/jp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10"/>
  </p:normalViewPr>
  <p:slideViewPr>
    <p:cSldViewPr snapToGrid="0" snapToObjects="1">
      <p:cViewPr varScale="1">
        <p:scale>
          <a:sx n="108" d="100"/>
          <a:sy n="108" d="100"/>
        </p:scale>
        <p:origin x="714"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675596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STER">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11480" y="6428232"/>
            <a:ext cx="11384280" cy="0"/>
          </a:xfrm>
          <a:prstGeom prst="line">
            <a:avLst/>
          </a:prstGeom>
          <a:noFill/>
          <a:ln w="7620">
            <a:solidFill>
              <a:srgbClr val="D0D5DD"/>
            </a:solidFill>
            <a:prstDash val="solid"/>
          </a:ln>
        </p:spPr>
      </p:sp>
      <p:sp>
        <p:nvSpPr>
          <p:cNvPr id="3" name="Text 1"/>
          <p:cNvSpPr/>
          <p:nvPr/>
        </p:nvSpPr>
        <p:spPr>
          <a:xfrm>
            <a:off x="502920" y="6510528"/>
            <a:ext cx="7132320" cy="164592"/>
          </a:xfrm>
          <a:prstGeom prst="rect">
            <a:avLst/>
          </a:prstGeom>
          <a:noFill/>
          <a:ln/>
        </p:spPr>
        <p:txBody>
          <a:bodyPr wrap="square" lIns="0" tIns="0" rIns="0" bIns="0" rtlCol="0" anchor="ctr"/>
          <a:lstStyle/>
          <a:p>
            <a:pPr marL="0" indent="0">
              <a:buNone/>
            </a:pPr>
            <a:r>
              <a:rPr lang="en-US" sz="730" dirty="0">
                <a:solidFill>
                  <a:srgbClr val="667085"/>
                </a:solidFill>
                <a:latin typeface="Arial" pitchFamily="34" charset="0"/>
                <a:ea typeface="Arial" pitchFamily="34" charset="-122"/>
                <a:cs typeface="Arial" pitchFamily="34" charset="-120"/>
              </a:rPr>
              <a:t>Nhóm 4 • Crystal Ball • Báo cáo phương pháp nghiên cứu và triển khai</a:t>
            </a:r>
            <a:endParaRPr lang="en-US" sz="730" dirty="0"/>
          </a:p>
        </p:txBody>
      </p:sp>
      <p:sp>
        <p:nvSpPr>
          <p:cNvPr id="25" name="Slide Number Placeholder 0"/>
          <p:cNvSpPr>
            <a:spLocks noGrp="1"/>
          </p:cNvSpPr>
          <p:nvPr>
            <p:ph type="sldNum" sz="quarter" idx="4294967295"/>
          </p:nvPr>
        </p:nvSpPr>
        <p:spPr>
          <a:xfrm>
            <a:off x="11475720" y="6492240"/>
            <a:ext cx="800000" cy="300000"/>
          </a:xfrm>
          <a:prstGeom prst="rect">
            <a:avLst/>
          </a:prstGeom>
          <a:extLst>
            <a:ext uri="{C572A759-6A51-4108-AA02-DFA0A04FC94B}">
              <ma14:wrappingTextBoxFlag xmlns:ma14="http://schemas.microsoft.com/office/mac/drawingml/2011/main" xmlns="" val="0"/>
            </a:ext>
          </a:extLst>
        </p:spPr>
        <p:txBody>
          <a:bodyPr/>
          <a:lstStyle>
            <a:lvl1pPr>
              <a:defRPr sz="730">
                <a:solidFill>
                  <a:srgbClr val="667085"/>
                </a:solidFill>
                <a:latin typeface="Arial"/>
                <a:ea typeface="Arial"/>
                <a:cs typeface="Arial"/>
              </a:defRPr>
            </a:lvl1pPr>
          </a:lstStyle>
          <a:p>
            <a:pPr algn="l"/>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75720" y="6492240"/>
            <a:ext cx="800000" cy="300000"/>
          </a:xfrm>
          <a:prstGeom prst="rect">
            <a:avLst/>
          </a:prstGeom>
          <a:extLst>
            <a:ext uri="{C572A759-6A51-4108-AA02-DFA0A04FC94B}">
              <ma14:wrappingTextBoxFlag xmlns:ma14="http://schemas.microsoft.com/office/mac/drawingml/2011/main" xmlns="" val="0"/>
            </a:ext>
          </a:extLst>
        </p:spPr>
        <p:txBody>
          <a:bodyPr/>
          <a:lstStyle>
            <a:lvl1pPr>
              <a:defRPr sz="730">
                <a:solidFill>
                  <a:srgbClr val="667085"/>
                </a:solidFill>
                <a:latin typeface="Arial"/>
                <a:ea typeface="Arial"/>
                <a:cs typeface="Arial"/>
              </a:defRPr>
            </a:lvl1pPr>
          </a:lstStyle>
          <a:p>
            <a:pPr algn="l"/>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pic>
        <p:nvPicPr>
          <p:cNvPr id="2" name="Image 0" descr="D:\CRM\crystal-ball-insights\src\assets\dashboard-preview.jpg"/>
          <p:cNvPicPr>
            <a:picLocks noChangeAspect="1"/>
          </p:cNvPicPr>
          <p:nvPr/>
        </p:nvPicPr>
        <p:blipFill>
          <a:blip r:embed="rId3"/>
          <a:srcRect/>
          <a:stretch/>
        </p:blipFill>
        <p:spPr>
          <a:xfrm>
            <a:off x="5989320" y="530352"/>
            <a:ext cx="5715000" cy="4343400"/>
          </a:xfrm>
          <a:prstGeom prst="rect">
            <a:avLst/>
          </a:prstGeom>
        </p:spPr>
      </p:pic>
      <p:sp>
        <p:nvSpPr>
          <p:cNvPr id="3" name="Text 0"/>
          <p:cNvSpPr/>
          <p:nvPr/>
        </p:nvSpPr>
        <p:spPr>
          <a:xfrm>
            <a:off x="640080" y="640080"/>
            <a:ext cx="2103120" cy="292608"/>
          </a:xfrm>
          <a:prstGeom prst="rect">
            <a:avLst/>
          </a:prstGeom>
          <a:noFill/>
          <a:ln/>
        </p:spPr>
        <p:txBody>
          <a:bodyPr wrap="square" lIns="381" tIns="381" rIns="381" bIns="381" rtlCol="0" anchor="t">
            <a:normAutofit/>
          </a:bodyPr>
          <a:lstStyle/>
          <a:p>
            <a:pPr marL="0" indent="0">
              <a:buNone/>
            </a:pPr>
            <a:r>
              <a:rPr lang="en-US" sz="1600" b="1" dirty="0">
                <a:solidFill>
                  <a:srgbClr val="157347"/>
                </a:solidFill>
                <a:latin typeface="Arial" pitchFamily="34" charset="0"/>
                <a:ea typeface="Arial" pitchFamily="34" charset="-122"/>
                <a:cs typeface="Arial" pitchFamily="34" charset="-120"/>
              </a:rPr>
              <a:t>NHÓM 4</a:t>
            </a:r>
            <a:endParaRPr lang="en-US" sz="1600" dirty="0"/>
          </a:p>
        </p:txBody>
      </p:sp>
      <p:sp>
        <p:nvSpPr>
          <p:cNvPr id="4" name="Text 1"/>
          <p:cNvSpPr/>
          <p:nvPr/>
        </p:nvSpPr>
        <p:spPr>
          <a:xfrm>
            <a:off x="640080" y="1143000"/>
            <a:ext cx="5303520" cy="438912"/>
          </a:xfrm>
          <a:prstGeom prst="rect">
            <a:avLst/>
          </a:prstGeom>
          <a:noFill/>
          <a:ln/>
        </p:spPr>
        <p:txBody>
          <a:bodyPr wrap="square" lIns="381" tIns="381" rIns="381" bIns="381" rtlCol="0" anchor="t">
            <a:normAutofit/>
          </a:bodyPr>
          <a:lstStyle/>
          <a:p>
            <a:pPr marL="0" indent="0">
              <a:buNone/>
            </a:pPr>
            <a:r>
              <a:rPr lang="en-US" sz="2700" b="1" dirty="0">
                <a:solidFill>
                  <a:srgbClr val="101828"/>
                </a:solidFill>
                <a:latin typeface="Arial" pitchFamily="34" charset="0"/>
                <a:ea typeface="Arial" pitchFamily="34" charset="-122"/>
                <a:cs typeface="Arial" pitchFamily="34" charset="-120"/>
              </a:rPr>
              <a:t>CRYSTAL BALL</a:t>
            </a:r>
            <a:endParaRPr lang="en-US" sz="2700" dirty="0"/>
          </a:p>
        </p:txBody>
      </p:sp>
      <p:sp>
        <p:nvSpPr>
          <p:cNvPr id="5" name="Text 2"/>
          <p:cNvSpPr/>
          <p:nvPr/>
        </p:nvSpPr>
        <p:spPr>
          <a:xfrm>
            <a:off x="640080" y="1719072"/>
            <a:ext cx="5166360" cy="1097280"/>
          </a:xfrm>
          <a:prstGeom prst="rect">
            <a:avLst/>
          </a:prstGeom>
          <a:noFill/>
          <a:ln/>
        </p:spPr>
        <p:txBody>
          <a:bodyPr wrap="square" lIns="381" tIns="381" rIns="381" bIns="381" rtlCol="0" anchor="t">
            <a:normAutofit fontScale="92500" lnSpcReduction="20000"/>
          </a:bodyPr>
          <a:lstStyle/>
          <a:p>
            <a:pPr marL="0" indent="0">
              <a:buNone/>
            </a:pPr>
            <a:r>
              <a:rPr lang="en-US" sz="3000" b="1" dirty="0">
                <a:solidFill>
                  <a:srgbClr val="101828"/>
                </a:solidFill>
                <a:latin typeface="Arial" pitchFamily="34" charset="0"/>
                <a:ea typeface="Arial" pitchFamily="34" charset="-122"/>
                <a:cs typeface="Arial" pitchFamily="34" charset="-120"/>
              </a:rPr>
              <a:t>Nền tảng AI phân tích tài chính và quản lý danh mục đầu tư</a:t>
            </a:r>
            <a:endParaRPr lang="en-US" sz="3000" dirty="0"/>
          </a:p>
        </p:txBody>
      </p:sp>
      <p:sp>
        <p:nvSpPr>
          <p:cNvPr id="6" name="Text 3"/>
          <p:cNvSpPr/>
          <p:nvPr/>
        </p:nvSpPr>
        <p:spPr>
          <a:xfrm>
            <a:off x="658368" y="3063240"/>
            <a:ext cx="4846320" cy="749808"/>
          </a:xfrm>
          <a:prstGeom prst="rect">
            <a:avLst/>
          </a:prstGeom>
          <a:noFill/>
          <a:ln/>
        </p:spPr>
        <p:txBody>
          <a:bodyPr wrap="square" lIns="381" tIns="381" rIns="381" bIns="381" rtlCol="0" anchor="t">
            <a:normAutofit fontScale="92500"/>
          </a:bodyPr>
          <a:lstStyle/>
          <a:p>
            <a:pPr marL="0" indent="0">
              <a:buNone/>
            </a:pPr>
            <a:r>
              <a:rPr lang="en-US" sz="1600" dirty="0">
                <a:solidFill>
                  <a:srgbClr val="667085"/>
                </a:solidFill>
                <a:latin typeface="Arial" pitchFamily="34" charset="0"/>
                <a:ea typeface="Arial" pitchFamily="34" charset="-122"/>
                <a:cs typeface="Arial" pitchFamily="34" charset="-120"/>
              </a:rPr>
              <a:t>Báo cáo phương pháp nghiên cứu, triển khai hệ thống, AI tích hợp, tự động hóa và kết quả </a:t>
            </a:r>
            <a:r>
              <a:rPr lang="en-US" sz="1600" dirty="0" err="1">
                <a:solidFill>
                  <a:srgbClr val="667085"/>
                </a:solidFill>
                <a:latin typeface="Arial" pitchFamily="34" charset="0"/>
                <a:ea typeface="Arial" pitchFamily="34" charset="-122"/>
                <a:cs typeface="Arial" pitchFamily="34" charset="-120"/>
              </a:rPr>
              <a:t>thực</a:t>
            </a:r>
            <a:r>
              <a:rPr lang="en-US" sz="1600" dirty="0">
                <a:solidFill>
                  <a:srgbClr val="667085"/>
                </a:solidFill>
                <a:latin typeface="Arial" pitchFamily="34" charset="0"/>
                <a:ea typeface="Arial" pitchFamily="34" charset="-122"/>
                <a:cs typeface="Arial" pitchFamily="34" charset="-120"/>
              </a:rPr>
              <a:t> </a:t>
            </a:r>
            <a:r>
              <a:rPr lang="en-US" sz="1600" dirty="0" err="1" smtClean="0">
                <a:solidFill>
                  <a:srgbClr val="667085"/>
                </a:solidFill>
                <a:latin typeface="Arial" pitchFamily="34" charset="0"/>
                <a:ea typeface="Arial" pitchFamily="34" charset="-122"/>
                <a:cs typeface="Arial" pitchFamily="34" charset="-120"/>
              </a:rPr>
              <a:t>nghiệm</a:t>
            </a:r>
            <a:endParaRPr lang="en-US" sz="1600" dirty="0" smtClean="0">
              <a:solidFill>
                <a:srgbClr val="667085"/>
              </a:solidFill>
              <a:latin typeface="Arial" pitchFamily="34" charset="0"/>
              <a:ea typeface="Arial" pitchFamily="34" charset="-122"/>
              <a:cs typeface="Arial" pitchFamily="34" charset="-120"/>
            </a:endParaRPr>
          </a:p>
          <a:p>
            <a:pPr marL="0" indent="0">
              <a:buNone/>
            </a:pPr>
            <a:r>
              <a:rPr lang="en-US" sz="1600" smtClean="0">
                <a:solidFill>
                  <a:srgbClr val="667085"/>
                </a:solidFill>
                <a:latin typeface="Arial" pitchFamily="34" charset="0"/>
                <a:cs typeface="Arial" pitchFamily="34" charset="-120"/>
              </a:rPr>
              <a:t>NHÓM 4</a:t>
            </a:r>
            <a:endParaRPr lang="en-US" sz="1600" dirty="0"/>
          </a:p>
        </p:txBody>
      </p:sp>
      <p:sp>
        <p:nvSpPr>
          <p:cNvPr id="7" name="Shape 4"/>
          <p:cNvSpPr/>
          <p:nvPr/>
        </p:nvSpPr>
        <p:spPr>
          <a:xfrm>
            <a:off x="658368" y="4096512"/>
            <a:ext cx="4160520" cy="0"/>
          </a:xfrm>
          <a:prstGeom prst="line">
            <a:avLst/>
          </a:prstGeom>
          <a:noFill/>
          <a:ln w="38100">
            <a:solidFill>
              <a:srgbClr val="157347"/>
            </a:solidFill>
            <a:prstDash val="solid"/>
          </a:ln>
        </p:spPr>
      </p:sp>
      <p:sp>
        <p:nvSpPr>
          <p:cNvPr id="8" name="Shape 5"/>
          <p:cNvSpPr/>
          <p:nvPr/>
        </p:nvSpPr>
        <p:spPr>
          <a:xfrm>
            <a:off x="658368" y="4462272"/>
            <a:ext cx="1554480" cy="932688"/>
          </a:xfrm>
          <a:prstGeom prst="rect">
            <a:avLst/>
          </a:prstGeom>
          <a:solidFill>
            <a:srgbClr val="F8FAFC"/>
          </a:solidFill>
          <a:ln w="10160">
            <a:solidFill>
              <a:srgbClr val="D0D5DD"/>
            </a:solidFill>
            <a:prstDash val="solid"/>
          </a:ln>
        </p:spPr>
      </p:sp>
      <p:sp>
        <p:nvSpPr>
          <p:cNvPr id="9" name="Text 6"/>
          <p:cNvSpPr/>
          <p:nvPr/>
        </p:nvSpPr>
        <p:spPr>
          <a:xfrm>
            <a:off x="777240" y="4581144"/>
            <a:ext cx="1316736" cy="310896"/>
          </a:xfrm>
          <a:prstGeom prst="rect">
            <a:avLst/>
          </a:prstGeom>
          <a:noFill/>
          <a:ln/>
        </p:spPr>
        <p:txBody>
          <a:bodyPr wrap="square" lIns="381" tIns="381" rIns="381" bIns="381" rtlCol="0" anchor="t">
            <a:normAutofit lnSpcReduction="10000"/>
          </a:bodyPr>
          <a:lstStyle/>
          <a:p>
            <a:pPr marL="0" indent="0" algn="ctr">
              <a:buNone/>
            </a:pPr>
            <a:r>
              <a:rPr lang="en-US" sz="2200" b="1" dirty="0">
                <a:solidFill>
                  <a:srgbClr val="157347"/>
                </a:solidFill>
                <a:latin typeface="Arial" pitchFamily="34" charset="0"/>
                <a:ea typeface="Arial" pitchFamily="34" charset="-122"/>
                <a:cs typeface="Arial" pitchFamily="34" charset="-120"/>
              </a:rPr>
              <a:t>9.5–10</a:t>
            </a:r>
            <a:endParaRPr lang="en-US" sz="2200" dirty="0"/>
          </a:p>
        </p:txBody>
      </p:sp>
      <p:sp>
        <p:nvSpPr>
          <p:cNvPr id="10" name="Text 7"/>
          <p:cNvSpPr/>
          <p:nvPr/>
        </p:nvSpPr>
        <p:spPr>
          <a:xfrm>
            <a:off x="777240" y="4974336"/>
            <a:ext cx="1316736" cy="164592"/>
          </a:xfrm>
          <a:prstGeom prst="rect">
            <a:avLst/>
          </a:prstGeom>
          <a:noFill/>
          <a:ln/>
        </p:spPr>
        <p:txBody>
          <a:bodyPr wrap="square" lIns="381" tIns="381" rIns="381" bIns="381" rtlCol="0" anchor="t">
            <a:normAutofit/>
          </a:bodyPr>
          <a:lstStyle/>
          <a:p>
            <a:pPr marL="0" indent="0" algn="ctr">
              <a:buNone/>
            </a:pPr>
            <a:r>
              <a:rPr lang="en-US" sz="980" b="1" dirty="0">
                <a:solidFill>
                  <a:srgbClr val="101828"/>
                </a:solidFill>
                <a:latin typeface="Arial" pitchFamily="34" charset="0"/>
                <a:ea typeface="Arial" pitchFamily="34" charset="-122"/>
                <a:cs typeface="Arial" pitchFamily="34" charset="-120"/>
              </a:rPr>
              <a:t>Rubric</a:t>
            </a:r>
            <a:endParaRPr lang="en-US" sz="980" dirty="0"/>
          </a:p>
        </p:txBody>
      </p:sp>
      <p:sp>
        <p:nvSpPr>
          <p:cNvPr id="11" name="Text 8"/>
          <p:cNvSpPr/>
          <p:nvPr/>
        </p:nvSpPr>
        <p:spPr>
          <a:xfrm>
            <a:off x="777240" y="5166360"/>
            <a:ext cx="1316736" cy="128016"/>
          </a:xfrm>
          <a:prstGeom prst="rect">
            <a:avLst/>
          </a:prstGeom>
          <a:noFill/>
          <a:ln/>
        </p:spPr>
        <p:txBody>
          <a:bodyPr wrap="square" lIns="381" tIns="381" rIns="381" bIns="381" rtlCol="0" anchor="t">
            <a:normAutofit/>
          </a:bodyPr>
          <a:lstStyle/>
          <a:p>
            <a:pPr marL="0" indent="0" algn="ctr">
              <a:buNone/>
            </a:pPr>
            <a:r>
              <a:rPr lang="en-US" sz="760" dirty="0">
                <a:solidFill>
                  <a:srgbClr val="667085"/>
                </a:solidFill>
                <a:latin typeface="Arial" pitchFamily="34" charset="0"/>
                <a:ea typeface="Arial" pitchFamily="34" charset="-122"/>
                <a:cs typeface="Arial" pitchFamily="34" charset="-120"/>
              </a:rPr>
              <a:t>tự đánh giá</a:t>
            </a:r>
            <a:endParaRPr lang="en-US" sz="760" dirty="0"/>
          </a:p>
        </p:txBody>
      </p:sp>
      <p:sp>
        <p:nvSpPr>
          <p:cNvPr id="12" name="Shape 9"/>
          <p:cNvSpPr/>
          <p:nvPr/>
        </p:nvSpPr>
        <p:spPr>
          <a:xfrm>
            <a:off x="2395728" y="4462272"/>
            <a:ext cx="1554480" cy="932688"/>
          </a:xfrm>
          <a:prstGeom prst="rect">
            <a:avLst/>
          </a:prstGeom>
          <a:solidFill>
            <a:srgbClr val="F8FAFC"/>
          </a:solidFill>
          <a:ln w="10160">
            <a:solidFill>
              <a:srgbClr val="D0D5DD"/>
            </a:solidFill>
            <a:prstDash val="solid"/>
          </a:ln>
        </p:spPr>
      </p:sp>
      <p:sp>
        <p:nvSpPr>
          <p:cNvPr id="13" name="Text 10"/>
          <p:cNvSpPr/>
          <p:nvPr/>
        </p:nvSpPr>
        <p:spPr>
          <a:xfrm>
            <a:off x="2514600" y="4581144"/>
            <a:ext cx="1316736" cy="310896"/>
          </a:xfrm>
          <a:prstGeom prst="rect">
            <a:avLst/>
          </a:prstGeom>
          <a:noFill/>
          <a:ln/>
        </p:spPr>
        <p:txBody>
          <a:bodyPr wrap="square" lIns="381" tIns="381" rIns="381" bIns="381" rtlCol="0" anchor="t">
            <a:normAutofit lnSpcReduction="10000"/>
          </a:bodyPr>
          <a:lstStyle/>
          <a:p>
            <a:pPr marL="0" indent="0" algn="ctr">
              <a:buNone/>
            </a:pPr>
            <a:r>
              <a:rPr lang="en-US" sz="2200" b="1" dirty="0">
                <a:solidFill>
                  <a:srgbClr val="175CD3"/>
                </a:solidFill>
                <a:latin typeface="Arial" pitchFamily="34" charset="0"/>
                <a:ea typeface="Arial" pitchFamily="34" charset="-122"/>
                <a:cs typeface="Arial" pitchFamily="34" charset="-120"/>
              </a:rPr>
              <a:t>14</a:t>
            </a:r>
            <a:endParaRPr lang="en-US" sz="2200" dirty="0"/>
          </a:p>
        </p:txBody>
      </p:sp>
      <p:sp>
        <p:nvSpPr>
          <p:cNvPr id="14" name="Text 11"/>
          <p:cNvSpPr/>
          <p:nvPr/>
        </p:nvSpPr>
        <p:spPr>
          <a:xfrm>
            <a:off x="2514600" y="4974336"/>
            <a:ext cx="1316736" cy="164592"/>
          </a:xfrm>
          <a:prstGeom prst="rect">
            <a:avLst/>
          </a:prstGeom>
          <a:noFill/>
          <a:ln/>
        </p:spPr>
        <p:txBody>
          <a:bodyPr wrap="square" lIns="381" tIns="381" rIns="381" bIns="381" rtlCol="0" anchor="t">
            <a:normAutofit/>
          </a:bodyPr>
          <a:lstStyle/>
          <a:p>
            <a:pPr marL="0" indent="0" algn="ctr">
              <a:buNone/>
            </a:pPr>
            <a:r>
              <a:rPr lang="en-US" sz="980" b="1" dirty="0">
                <a:solidFill>
                  <a:srgbClr val="101828"/>
                </a:solidFill>
                <a:latin typeface="Arial" pitchFamily="34" charset="0"/>
                <a:ea typeface="Arial" pitchFamily="34" charset="-122"/>
                <a:cs typeface="Arial" pitchFamily="34" charset="-120"/>
              </a:rPr>
              <a:t>Tài sản</a:t>
            </a:r>
            <a:endParaRPr lang="en-US" sz="980" dirty="0"/>
          </a:p>
        </p:txBody>
      </p:sp>
      <p:sp>
        <p:nvSpPr>
          <p:cNvPr id="15" name="Text 12"/>
          <p:cNvSpPr/>
          <p:nvPr/>
        </p:nvSpPr>
        <p:spPr>
          <a:xfrm>
            <a:off x="2514600" y="5166360"/>
            <a:ext cx="1316736" cy="128016"/>
          </a:xfrm>
          <a:prstGeom prst="rect">
            <a:avLst/>
          </a:prstGeom>
          <a:noFill/>
          <a:ln/>
        </p:spPr>
        <p:txBody>
          <a:bodyPr wrap="square" lIns="381" tIns="381" rIns="381" bIns="381" rtlCol="0" anchor="t">
            <a:normAutofit/>
          </a:bodyPr>
          <a:lstStyle/>
          <a:p>
            <a:pPr marL="0" indent="0" algn="ctr">
              <a:buNone/>
            </a:pPr>
            <a:r>
              <a:rPr lang="en-US" sz="760" dirty="0">
                <a:solidFill>
                  <a:srgbClr val="667085"/>
                </a:solidFill>
                <a:latin typeface="Arial" pitchFamily="34" charset="0"/>
                <a:ea typeface="Arial" pitchFamily="34" charset="-122"/>
                <a:cs typeface="Arial" pitchFamily="34" charset="-120"/>
              </a:rPr>
              <a:t>research</a:t>
            </a:r>
            <a:endParaRPr lang="en-US" sz="760" dirty="0"/>
          </a:p>
        </p:txBody>
      </p:sp>
      <p:sp>
        <p:nvSpPr>
          <p:cNvPr id="16" name="Shape 13"/>
          <p:cNvSpPr/>
          <p:nvPr/>
        </p:nvSpPr>
        <p:spPr>
          <a:xfrm>
            <a:off x="4133088" y="4462272"/>
            <a:ext cx="1554480" cy="932688"/>
          </a:xfrm>
          <a:prstGeom prst="rect">
            <a:avLst/>
          </a:prstGeom>
          <a:solidFill>
            <a:srgbClr val="F8FAFC"/>
          </a:solidFill>
          <a:ln w="10160">
            <a:solidFill>
              <a:srgbClr val="D0D5DD"/>
            </a:solidFill>
            <a:prstDash val="solid"/>
          </a:ln>
        </p:spPr>
      </p:sp>
      <p:sp>
        <p:nvSpPr>
          <p:cNvPr id="17" name="Text 14"/>
          <p:cNvSpPr/>
          <p:nvPr/>
        </p:nvSpPr>
        <p:spPr>
          <a:xfrm>
            <a:off x="4251960" y="4581144"/>
            <a:ext cx="1316736" cy="310896"/>
          </a:xfrm>
          <a:prstGeom prst="rect">
            <a:avLst/>
          </a:prstGeom>
          <a:noFill/>
          <a:ln/>
        </p:spPr>
        <p:txBody>
          <a:bodyPr wrap="square" lIns="381" tIns="381" rIns="381" bIns="381" rtlCol="0" anchor="t">
            <a:normAutofit lnSpcReduction="10000"/>
          </a:bodyPr>
          <a:lstStyle/>
          <a:p>
            <a:pPr marL="0" indent="0" algn="ctr">
              <a:buNone/>
            </a:pPr>
            <a:r>
              <a:rPr lang="en-US" sz="2200" b="1" dirty="0">
                <a:solidFill>
                  <a:srgbClr val="6941C6"/>
                </a:solidFill>
                <a:latin typeface="Arial" pitchFamily="34" charset="0"/>
                <a:ea typeface="Arial" pitchFamily="34" charset="-122"/>
                <a:cs typeface="Arial" pitchFamily="34" charset="-120"/>
              </a:rPr>
              <a:t>1.626</a:t>
            </a:r>
            <a:endParaRPr lang="en-US" sz="2200" dirty="0"/>
          </a:p>
        </p:txBody>
      </p:sp>
      <p:sp>
        <p:nvSpPr>
          <p:cNvPr id="18" name="Text 15"/>
          <p:cNvSpPr/>
          <p:nvPr/>
        </p:nvSpPr>
        <p:spPr>
          <a:xfrm>
            <a:off x="4251960" y="4974336"/>
            <a:ext cx="1316736" cy="164592"/>
          </a:xfrm>
          <a:prstGeom prst="rect">
            <a:avLst/>
          </a:prstGeom>
          <a:noFill/>
          <a:ln/>
        </p:spPr>
        <p:txBody>
          <a:bodyPr wrap="square" lIns="381" tIns="381" rIns="381" bIns="381" rtlCol="0" anchor="t">
            <a:normAutofit/>
          </a:bodyPr>
          <a:lstStyle/>
          <a:p>
            <a:pPr marL="0" indent="0" algn="ctr">
              <a:buNone/>
            </a:pPr>
            <a:r>
              <a:rPr lang="en-US" sz="980" b="1" dirty="0">
                <a:solidFill>
                  <a:srgbClr val="101828"/>
                </a:solidFill>
                <a:latin typeface="Arial" pitchFamily="34" charset="0"/>
                <a:ea typeface="Arial" pitchFamily="34" charset="-122"/>
                <a:cs typeface="Arial" pitchFamily="34" charset="-120"/>
              </a:rPr>
              <a:t>Sharpe</a:t>
            </a:r>
            <a:endParaRPr lang="en-US" sz="980" dirty="0"/>
          </a:p>
        </p:txBody>
      </p:sp>
      <p:sp>
        <p:nvSpPr>
          <p:cNvPr id="19" name="Text 16"/>
          <p:cNvSpPr/>
          <p:nvPr/>
        </p:nvSpPr>
        <p:spPr>
          <a:xfrm>
            <a:off x="4251960" y="5166360"/>
            <a:ext cx="1316736" cy="128016"/>
          </a:xfrm>
          <a:prstGeom prst="rect">
            <a:avLst/>
          </a:prstGeom>
          <a:noFill/>
          <a:ln/>
        </p:spPr>
        <p:txBody>
          <a:bodyPr wrap="square" lIns="381" tIns="381" rIns="381" bIns="381" rtlCol="0" anchor="t">
            <a:normAutofit/>
          </a:bodyPr>
          <a:lstStyle/>
          <a:p>
            <a:pPr marL="0" indent="0" algn="ctr">
              <a:buNone/>
            </a:pPr>
            <a:r>
              <a:rPr lang="en-US" sz="760" dirty="0">
                <a:solidFill>
                  <a:srgbClr val="667085"/>
                </a:solidFill>
                <a:latin typeface="Arial" pitchFamily="34" charset="0"/>
                <a:ea typeface="Arial" pitchFamily="34" charset="-122"/>
                <a:cs typeface="Arial" pitchFamily="34" charset="-120"/>
              </a:rPr>
              <a:t>best</a:t>
            </a:r>
            <a:endParaRPr lang="en-US" sz="760" dirty="0"/>
          </a:p>
        </p:txBody>
      </p:sp>
      <p:sp>
        <p:nvSpPr>
          <p:cNvPr id="20" name="Text 17"/>
          <p:cNvSpPr/>
          <p:nvPr/>
        </p:nvSpPr>
        <p:spPr>
          <a:xfrm>
            <a:off x="676656" y="5806440"/>
            <a:ext cx="4389120" cy="201168"/>
          </a:xfrm>
          <a:prstGeom prst="rect">
            <a:avLst/>
          </a:prstGeom>
          <a:noFill/>
          <a:ln/>
        </p:spPr>
        <p:txBody>
          <a:bodyPr wrap="square" lIns="381" tIns="381" rIns="381" bIns="381" rtlCol="0" anchor="t">
            <a:normAutofit/>
          </a:bodyPr>
          <a:lstStyle/>
          <a:p>
            <a:pPr marL="0" indent="0">
              <a:buNone/>
            </a:pPr>
            <a:r>
              <a:rPr lang="en-US" sz="1150" dirty="0">
                <a:solidFill>
                  <a:srgbClr val="667085"/>
                </a:solidFill>
                <a:latin typeface="Arial" pitchFamily="34" charset="0"/>
                <a:ea typeface="Arial" pitchFamily="34" charset="-122"/>
                <a:cs typeface="Arial" pitchFamily="34" charset="-120"/>
              </a:rPr>
              <a:t>Báo cáo trình bày cho giảng viên / hội đồng</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74320"/>
            <a:ext cx="7132320" cy="201168"/>
          </a:xfrm>
          <a:prstGeom prst="rect">
            <a:avLst/>
          </a:prstGeom>
          <a:noFill/>
          <a:ln/>
        </p:spPr>
        <p:txBody>
          <a:bodyPr wrap="square" lIns="0" tIns="0" rIns="0" bIns="0" rtlCol="0" anchor="ctr"/>
          <a:lstStyle/>
          <a:p>
            <a:pPr marL="0" indent="0">
              <a:buNone/>
            </a:pPr>
            <a:r>
              <a:rPr lang="en-US" sz="820" b="1" dirty="0">
                <a:solidFill>
                  <a:srgbClr val="667085"/>
                </a:solidFill>
                <a:latin typeface="Arial" pitchFamily="34" charset="0"/>
                <a:ea typeface="Arial" pitchFamily="34" charset="-122"/>
                <a:cs typeface="Arial" pitchFamily="34" charset="-120"/>
              </a:rPr>
              <a:t>CẤU TRÚC TRÌNH BÀY</a:t>
            </a:r>
            <a:endParaRPr lang="en-US" sz="820" dirty="0"/>
          </a:p>
        </p:txBody>
      </p:sp>
      <p:sp>
        <p:nvSpPr>
          <p:cNvPr id="3" name="Text 1"/>
          <p:cNvSpPr/>
          <p:nvPr/>
        </p:nvSpPr>
        <p:spPr>
          <a:xfrm>
            <a:off x="502920" y="512064"/>
            <a:ext cx="11155680" cy="566928"/>
          </a:xfrm>
          <a:prstGeom prst="rect">
            <a:avLst/>
          </a:prstGeom>
          <a:noFill/>
          <a:ln/>
        </p:spPr>
        <p:txBody>
          <a:bodyPr wrap="square" lIns="0" tIns="0" rIns="0" bIns="0" rtlCol="0" anchor="ctr">
            <a:normAutofit/>
          </a:bodyPr>
          <a:lstStyle/>
          <a:p>
            <a:pPr marL="0" indent="0">
              <a:buNone/>
            </a:pPr>
            <a:r>
              <a:rPr lang="en-US" sz="2700" b="1" dirty="0">
                <a:solidFill>
                  <a:srgbClr val="101828"/>
                </a:solidFill>
                <a:latin typeface="Arial" pitchFamily="34" charset="0"/>
                <a:ea typeface="Arial" pitchFamily="34" charset="-122"/>
                <a:cs typeface="Arial" pitchFamily="34" charset="-120"/>
              </a:rPr>
              <a:t>Mục lục báo cáo</a:t>
            </a:r>
            <a:endParaRPr lang="en-US" sz="2700" dirty="0"/>
          </a:p>
        </p:txBody>
      </p:sp>
      <p:sp>
        <p:nvSpPr>
          <p:cNvPr id="4" name="Shape 2"/>
          <p:cNvSpPr/>
          <p:nvPr/>
        </p:nvSpPr>
        <p:spPr>
          <a:xfrm>
            <a:off x="502920" y="1152144"/>
            <a:ext cx="11155680" cy="0"/>
          </a:xfrm>
          <a:prstGeom prst="line">
            <a:avLst/>
          </a:prstGeom>
          <a:noFill/>
          <a:ln w="10160">
            <a:solidFill>
              <a:srgbClr val="D0D5DD"/>
            </a:solidFill>
            <a:prstDash val="solid"/>
          </a:ln>
        </p:spPr>
      </p:sp>
      <p:sp>
        <p:nvSpPr>
          <p:cNvPr id="5" name="Shape 3"/>
          <p:cNvSpPr/>
          <p:nvPr/>
        </p:nvSpPr>
        <p:spPr>
          <a:xfrm>
            <a:off x="777240" y="1344168"/>
            <a:ext cx="4800600" cy="566928"/>
          </a:xfrm>
          <a:prstGeom prst="rect">
            <a:avLst/>
          </a:prstGeom>
          <a:solidFill>
            <a:srgbClr val="F8FAFC"/>
          </a:solidFill>
          <a:ln w="8890">
            <a:solidFill>
              <a:srgbClr val="D0D5DD"/>
            </a:solidFill>
            <a:prstDash val="solid"/>
          </a:ln>
        </p:spPr>
      </p:sp>
      <p:sp>
        <p:nvSpPr>
          <p:cNvPr id="6" name="Text 4"/>
          <p:cNvSpPr/>
          <p:nvPr/>
        </p:nvSpPr>
        <p:spPr>
          <a:xfrm>
            <a:off x="923544" y="1490472"/>
            <a:ext cx="402336" cy="164592"/>
          </a:xfrm>
          <a:prstGeom prst="rect">
            <a:avLst/>
          </a:prstGeom>
          <a:noFill/>
          <a:ln/>
        </p:spPr>
        <p:txBody>
          <a:bodyPr wrap="square" lIns="381" tIns="381" rIns="381" bIns="381" rtlCol="0" anchor="t">
            <a:normAutofit lnSpcReduction="10000"/>
          </a:bodyPr>
          <a:lstStyle/>
          <a:p>
            <a:pPr marL="0" indent="0" algn="ctr">
              <a:buNone/>
            </a:pPr>
            <a:r>
              <a:rPr lang="en-US" sz="1150" b="1" dirty="0">
                <a:solidFill>
                  <a:srgbClr val="175CD3"/>
                </a:solidFill>
                <a:latin typeface="Arial" pitchFamily="34" charset="0"/>
                <a:ea typeface="Arial" pitchFamily="34" charset="-122"/>
                <a:cs typeface="Arial" pitchFamily="34" charset="-120"/>
              </a:rPr>
              <a:t>01</a:t>
            </a:r>
            <a:endParaRPr lang="en-US" sz="1150" dirty="0"/>
          </a:p>
        </p:txBody>
      </p:sp>
      <p:sp>
        <p:nvSpPr>
          <p:cNvPr id="7" name="Text 5"/>
          <p:cNvSpPr/>
          <p:nvPr/>
        </p:nvSpPr>
        <p:spPr>
          <a:xfrm>
            <a:off x="1435608" y="1463040"/>
            <a:ext cx="3840480" cy="219456"/>
          </a:xfrm>
          <a:prstGeom prst="rect">
            <a:avLst/>
          </a:prstGeom>
          <a:noFill/>
          <a:ln/>
        </p:spPr>
        <p:txBody>
          <a:bodyPr wrap="square" lIns="381" tIns="381" rIns="381" bIns="381" rtlCol="0" anchor="t">
            <a:normAutofit/>
          </a:bodyPr>
          <a:lstStyle/>
          <a:p>
            <a:pPr marL="0" indent="0">
              <a:buNone/>
            </a:pPr>
            <a:r>
              <a:rPr lang="en-US" sz="1280" b="1" dirty="0">
                <a:solidFill>
                  <a:srgbClr val="101828"/>
                </a:solidFill>
                <a:latin typeface="Arial" pitchFamily="34" charset="0"/>
                <a:ea typeface="Arial" pitchFamily="34" charset="-122"/>
                <a:cs typeface="Arial" pitchFamily="34" charset="-120"/>
              </a:rPr>
              <a:t>Giới thiệu đề tài và mục tiêu nghiên cứu</a:t>
            </a:r>
            <a:endParaRPr lang="en-US" sz="1280" dirty="0"/>
          </a:p>
        </p:txBody>
      </p:sp>
      <p:sp>
        <p:nvSpPr>
          <p:cNvPr id="8" name="Shape 6"/>
          <p:cNvSpPr/>
          <p:nvPr/>
        </p:nvSpPr>
        <p:spPr>
          <a:xfrm>
            <a:off x="777240" y="2194560"/>
            <a:ext cx="4800600" cy="566928"/>
          </a:xfrm>
          <a:prstGeom prst="rect">
            <a:avLst/>
          </a:prstGeom>
          <a:solidFill>
            <a:srgbClr val="FFFFFF"/>
          </a:solidFill>
          <a:ln w="8890">
            <a:solidFill>
              <a:srgbClr val="D0D5DD"/>
            </a:solidFill>
            <a:prstDash val="solid"/>
          </a:ln>
        </p:spPr>
      </p:sp>
      <p:sp>
        <p:nvSpPr>
          <p:cNvPr id="9" name="Text 7"/>
          <p:cNvSpPr/>
          <p:nvPr/>
        </p:nvSpPr>
        <p:spPr>
          <a:xfrm>
            <a:off x="923544" y="2340864"/>
            <a:ext cx="402336" cy="164592"/>
          </a:xfrm>
          <a:prstGeom prst="rect">
            <a:avLst/>
          </a:prstGeom>
          <a:noFill/>
          <a:ln/>
        </p:spPr>
        <p:txBody>
          <a:bodyPr wrap="square" lIns="381" tIns="381" rIns="381" bIns="381" rtlCol="0" anchor="t">
            <a:normAutofit lnSpcReduction="10000"/>
          </a:bodyPr>
          <a:lstStyle/>
          <a:p>
            <a:pPr marL="0" indent="0" algn="ctr">
              <a:buNone/>
            </a:pPr>
            <a:r>
              <a:rPr lang="en-US" sz="1150" b="1" dirty="0">
                <a:solidFill>
                  <a:srgbClr val="175CD3"/>
                </a:solidFill>
                <a:latin typeface="Arial" pitchFamily="34" charset="0"/>
                <a:ea typeface="Arial" pitchFamily="34" charset="-122"/>
                <a:cs typeface="Arial" pitchFamily="34" charset="-120"/>
              </a:rPr>
              <a:t>02</a:t>
            </a:r>
            <a:endParaRPr lang="en-US" sz="1150" dirty="0"/>
          </a:p>
        </p:txBody>
      </p:sp>
      <p:sp>
        <p:nvSpPr>
          <p:cNvPr id="10" name="Text 8"/>
          <p:cNvSpPr/>
          <p:nvPr/>
        </p:nvSpPr>
        <p:spPr>
          <a:xfrm>
            <a:off x="1435608" y="2313432"/>
            <a:ext cx="3840480" cy="219456"/>
          </a:xfrm>
          <a:prstGeom prst="rect">
            <a:avLst/>
          </a:prstGeom>
          <a:noFill/>
          <a:ln/>
        </p:spPr>
        <p:txBody>
          <a:bodyPr wrap="square" lIns="381" tIns="381" rIns="381" bIns="381" rtlCol="0" anchor="t">
            <a:normAutofit/>
          </a:bodyPr>
          <a:lstStyle/>
          <a:p>
            <a:pPr marL="0" indent="0">
              <a:buNone/>
            </a:pPr>
            <a:r>
              <a:rPr lang="en-US" sz="1280" b="1" dirty="0">
                <a:solidFill>
                  <a:srgbClr val="101828"/>
                </a:solidFill>
                <a:latin typeface="Arial" pitchFamily="34" charset="0"/>
                <a:ea typeface="Arial" pitchFamily="34" charset="-122"/>
                <a:cs typeface="Arial" pitchFamily="34" charset="-120"/>
              </a:rPr>
              <a:t>Phạm vi hệ thống Crystal Ball</a:t>
            </a:r>
            <a:endParaRPr lang="en-US" sz="1280" dirty="0"/>
          </a:p>
        </p:txBody>
      </p:sp>
      <p:sp>
        <p:nvSpPr>
          <p:cNvPr id="11" name="Shape 9"/>
          <p:cNvSpPr/>
          <p:nvPr/>
        </p:nvSpPr>
        <p:spPr>
          <a:xfrm>
            <a:off x="777240" y="3044952"/>
            <a:ext cx="4800600" cy="566928"/>
          </a:xfrm>
          <a:prstGeom prst="rect">
            <a:avLst/>
          </a:prstGeom>
          <a:solidFill>
            <a:srgbClr val="F8FAFC"/>
          </a:solidFill>
          <a:ln w="8890">
            <a:solidFill>
              <a:srgbClr val="D0D5DD"/>
            </a:solidFill>
            <a:prstDash val="solid"/>
          </a:ln>
        </p:spPr>
      </p:sp>
      <p:sp>
        <p:nvSpPr>
          <p:cNvPr id="12" name="Text 10"/>
          <p:cNvSpPr/>
          <p:nvPr/>
        </p:nvSpPr>
        <p:spPr>
          <a:xfrm>
            <a:off x="923544" y="3191256"/>
            <a:ext cx="402336" cy="164592"/>
          </a:xfrm>
          <a:prstGeom prst="rect">
            <a:avLst/>
          </a:prstGeom>
          <a:noFill/>
          <a:ln/>
        </p:spPr>
        <p:txBody>
          <a:bodyPr wrap="square" lIns="381" tIns="381" rIns="381" bIns="381" rtlCol="0" anchor="t">
            <a:normAutofit lnSpcReduction="10000"/>
          </a:bodyPr>
          <a:lstStyle/>
          <a:p>
            <a:pPr marL="0" indent="0" algn="ctr">
              <a:buNone/>
            </a:pPr>
            <a:r>
              <a:rPr lang="en-US" sz="1150" b="1" dirty="0">
                <a:solidFill>
                  <a:srgbClr val="175CD3"/>
                </a:solidFill>
                <a:latin typeface="Arial" pitchFamily="34" charset="0"/>
                <a:ea typeface="Arial" pitchFamily="34" charset="-122"/>
                <a:cs typeface="Arial" pitchFamily="34" charset="-120"/>
              </a:rPr>
              <a:t>03</a:t>
            </a:r>
            <a:endParaRPr lang="en-US" sz="1150" dirty="0"/>
          </a:p>
        </p:txBody>
      </p:sp>
      <p:sp>
        <p:nvSpPr>
          <p:cNvPr id="13" name="Text 11"/>
          <p:cNvSpPr/>
          <p:nvPr/>
        </p:nvSpPr>
        <p:spPr>
          <a:xfrm>
            <a:off x="1435608" y="3163824"/>
            <a:ext cx="3840480" cy="219456"/>
          </a:xfrm>
          <a:prstGeom prst="rect">
            <a:avLst/>
          </a:prstGeom>
          <a:noFill/>
          <a:ln/>
        </p:spPr>
        <p:txBody>
          <a:bodyPr wrap="square" lIns="381" tIns="381" rIns="381" bIns="381" rtlCol="0" anchor="t">
            <a:normAutofit fontScale="92500"/>
          </a:bodyPr>
          <a:lstStyle/>
          <a:p>
            <a:pPr marL="0" indent="0">
              <a:buNone/>
            </a:pPr>
            <a:r>
              <a:rPr lang="en-US" sz="1280" b="1" dirty="0">
                <a:solidFill>
                  <a:srgbClr val="101828"/>
                </a:solidFill>
                <a:latin typeface="Arial" pitchFamily="34" charset="0"/>
                <a:ea typeface="Arial" pitchFamily="34" charset="-122"/>
                <a:cs typeface="Arial" pitchFamily="34" charset="-120"/>
              </a:rPr>
              <a:t>Phương pháp nghiên cứu và thiết kế thực nghiệm</a:t>
            </a:r>
            <a:endParaRPr lang="en-US" sz="1280" dirty="0"/>
          </a:p>
        </p:txBody>
      </p:sp>
      <p:sp>
        <p:nvSpPr>
          <p:cNvPr id="14" name="Shape 12"/>
          <p:cNvSpPr/>
          <p:nvPr/>
        </p:nvSpPr>
        <p:spPr>
          <a:xfrm>
            <a:off x="777240" y="3895344"/>
            <a:ext cx="4800600" cy="566928"/>
          </a:xfrm>
          <a:prstGeom prst="rect">
            <a:avLst/>
          </a:prstGeom>
          <a:solidFill>
            <a:srgbClr val="FFFFFF"/>
          </a:solidFill>
          <a:ln w="8890">
            <a:solidFill>
              <a:srgbClr val="D0D5DD"/>
            </a:solidFill>
            <a:prstDash val="solid"/>
          </a:ln>
        </p:spPr>
      </p:sp>
      <p:sp>
        <p:nvSpPr>
          <p:cNvPr id="15" name="Text 13"/>
          <p:cNvSpPr/>
          <p:nvPr/>
        </p:nvSpPr>
        <p:spPr>
          <a:xfrm>
            <a:off x="923544" y="4041648"/>
            <a:ext cx="402336" cy="164592"/>
          </a:xfrm>
          <a:prstGeom prst="rect">
            <a:avLst/>
          </a:prstGeom>
          <a:noFill/>
          <a:ln/>
        </p:spPr>
        <p:txBody>
          <a:bodyPr wrap="square" lIns="381" tIns="381" rIns="381" bIns="381" rtlCol="0" anchor="t">
            <a:normAutofit lnSpcReduction="10000"/>
          </a:bodyPr>
          <a:lstStyle/>
          <a:p>
            <a:pPr marL="0" indent="0" algn="ctr">
              <a:buNone/>
            </a:pPr>
            <a:r>
              <a:rPr lang="en-US" sz="1150" b="1" dirty="0">
                <a:solidFill>
                  <a:srgbClr val="175CD3"/>
                </a:solidFill>
                <a:latin typeface="Arial" pitchFamily="34" charset="0"/>
                <a:ea typeface="Arial" pitchFamily="34" charset="-122"/>
                <a:cs typeface="Arial" pitchFamily="34" charset="-120"/>
              </a:rPr>
              <a:t>04</a:t>
            </a:r>
            <a:endParaRPr lang="en-US" sz="1150" dirty="0"/>
          </a:p>
        </p:txBody>
      </p:sp>
      <p:sp>
        <p:nvSpPr>
          <p:cNvPr id="16" name="Text 14"/>
          <p:cNvSpPr/>
          <p:nvPr/>
        </p:nvSpPr>
        <p:spPr>
          <a:xfrm>
            <a:off x="1435608" y="4014216"/>
            <a:ext cx="3840480" cy="219456"/>
          </a:xfrm>
          <a:prstGeom prst="rect">
            <a:avLst/>
          </a:prstGeom>
          <a:noFill/>
          <a:ln/>
        </p:spPr>
        <p:txBody>
          <a:bodyPr wrap="square" lIns="381" tIns="381" rIns="381" bIns="381" rtlCol="0" anchor="t">
            <a:normAutofit/>
          </a:bodyPr>
          <a:lstStyle/>
          <a:p>
            <a:pPr marL="0" indent="0">
              <a:buNone/>
            </a:pPr>
            <a:r>
              <a:rPr lang="en-US" sz="1280" b="1" dirty="0">
                <a:solidFill>
                  <a:srgbClr val="101828"/>
                </a:solidFill>
                <a:latin typeface="Arial" pitchFamily="34" charset="0"/>
                <a:ea typeface="Arial" pitchFamily="34" charset="-122"/>
                <a:cs typeface="Arial" pitchFamily="34" charset="-120"/>
              </a:rPr>
              <a:t>Thu thập dữ liệu và tiền xử lý</a:t>
            </a:r>
            <a:endParaRPr lang="en-US" sz="1280" dirty="0"/>
          </a:p>
        </p:txBody>
      </p:sp>
      <p:sp>
        <p:nvSpPr>
          <p:cNvPr id="17" name="Shape 15"/>
          <p:cNvSpPr/>
          <p:nvPr/>
        </p:nvSpPr>
        <p:spPr>
          <a:xfrm>
            <a:off x="777240" y="4745736"/>
            <a:ext cx="4800600" cy="566928"/>
          </a:xfrm>
          <a:prstGeom prst="rect">
            <a:avLst/>
          </a:prstGeom>
          <a:solidFill>
            <a:srgbClr val="F8FAFC"/>
          </a:solidFill>
          <a:ln w="8890">
            <a:solidFill>
              <a:srgbClr val="D0D5DD"/>
            </a:solidFill>
            <a:prstDash val="solid"/>
          </a:ln>
        </p:spPr>
      </p:sp>
      <p:sp>
        <p:nvSpPr>
          <p:cNvPr id="18" name="Text 16"/>
          <p:cNvSpPr/>
          <p:nvPr/>
        </p:nvSpPr>
        <p:spPr>
          <a:xfrm>
            <a:off x="923544" y="4892040"/>
            <a:ext cx="402336" cy="164592"/>
          </a:xfrm>
          <a:prstGeom prst="rect">
            <a:avLst/>
          </a:prstGeom>
          <a:noFill/>
          <a:ln/>
        </p:spPr>
        <p:txBody>
          <a:bodyPr wrap="square" lIns="381" tIns="381" rIns="381" bIns="381" rtlCol="0" anchor="t">
            <a:normAutofit lnSpcReduction="10000"/>
          </a:bodyPr>
          <a:lstStyle/>
          <a:p>
            <a:pPr marL="0" indent="0" algn="ctr">
              <a:buNone/>
            </a:pPr>
            <a:r>
              <a:rPr lang="en-US" sz="1150" b="1" dirty="0">
                <a:solidFill>
                  <a:srgbClr val="175CD3"/>
                </a:solidFill>
                <a:latin typeface="Arial" pitchFamily="34" charset="0"/>
                <a:ea typeface="Arial" pitchFamily="34" charset="-122"/>
                <a:cs typeface="Arial" pitchFamily="34" charset="-120"/>
              </a:rPr>
              <a:t>05</a:t>
            </a:r>
            <a:endParaRPr lang="en-US" sz="1150" dirty="0"/>
          </a:p>
        </p:txBody>
      </p:sp>
      <p:sp>
        <p:nvSpPr>
          <p:cNvPr id="19" name="Text 17"/>
          <p:cNvSpPr/>
          <p:nvPr/>
        </p:nvSpPr>
        <p:spPr>
          <a:xfrm>
            <a:off x="1435608" y="4864608"/>
            <a:ext cx="3840480" cy="219456"/>
          </a:xfrm>
          <a:prstGeom prst="rect">
            <a:avLst/>
          </a:prstGeom>
          <a:noFill/>
          <a:ln/>
        </p:spPr>
        <p:txBody>
          <a:bodyPr wrap="square" lIns="381" tIns="381" rIns="381" bIns="381" rtlCol="0" anchor="t">
            <a:normAutofit/>
          </a:bodyPr>
          <a:lstStyle/>
          <a:p>
            <a:pPr marL="0" indent="0">
              <a:buNone/>
            </a:pPr>
            <a:r>
              <a:rPr lang="en-US" sz="1280" b="1" dirty="0">
                <a:solidFill>
                  <a:srgbClr val="101828"/>
                </a:solidFill>
                <a:latin typeface="Arial" pitchFamily="34" charset="0"/>
                <a:ea typeface="Arial" pitchFamily="34" charset="-122"/>
                <a:cs typeface="Arial" pitchFamily="34" charset="-120"/>
              </a:rPr>
              <a:t>Pipeline Python: feature, split, train, backtest</a:t>
            </a:r>
            <a:endParaRPr lang="en-US" sz="1280" dirty="0"/>
          </a:p>
        </p:txBody>
      </p:sp>
      <p:sp>
        <p:nvSpPr>
          <p:cNvPr id="20" name="Shape 18"/>
          <p:cNvSpPr/>
          <p:nvPr/>
        </p:nvSpPr>
        <p:spPr>
          <a:xfrm>
            <a:off x="6172200" y="1344168"/>
            <a:ext cx="4800600" cy="566928"/>
          </a:xfrm>
          <a:prstGeom prst="rect">
            <a:avLst/>
          </a:prstGeom>
          <a:solidFill>
            <a:srgbClr val="FFFFFF"/>
          </a:solidFill>
          <a:ln w="8890">
            <a:solidFill>
              <a:srgbClr val="D0D5DD"/>
            </a:solidFill>
            <a:prstDash val="solid"/>
          </a:ln>
        </p:spPr>
      </p:sp>
      <p:sp>
        <p:nvSpPr>
          <p:cNvPr id="21" name="Text 19"/>
          <p:cNvSpPr/>
          <p:nvPr/>
        </p:nvSpPr>
        <p:spPr>
          <a:xfrm>
            <a:off x="6318504" y="1490472"/>
            <a:ext cx="402336" cy="164592"/>
          </a:xfrm>
          <a:prstGeom prst="rect">
            <a:avLst/>
          </a:prstGeom>
          <a:noFill/>
          <a:ln/>
        </p:spPr>
        <p:txBody>
          <a:bodyPr wrap="square" lIns="381" tIns="381" rIns="381" bIns="381" rtlCol="0" anchor="t">
            <a:normAutofit lnSpcReduction="10000"/>
          </a:bodyPr>
          <a:lstStyle/>
          <a:p>
            <a:pPr marL="0" indent="0" algn="ctr">
              <a:buNone/>
            </a:pPr>
            <a:r>
              <a:rPr lang="en-US" sz="1150" b="1" dirty="0">
                <a:solidFill>
                  <a:srgbClr val="157347"/>
                </a:solidFill>
                <a:latin typeface="Arial" pitchFamily="34" charset="0"/>
                <a:ea typeface="Arial" pitchFamily="34" charset="-122"/>
                <a:cs typeface="Arial" pitchFamily="34" charset="-120"/>
              </a:rPr>
              <a:t>06</a:t>
            </a:r>
            <a:endParaRPr lang="en-US" sz="1150" dirty="0"/>
          </a:p>
        </p:txBody>
      </p:sp>
      <p:sp>
        <p:nvSpPr>
          <p:cNvPr id="22" name="Text 20"/>
          <p:cNvSpPr/>
          <p:nvPr/>
        </p:nvSpPr>
        <p:spPr>
          <a:xfrm>
            <a:off x="6830568" y="1463040"/>
            <a:ext cx="3840480" cy="219456"/>
          </a:xfrm>
          <a:prstGeom prst="rect">
            <a:avLst/>
          </a:prstGeom>
          <a:noFill/>
          <a:ln/>
        </p:spPr>
        <p:txBody>
          <a:bodyPr wrap="square" lIns="381" tIns="381" rIns="381" bIns="381" rtlCol="0" anchor="t">
            <a:normAutofit fontScale="92500"/>
          </a:bodyPr>
          <a:lstStyle/>
          <a:p>
            <a:pPr marL="0" indent="0">
              <a:buNone/>
            </a:pPr>
            <a:r>
              <a:rPr lang="en-US" sz="1280" b="1" dirty="0">
                <a:solidFill>
                  <a:srgbClr val="101828"/>
                </a:solidFill>
                <a:latin typeface="Arial" pitchFamily="34" charset="0"/>
                <a:ea typeface="Arial" pitchFamily="34" charset="-122"/>
                <a:cs typeface="Arial" pitchFamily="34" charset="-120"/>
              </a:rPr>
              <a:t>Mô hình so sánh và mô hình đề xuất PA-Transformer</a:t>
            </a:r>
            <a:endParaRPr lang="en-US" sz="1280" dirty="0"/>
          </a:p>
        </p:txBody>
      </p:sp>
      <p:sp>
        <p:nvSpPr>
          <p:cNvPr id="23" name="Shape 21"/>
          <p:cNvSpPr/>
          <p:nvPr/>
        </p:nvSpPr>
        <p:spPr>
          <a:xfrm>
            <a:off x="6172200" y="2194560"/>
            <a:ext cx="4800600" cy="566928"/>
          </a:xfrm>
          <a:prstGeom prst="rect">
            <a:avLst/>
          </a:prstGeom>
          <a:solidFill>
            <a:srgbClr val="F8FAFC"/>
          </a:solidFill>
          <a:ln w="8890">
            <a:solidFill>
              <a:srgbClr val="D0D5DD"/>
            </a:solidFill>
            <a:prstDash val="solid"/>
          </a:ln>
        </p:spPr>
      </p:sp>
      <p:sp>
        <p:nvSpPr>
          <p:cNvPr id="24" name="Text 22"/>
          <p:cNvSpPr/>
          <p:nvPr/>
        </p:nvSpPr>
        <p:spPr>
          <a:xfrm>
            <a:off x="6318504" y="2340864"/>
            <a:ext cx="402336" cy="164592"/>
          </a:xfrm>
          <a:prstGeom prst="rect">
            <a:avLst/>
          </a:prstGeom>
          <a:noFill/>
          <a:ln/>
        </p:spPr>
        <p:txBody>
          <a:bodyPr wrap="square" lIns="381" tIns="381" rIns="381" bIns="381" rtlCol="0" anchor="t">
            <a:normAutofit lnSpcReduction="10000"/>
          </a:bodyPr>
          <a:lstStyle/>
          <a:p>
            <a:pPr marL="0" indent="0" algn="ctr">
              <a:buNone/>
            </a:pPr>
            <a:r>
              <a:rPr lang="en-US" sz="1150" b="1" dirty="0">
                <a:solidFill>
                  <a:srgbClr val="157347"/>
                </a:solidFill>
                <a:latin typeface="Arial" pitchFamily="34" charset="0"/>
                <a:ea typeface="Arial" pitchFamily="34" charset="-122"/>
                <a:cs typeface="Arial" pitchFamily="34" charset="-120"/>
              </a:rPr>
              <a:t>07</a:t>
            </a:r>
            <a:endParaRPr lang="en-US" sz="1150" dirty="0"/>
          </a:p>
        </p:txBody>
      </p:sp>
      <p:sp>
        <p:nvSpPr>
          <p:cNvPr id="25" name="Text 23"/>
          <p:cNvSpPr/>
          <p:nvPr/>
        </p:nvSpPr>
        <p:spPr>
          <a:xfrm>
            <a:off x="6830568" y="2313432"/>
            <a:ext cx="3840480" cy="219456"/>
          </a:xfrm>
          <a:prstGeom prst="rect">
            <a:avLst/>
          </a:prstGeom>
          <a:noFill/>
          <a:ln/>
        </p:spPr>
        <p:txBody>
          <a:bodyPr wrap="square" lIns="381" tIns="381" rIns="381" bIns="381" rtlCol="0" anchor="t">
            <a:normAutofit/>
          </a:bodyPr>
          <a:lstStyle/>
          <a:p>
            <a:pPr marL="0" indent="0">
              <a:buNone/>
            </a:pPr>
            <a:r>
              <a:rPr lang="en-US" sz="1280" b="1" dirty="0">
                <a:solidFill>
                  <a:srgbClr val="101828"/>
                </a:solidFill>
                <a:latin typeface="Arial" pitchFamily="34" charset="0"/>
                <a:ea typeface="Arial" pitchFamily="34" charset="-122"/>
                <a:cs typeface="Arial" pitchFamily="34" charset="-120"/>
              </a:rPr>
              <a:t>AI tích hợp: Gemini, ChatGPT/Codex và AI agents</a:t>
            </a:r>
            <a:endParaRPr lang="en-US" sz="1280" dirty="0"/>
          </a:p>
        </p:txBody>
      </p:sp>
      <p:sp>
        <p:nvSpPr>
          <p:cNvPr id="26" name="Shape 24"/>
          <p:cNvSpPr/>
          <p:nvPr/>
        </p:nvSpPr>
        <p:spPr>
          <a:xfrm>
            <a:off x="6172200" y="3044952"/>
            <a:ext cx="4800600" cy="566928"/>
          </a:xfrm>
          <a:prstGeom prst="rect">
            <a:avLst/>
          </a:prstGeom>
          <a:solidFill>
            <a:srgbClr val="FFFFFF"/>
          </a:solidFill>
          <a:ln w="8890">
            <a:solidFill>
              <a:srgbClr val="D0D5DD"/>
            </a:solidFill>
            <a:prstDash val="solid"/>
          </a:ln>
        </p:spPr>
      </p:sp>
      <p:sp>
        <p:nvSpPr>
          <p:cNvPr id="27" name="Text 25"/>
          <p:cNvSpPr/>
          <p:nvPr/>
        </p:nvSpPr>
        <p:spPr>
          <a:xfrm>
            <a:off x="6318504" y="3191256"/>
            <a:ext cx="402336" cy="164592"/>
          </a:xfrm>
          <a:prstGeom prst="rect">
            <a:avLst/>
          </a:prstGeom>
          <a:noFill/>
          <a:ln/>
        </p:spPr>
        <p:txBody>
          <a:bodyPr wrap="square" lIns="381" tIns="381" rIns="381" bIns="381" rtlCol="0" anchor="t">
            <a:normAutofit lnSpcReduction="10000"/>
          </a:bodyPr>
          <a:lstStyle/>
          <a:p>
            <a:pPr marL="0" indent="0" algn="ctr">
              <a:buNone/>
            </a:pPr>
            <a:r>
              <a:rPr lang="en-US" sz="1150" b="1" dirty="0">
                <a:solidFill>
                  <a:srgbClr val="157347"/>
                </a:solidFill>
                <a:latin typeface="Arial" pitchFamily="34" charset="0"/>
                <a:ea typeface="Arial" pitchFamily="34" charset="-122"/>
                <a:cs typeface="Arial" pitchFamily="34" charset="-120"/>
              </a:rPr>
              <a:t>08</a:t>
            </a:r>
            <a:endParaRPr lang="en-US" sz="1150" dirty="0"/>
          </a:p>
        </p:txBody>
      </p:sp>
      <p:sp>
        <p:nvSpPr>
          <p:cNvPr id="28" name="Text 26"/>
          <p:cNvSpPr/>
          <p:nvPr/>
        </p:nvSpPr>
        <p:spPr>
          <a:xfrm>
            <a:off x="6830568" y="3163824"/>
            <a:ext cx="3840480" cy="219456"/>
          </a:xfrm>
          <a:prstGeom prst="rect">
            <a:avLst/>
          </a:prstGeom>
          <a:noFill/>
          <a:ln/>
        </p:spPr>
        <p:txBody>
          <a:bodyPr wrap="square" lIns="381" tIns="381" rIns="381" bIns="381" rtlCol="0" anchor="t">
            <a:normAutofit/>
          </a:bodyPr>
          <a:lstStyle/>
          <a:p>
            <a:pPr marL="0" indent="0">
              <a:buNone/>
            </a:pPr>
            <a:r>
              <a:rPr lang="en-US" sz="1280" b="1" dirty="0">
                <a:solidFill>
                  <a:srgbClr val="101828"/>
                </a:solidFill>
                <a:latin typeface="Arial" pitchFamily="34" charset="0"/>
                <a:ea typeface="Arial" pitchFamily="34" charset="-122"/>
                <a:cs typeface="Arial" pitchFamily="34" charset="-120"/>
              </a:rPr>
              <a:t>Tự động hóa n8n và lưu vết workflow</a:t>
            </a:r>
            <a:endParaRPr lang="en-US" sz="1280" dirty="0"/>
          </a:p>
        </p:txBody>
      </p:sp>
      <p:sp>
        <p:nvSpPr>
          <p:cNvPr id="29" name="Shape 27"/>
          <p:cNvSpPr/>
          <p:nvPr/>
        </p:nvSpPr>
        <p:spPr>
          <a:xfrm>
            <a:off x="6172200" y="3895344"/>
            <a:ext cx="4800600" cy="566928"/>
          </a:xfrm>
          <a:prstGeom prst="rect">
            <a:avLst/>
          </a:prstGeom>
          <a:solidFill>
            <a:srgbClr val="F8FAFC"/>
          </a:solidFill>
          <a:ln w="8890">
            <a:solidFill>
              <a:srgbClr val="D0D5DD"/>
            </a:solidFill>
            <a:prstDash val="solid"/>
          </a:ln>
        </p:spPr>
      </p:sp>
      <p:sp>
        <p:nvSpPr>
          <p:cNvPr id="30" name="Text 28"/>
          <p:cNvSpPr/>
          <p:nvPr/>
        </p:nvSpPr>
        <p:spPr>
          <a:xfrm>
            <a:off x="6318504" y="4041648"/>
            <a:ext cx="402336" cy="164592"/>
          </a:xfrm>
          <a:prstGeom prst="rect">
            <a:avLst/>
          </a:prstGeom>
          <a:noFill/>
          <a:ln/>
        </p:spPr>
        <p:txBody>
          <a:bodyPr wrap="square" lIns="381" tIns="381" rIns="381" bIns="381" rtlCol="0" anchor="t">
            <a:normAutofit lnSpcReduction="10000"/>
          </a:bodyPr>
          <a:lstStyle/>
          <a:p>
            <a:pPr marL="0" indent="0" algn="ctr">
              <a:buNone/>
            </a:pPr>
            <a:r>
              <a:rPr lang="en-US" sz="1150" b="1" dirty="0">
                <a:solidFill>
                  <a:srgbClr val="157347"/>
                </a:solidFill>
                <a:latin typeface="Arial" pitchFamily="34" charset="0"/>
                <a:ea typeface="Arial" pitchFamily="34" charset="-122"/>
                <a:cs typeface="Arial" pitchFamily="34" charset="-120"/>
              </a:rPr>
              <a:t>09</a:t>
            </a:r>
            <a:endParaRPr lang="en-US" sz="1150" dirty="0"/>
          </a:p>
        </p:txBody>
      </p:sp>
      <p:sp>
        <p:nvSpPr>
          <p:cNvPr id="31" name="Text 29"/>
          <p:cNvSpPr/>
          <p:nvPr/>
        </p:nvSpPr>
        <p:spPr>
          <a:xfrm>
            <a:off x="6830568" y="4014216"/>
            <a:ext cx="3840480" cy="219456"/>
          </a:xfrm>
          <a:prstGeom prst="rect">
            <a:avLst/>
          </a:prstGeom>
          <a:noFill/>
          <a:ln/>
        </p:spPr>
        <p:txBody>
          <a:bodyPr wrap="square" lIns="381" tIns="381" rIns="381" bIns="381" rtlCol="0" anchor="t">
            <a:normAutofit fontScale="77500" lnSpcReduction="20000"/>
          </a:bodyPr>
          <a:lstStyle/>
          <a:p>
            <a:pPr marL="0" indent="0">
              <a:buNone/>
            </a:pPr>
            <a:r>
              <a:rPr lang="en-US" sz="1280" b="1" dirty="0">
                <a:solidFill>
                  <a:srgbClr val="101828"/>
                </a:solidFill>
                <a:latin typeface="Arial" pitchFamily="34" charset="0"/>
                <a:ea typeface="Arial" pitchFamily="34" charset="-122"/>
                <a:cs typeface="Arial" pitchFamily="34" charset="-120"/>
              </a:rPr>
              <a:t>Output đầu ra: dashboard, CSV, figures, Streamlit, báo cáo</a:t>
            </a:r>
            <a:endParaRPr lang="en-US" sz="1280" dirty="0"/>
          </a:p>
        </p:txBody>
      </p:sp>
      <p:sp>
        <p:nvSpPr>
          <p:cNvPr id="32" name="Shape 30"/>
          <p:cNvSpPr/>
          <p:nvPr/>
        </p:nvSpPr>
        <p:spPr>
          <a:xfrm>
            <a:off x="6172200" y="4745736"/>
            <a:ext cx="4800600" cy="566928"/>
          </a:xfrm>
          <a:prstGeom prst="rect">
            <a:avLst/>
          </a:prstGeom>
          <a:solidFill>
            <a:srgbClr val="FFFFFF"/>
          </a:solidFill>
          <a:ln w="8890">
            <a:solidFill>
              <a:srgbClr val="D0D5DD"/>
            </a:solidFill>
            <a:prstDash val="solid"/>
          </a:ln>
        </p:spPr>
      </p:sp>
      <p:sp>
        <p:nvSpPr>
          <p:cNvPr id="33" name="Text 31"/>
          <p:cNvSpPr/>
          <p:nvPr/>
        </p:nvSpPr>
        <p:spPr>
          <a:xfrm>
            <a:off x="6318504" y="4892040"/>
            <a:ext cx="402336" cy="164592"/>
          </a:xfrm>
          <a:prstGeom prst="rect">
            <a:avLst/>
          </a:prstGeom>
          <a:noFill/>
          <a:ln/>
        </p:spPr>
        <p:txBody>
          <a:bodyPr wrap="square" lIns="381" tIns="381" rIns="381" bIns="381" rtlCol="0" anchor="t">
            <a:normAutofit lnSpcReduction="10000"/>
          </a:bodyPr>
          <a:lstStyle/>
          <a:p>
            <a:pPr marL="0" indent="0" algn="ctr">
              <a:buNone/>
            </a:pPr>
            <a:r>
              <a:rPr lang="en-US" sz="1150" b="1" dirty="0">
                <a:solidFill>
                  <a:srgbClr val="157347"/>
                </a:solidFill>
                <a:latin typeface="Arial" pitchFamily="34" charset="0"/>
                <a:ea typeface="Arial" pitchFamily="34" charset="-122"/>
                <a:cs typeface="Arial" pitchFamily="34" charset="-120"/>
              </a:rPr>
              <a:t>10</a:t>
            </a:r>
            <a:endParaRPr lang="en-US" sz="1150" dirty="0"/>
          </a:p>
        </p:txBody>
      </p:sp>
      <p:sp>
        <p:nvSpPr>
          <p:cNvPr id="34" name="Text 32"/>
          <p:cNvSpPr/>
          <p:nvPr/>
        </p:nvSpPr>
        <p:spPr>
          <a:xfrm>
            <a:off x="6830568" y="4864608"/>
            <a:ext cx="3840480" cy="219456"/>
          </a:xfrm>
          <a:prstGeom prst="rect">
            <a:avLst/>
          </a:prstGeom>
          <a:noFill/>
          <a:ln/>
        </p:spPr>
        <p:txBody>
          <a:bodyPr wrap="square" lIns="381" tIns="381" rIns="381" bIns="381" rtlCol="0" anchor="t">
            <a:normAutofit/>
          </a:bodyPr>
          <a:lstStyle/>
          <a:p>
            <a:pPr marL="0" indent="0">
              <a:buNone/>
            </a:pPr>
            <a:r>
              <a:rPr lang="en-US" sz="1280" b="1" dirty="0">
                <a:solidFill>
                  <a:srgbClr val="101828"/>
                </a:solidFill>
                <a:latin typeface="Arial" pitchFamily="34" charset="0"/>
                <a:ea typeface="Arial" pitchFamily="34" charset="-122"/>
                <a:cs typeface="Arial" pitchFamily="34" charset="-120"/>
              </a:rPr>
              <a:t>Kết quả, đối chiếu rubric và kết luận</a:t>
            </a:r>
            <a:endParaRPr lang="en-US" sz="1280" dirty="0"/>
          </a:p>
        </p:txBody>
      </p:sp>
      <p:sp>
        <p:nvSpPr>
          <p:cNvPr id="35" name="Slide Number Placeholder 0"/>
          <p:cNvSpPr>
            <a:spLocks noGrp="1"/>
          </p:cNvSpPr>
          <p:nvPr>
            <p:ph type="sldNum" sz="quarter" idx="4294967295"/>
          </p:nvPr>
        </p:nvSpPr>
        <p:spPr>
          <a:xfrm>
            <a:off x="11475720" y="6492240"/>
            <a:ext cx="800000" cy="300000"/>
          </a:xfrm>
          <a:prstGeom prst="rect">
            <a:avLst/>
          </a:prstGeom>
          <a:extLst>
            <a:ext uri="{C572A759-6A51-4108-AA02-DFA0A04FC94B}">
              <ma14:wrappingTextBoxFlag xmlns:ma14="http://schemas.microsoft.com/office/mac/drawingml/2011/main" xmlns="" val="0"/>
            </a:ext>
          </a:extLst>
        </p:spPr>
        <p:txBody>
          <a:bodyPr/>
          <a:lstStyle>
            <a:lvl1pPr>
              <a:defRPr sz="730">
                <a:solidFill>
                  <a:srgbClr val="667085"/>
                </a:solidFill>
                <a:latin typeface="Arial"/>
                <a:ea typeface="Arial"/>
                <a:cs typeface="Arial"/>
              </a:defRPr>
            </a:lvl1pPr>
          </a:lstStyle>
          <a:p>
            <a:pPr algn="l"/>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74320"/>
            <a:ext cx="7132320" cy="201168"/>
          </a:xfrm>
          <a:prstGeom prst="rect">
            <a:avLst/>
          </a:prstGeom>
          <a:noFill/>
          <a:ln/>
        </p:spPr>
        <p:txBody>
          <a:bodyPr wrap="square" lIns="0" tIns="0" rIns="0" bIns="0" rtlCol="0" anchor="ctr"/>
          <a:lstStyle/>
          <a:p>
            <a:pPr marL="0" indent="0">
              <a:buNone/>
            </a:pPr>
            <a:r>
              <a:rPr lang="en-US" sz="820" b="1" dirty="0">
                <a:solidFill>
                  <a:srgbClr val="667085"/>
                </a:solidFill>
                <a:latin typeface="Arial" pitchFamily="34" charset="0"/>
                <a:ea typeface="Arial" pitchFamily="34" charset="-122"/>
                <a:cs typeface="Arial" pitchFamily="34" charset="-120"/>
              </a:rPr>
              <a:t>BỐI CẢNH</a:t>
            </a:r>
            <a:endParaRPr lang="en-US" sz="820" dirty="0"/>
          </a:p>
        </p:txBody>
      </p:sp>
      <p:sp>
        <p:nvSpPr>
          <p:cNvPr id="3" name="Text 1"/>
          <p:cNvSpPr/>
          <p:nvPr/>
        </p:nvSpPr>
        <p:spPr>
          <a:xfrm>
            <a:off x="502920" y="512064"/>
            <a:ext cx="11155680" cy="566928"/>
          </a:xfrm>
          <a:prstGeom prst="rect">
            <a:avLst/>
          </a:prstGeom>
          <a:noFill/>
          <a:ln/>
        </p:spPr>
        <p:txBody>
          <a:bodyPr wrap="square" lIns="0" tIns="0" rIns="0" bIns="0" rtlCol="0" anchor="ctr">
            <a:normAutofit/>
          </a:bodyPr>
          <a:lstStyle/>
          <a:p>
            <a:pPr marL="0" indent="0">
              <a:buNone/>
            </a:pPr>
            <a:r>
              <a:rPr lang="en-US" sz="2700" b="1" dirty="0">
                <a:solidFill>
                  <a:srgbClr val="101828"/>
                </a:solidFill>
                <a:latin typeface="Arial" pitchFamily="34" charset="0"/>
                <a:ea typeface="Arial" pitchFamily="34" charset="-122"/>
                <a:cs typeface="Arial" pitchFamily="34" charset="-120"/>
              </a:rPr>
              <a:t>Giới thiệu đề tài</a:t>
            </a:r>
            <a:endParaRPr lang="en-US" sz="2700" dirty="0"/>
          </a:p>
        </p:txBody>
      </p:sp>
      <p:sp>
        <p:nvSpPr>
          <p:cNvPr id="4" name="Shape 2"/>
          <p:cNvSpPr/>
          <p:nvPr/>
        </p:nvSpPr>
        <p:spPr>
          <a:xfrm>
            <a:off x="502920" y="1152144"/>
            <a:ext cx="11155680" cy="0"/>
          </a:xfrm>
          <a:prstGeom prst="line">
            <a:avLst/>
          </a:prstGeom>
          <a:noFill/>
          <a:ln w="10160">
            <a:solidFill>
              <a:srgbClr val="D0D5DD"/>
            </a:solidFill>
            <a:prstDash val="solid"/>
          </a:ln>
        </p:spPr>
      </p:sp>
      <p:sp>
        <p:nvSpPr>
          <p:cNvPr id="5" name="Text 3"/>
          <p:cNvSpPr/>
          <p:nvPr/>
        </p:nvSpPr>
        <p:spPr>
          <a:xfrm>
            <a:off x="731520" y="1389888"/>
            <a:ext cx="10698480" cy="694944"/>
          </a:xfrm>
          <a:prstGeom prst="rect">
            <a:avLst/>
          </a:prstGeom>
          <a:noFill/>
          <a:ln/>
        </p:spPr>
        <p:txBody>
          <a:bodyPr wrap="square" lIns="381" tIns="381" rIns="381" bIns="381" rtlCol="0" anchor="t">
            <a:normAutofit lnSpcReduction="10000"/>
          </a:bodyPr>
          <a:lstStyle/>
          <a:p>
            <a:pPr marL="0" indent="0">
              <a:buNone/>
            </a:pPr>
            <a:r>
              <a:rPr lang="en-US" sz="2300" b="1" dirty="0">
                <a:solidFill>
                  <a:srgbClr val="101828"/>
                </a:solidFill>
                <a:latin typeface="Arial" pitchFamily="34" charset="0"/>
                <a:ea typeface="Arial" pitchFamily="34" charset="-122"/>
                <a:cs typeface="Arial" pitchFamily="34" charset="-120"/>
              </a:rPr>
              <a:t>Bài toán trọng tâm: xây dựng một nền tảng hỗ trợ phân tích tài chính, đầu tư và quản lý danh mục bằng dữ liệu thị trường, mô hình định lượng và AI.</a:t>
            </a:r>
            <a:endParaRPr lang="en-US" sz="2300" dirty="0"/>
          </a:p>
        </p:txBody>
      </p:sp>
      <p:sp>
        <p:nvSpPr>
          <p:cNvPr id="6" name="Shape 4"/>
          <p:cNvSpPr/>
          <p:nvPr/>
        </p:nvSpPr>
        <p:spPr>
          <a:xfrm>
            <a:off x="731520" y="2514600"/>
            <a:ext cx="3337560" cy="1874520"/>
          </a:xfrm>
          <a:prstGeom prst="rect">
            <a:avLst/>
          </a:prstGeom>
          <a:solidFill>
            <a:srgbClr val="EEF6FF"/>
          </a:solidFill>
          <a:ln w="12700">
            <a:solidFill>
              <a:srgbClr val="175CD3"/>
            </a:solidFill>
            <a:prstDash val="solid"/>
          </a:ln>
        </p:spPr>
      </p:sp>
      <p:sp>
        <p:nvSpPr>
          <p:cNvPr id="7" name="Text 5"/>
          <p:cNvSpPr/>
          <p:nvPr/>
        </p:nvSpPr>
        <p:spPr>
          <a:xfrm>
            <a:off x="877824" y="2633472"/>
            <a:ext cx="3044952" cy="219456"/>
          </a:xfrm>
          <a:prstGeom prst="rect">
            <a:avLst/>
          </a:prstGeom>
          <a:noFill/>
          <a:ln/>
        </p:spPr>
        <p:txBody>
          <a:bodyPr wrap="square" lIns="381" tIns="381" rIns="381" bIns="381" rtlCol="0" anchor="t">
            <a:normAutofit/>
          </a:bodyPr>
          <a:lstStyle/>
          <a:p>
            <a:pPr marL="0" indent="0">
              <a:buNone/>
            </a:pPr>
            <a:r>
              <a:rPr lang="en-US" sz="1320" b="1" dirty="0">
                <a:solidFill>
                  <a:srgbClr val="175CD3"/>
                </a:solidFill>
                <a:latin typeface="Arial" pitchFamily="34" charset="0"/>
                <a:ea typeface="Arial" pitchFamily="34" charset="-122"/>
                <a:cs typeface="Arial" pitchFamily="34" charset="-120"/>
              </a:rPr>
              <a:t>Nhu cầu</a:t>
            </a:r>
            <a:endParaRPr lang="en-US" sz="1320" dirty="0"/>
          </a:p>
        </p:txBody>
      </p:sp>
      <p:sp>
        <p:nvSpPr>
          <p:cNvPr id="8" name="Text 6"/>
          <p:cNvSpPr/>
          <p:nvPr/>
        </p:nvSpPr>
        <p:spPr>
          <a:xfrm>
            <a:off x="877824" y="2944368"/>
            <a:ext cx="3044952" cy="1353312"/>
          </a:xfrm>
          <a:prstGeom prst="rect">
            <a:avLst/>
          </a:prstGeom>
          <a:noFill/>
          <a:ln/>
        </p:spPr>
        <p:txBody>
          <a:bodyPr wrap="square" lIns="381" tIns="381" rIns="381" bIns="381" rtlCol="0" anchor="t">
            <a:normAutofit/>
          </a:bodyPr>
          <a:lstStyle/>
          <a:p>
            <a:pPr marL="0" indent="0">
              <a:buNone/>
            </a:pPr>
            <a:r>
              <a:rPr lang="en-US" sz="1180" dirty="0">
                <a:solidFill>
                  <a:srgbClr val="101828"/>
                </a:solidFill>
                <a:latin typeface="Arial" pitchFamily="34" charset="0"/>
                <a:ea typeface="Arial" pitchFamily="34" charset="-122"/>
                <a:cs typeface="Arial" pitchFamily="34" charset="-120"/>
              </a:rPr>
              <a:t>Nhà đầu tư cần dữ liệu, chỉ báo, rủi ro, tin tức và giải thích AI trong cùng một quy trình ra quyết định.</a:t>
            </a:r>
            <a:endParaRPr lang="en-US" sz="1180" dirty="0"/>
          </a:p>
        </p:txBody>
      </p:sp>
      <p:sp>
        <p:nvSpPr>
          <p:cNvPr id="9" name="Shape 7"/>
          <p:cNvSpPr/>
          <p:nvPr/>
        </p:nvSpPr>
        <p:spPr>
          <a:xfrm>
            <a:off x="4434840" y="2514600"/>
            <a:ext cx="3337560" cy="1874520"/>
          </a:xfrm>
          <a:prstGeom prst="rect">
            <a:avLst/>
          </a:prstGeom>
          <a:solidFill>
            <a:srgbClr val="FFF7ED"/>
          </a:solidFill>
          <a:ln w="12700">
            <a:solidFill>
              <a:srgbClr val="E46A11"/>
            </a:solidFill>
            <a:prstDash val="solid"/>
          </a:ln>
        </p:spPr>
      </p:sp>
      <p:sp>
        <p:nvSpPr>
          <p:cNvPr id="10" name="Text 8"/>
          <p:cNvSpPr/>
          <p:nvPr/>
        </p:nvSpPr>
        <p:spPr>
          <a:xfrm>
            <a:off x="4581144" y="2633472"/>
            <a:ext cx="3044952" cy="219456"/>
          </a:xfrm>
          <a:prstGeom prst="rect">
            <a:avLst/>
          </a:prstGeom>
          <a:noFill/>
          <a:ln/>
        </p:spPr>
        <p:txBody>
          <a:bodyPr wrap="square" lIns="381" tIns="381" rIns="381" bIns="381" rtlCol="0" anchor="t">
            <a:normAutofit/>
          </a:bodyPr>
          <a:lstStyle/>
          <a:p>
            <a:pPr marL="0" indent="0">
              <a:buNone/>
            </a:pPr>
            <a:r>
              <a:rPr lang="en-US" sz="1320" b="1" dirty="0">
                <a:solidFill>
                  <a:srgbClr val="E46A11"/>
                </a:solidFill>
                <a:latin typeface="Arial" pitchFamily="34" charset="0"/>
                <a:ea typeface="Arial" pitchFamily="34" charset="-122"/>
                <a:cs typeface="Arial" pitchFamily="34" charset="-120"/>
              </a:rPr>
              <a:t>Thách thức</a:t>
            </a:r>
            <a:endParaRPr lang="en-US" sz="1320" dirty="0"/>
          </a:p>
        </p:txBody>
      </p:sp>
      <p:sp>
        <p:nvSpPr>
          <p:cNvPr id="11" name="Text 9"/>
          <p:cNvSpPr/>
          <p:nvPr/>
        </p:nvSpPr>
        <p:spPr>
          <a:xfrm>
            <a:off x="4581144" y="2944368"/>
            <a:ext cx="3044952" cy="1353312"/>
          </a:xfrm>
          <a:prstGeom prst="rect">
            <a:avLst/>
          </a:prstGeom>
          <a:noFill/>
          <a:ln/>
        </p:spPr>
        <p:txBody>
          <a:bodyPr wrap="square" lIns="381" tIns="381" rIns="381" bIns="381" rtlCol="0" anchor="t">
            <a:normAutofit/>
          </a:bodyPr>
          <a:lstStyle/>
          <a:p>
            <a:pPr marL="0" indent="0">
              <a:buNone/>
            </a:pPr>
            <a:r>
              <a:rPr lang="en-US" sz="1180" dirty="0">
                <a:solidFill>
                  <a:srgbClr val="101828"/>
                </a:solidFill>
                <a:latin typeface="Arial" pitchFamily="34" charset="0"/>
                <a:ea typeface="Arial" pitchFamily="34" charset="-122"/>
                <a:cs typeface="Arial" pitchFamily="34" charset="-120"/>
              </a:rPr>
              <a:t>Dữ liệu tài chính nhiễu cao, dễ rò rỉ dữ liệu khi đánh giá mô hình, khó chứng minh hiệu quả nếu không có backtest ngoài mẫu.</a:t>
            </a:r>
            <a:endParaRPr lang="en-US" sz="1180" dirty="0"/>
          </a:p>
        </p:txBody>
      </p:sp>
      <p:sp>
        <p:nvSpPr>
          <p:cNvPr id="12" name="Shape 10"/>
          <p:cNvSpPr/>
          <p:nvPr/>
        </p:nvSpPr>
        <p:spPr>
          <a:xfrm>
            <a:off x="8138160" y="2514600"/>
            <a:ext cx="3337560" cy="1874520"/>
          </a:xfrm>
          <a:prstGeom prst="rect">
            <a:avLst/>
          </a:prstGeom>
          <a:solidFill>
            <a:srgbClr val="F0FDF4"/>
          </a:solidFill>
          <a:ln w="12700">
            <a:solidFill>
              <a:srgbClr val="157347"/>
            </a:solidFill>
            <a:prstDash val="solid"/>
          </a:ln>
        </p:spPr>
      </p:sp>
      <p:sp>
        <p:nvSpPr>
          <p:cNvPr id="13" name="Text 11"/>
          <p:cNvSpPr/>
          <p:nvPr/>
        </p:nvSpPr>
        <p:spPr>
          <a:xfrm>
            <a:off x="8284464" y="2633472"/>
            <a:ext cx="3044952" cy="219456"/>
          </a:xfrm>
          <a:prstGeom prst="rect">
            <a:avLst/>
          </a:prstGeom>
          <a:noFill/>
          <a:ln/>
        </p:spPr>
        <p:txBody>
          <a:bodyPr wrap="square" lIns="381" tIns="381" rIns="381" bIns="381" rtlCol="0" anchor="t">
            <a:normAutofit/>
          </a:bodyPr>
          <a:lstStyle/>
          <a:p>
            <a:pPr marL="0" indent="0">
              <a:buNone/>
            </a:pPr>
            <a:r>
              <a:rPr lang="en-US" sz="1320" b="1" dirty="0">
                <a:solidFill>
                  <a:srgbClr val="157347"/>
                </a:solidFill>
                <a:latin typeface="Arial" pitchFamily="34" charset="0"/>
                <a:ea typeface="Arial" pitchFamily="34" charset="-122"/>
                <a:cs typeface="Arial" pitchFamily="34" charset="-120"/>
              </a:rPr>
              <a:t>Giải pháp</a:t>
            </a:r>
            <a:endParaRPr lang="en-US" sz="1320" dirty="0"/>
          </a:p>
        </p:txBody>
      </p:sp>
      <p:sp>
        <p:nvSpPr>
          <p:cNvPr id="14" name="Text 12"/>
          <p:cNvSpPr/>
          <p:nvPr/>
        </p:nvSpPr>
        <p:spPr>
          <a:xfrm>
            <a:off x="8284464" y="2944368"/>
            <a:ext cx="3044952" cy="1353312"/>
          </a:xfrm>
          <a:prstGeom prst="rect">
            <a:avLst/>
          </a:prstGeom>
          <a:noFill/>
          <a:ln/>
        </p:spPr>
        <p:txBody>
          <a:bodyPr wrap="square" lIns="381" tIns="381" rIns="381" bIns="381" rtlCol="0" anchor="t">
            <a:normAutofit/>
          </a:bodyPr>
          <a:lstStyle/>
          <a:p>
            <a:pPr marL="0" indent="0">
              <a:buNone/>
            </a:pPr>
            <a:r>
              <a:rPr lang="en-US" sz="1180" dirty="0">
                <a:solidFill>
                  <a:srgbClr val="101828"/>
                </a:solidFill>
                <a:latin typeface="Arial" pitchFamily="34" charset="0"/>
                <a:ea typeface="Arial" pitchFamily="34" charset="-122"/>
                <a:cs typeface="Arial" pitchFamily="34" charset="-120"/>
              </a:rPr>
              <a:t>Crystal Ball kết hợp dashboard, Supabase Edge Functions, AI Gateway, pipeline Python, Streamlit demo và báo cáo tái lập.</a:t>
            </a:r>
            <a:endParaRPr lang="en-US" sz="1180" dirty="0"/>
          </a:p>
        </p:txBody>
      </p:sp>
      <p:sp>
        <p:nvSpPr>
          <p:cNvPr id="15" name="Text 13"/>
          <p:cNvSpPr/>
          <p:nvPr/>
        </p:nvSpPr>
        <p:spPr>
          <a:xfrm>
            <a:off x="914400" y="5138928"/>
            <a:ext cx="10058400" cy="347472"/>
          </a:xfrm>
          <a:prstGeom prst="rect">
            <a:avLst/>
          </a:prstGeom>
          <a:noFill/>
          <a:ln/>
        </p:spPr>
        <p:txBody>
          <a:bodyPr wrap="square" lIns="381" tIns="381" rIns="381" bIns="381" rtlCol="0" anchor="t">
            <a:normAutofit fontScale="85000" lnSpcReduction="10000"/>
          </a:bodyPr>
          <a:lstStyle/>
          <a:p>
            <a:pPr marL="0" indent="0" algn="ctr">
              <a:buNone/>
            </a:pPr>
            <a:r>
              <a:rPr lang="en-US" sz="1800" b="1" dirty="0">
                <a:solidFill>
                  <a:srgbClr val="157347"/>
                </a:solidFill>
                <a:latin typeface="Arial" pitchFamily="34" charset="0"/>
                <a:ea typeface="Arial" pitchFamily="34" charset="-122"/>
                <a:cs typeface="Arial" pitchFamily="34" charset="-120"/>
              </a:rPr>
              <a:t>Thông điệp: dự án được triển khai như một hệ thống hoàn chỉnh, không phải một mô hình rời rạc.</a:t>
            </a:r>
            <a:endParaRPr lang="en-US" sz="1800" dirty="0"/>
          </a:p>
        </p:txBody>
      </p:sp>
      <p:sp>
        <p:nvSpPr>
          <p:cNvPr id="25" name="Slide Number Placeholder 0"/>
          <p:cNvSpPr>
            <a:spLocks noGrp="1"/>
          </p:cNvSpPr>
          <p:nvPr>
            <p:ph type="sldNum" sz="quarter" idx="4294967295"/>
          </p:nvPr>
        </p:nvSpPr>
        <p:spPr>
          <a:xfrm>
            <a:off x="11475720" y="6492240"/>
            <a:ext cx="800000" cy="300000"/>
          </a:xfrm>
          <a:prstGeom prst="rect">
            <a:avLst/>
          </a:prstGeom>
          <a:extLst>
            <a:ext uri="{C572A759-6A51-4108-AA02-DFA0A04FC94B}">
              <ma14:wrappingTextBoxFlag xmlns:ma14="http://schemas.microsoft.com/office/mac/drawingml/2011/main" xmlns="" val="0"/>
            </a:ext>
          </a:extLst>
        </p:spPr>
        <p:txBody>
          <a:bodyPr/>
          <a:lstStyle>
            <a:lvl1pPr>
              <a:defRPr sz="730">
                <a:solidFill>
                  <a:srgbClr val="667085"/>
                </a:solidFill>
                <a:latin typeface="Arial"/>
                <a:ea typeface="Arial"/>
                <a:cs typeface="Arial"/>
              </a:defRPr>
            </a:lvl1pPr>
          </a:lstStyle>
          <a:p>
            <a:pPr algn="l"/>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74320"/>
            <a:ext cx="7132320" cy="201168"/>
          </a:xfrm>
          <a:prstGeom prst="rect">
            <a:avLst/>
          </a:prstGeom>
          <a:noFill/>
          <a:ln/>
        </p:spPr>
        <p:txBody>
          <a:bodyPr wrap="square" lIns="0" tIns="0" rIns="0" bIns="0" rtlCol="0" anchor="ctr"/>
          <a:lstStyle/>
          <a:p>
            <a:pPr marL="0" indent="0">
              <a:buNone/>
            </a:pPr>
            <a:r>
              <a:rPr lang="en-US" sz="820" b="1" dirty="0">
                <a:solidFill>
                  <a:srgbClr val="667085"/>
                </a:solidFill>
                <a:latin typeface="Arial" pitchFamily="34" charset="0"/>
                <a:ea typeface="Arial" pitchFamily="34" charset="-122"/>
                <a:cs typeface="Arial" pitchFamily="34" charset="-120"/>
              </a:rPr>
              <a:t>RESEARCH OBJECTIVES</a:t>
            </a:r>
            <a:endParaRPr lang="en-US" sz="820" dirty="0"/>
          </a:p>
        </p:txBody>
      </p:sp>
      <p:sp>
        <p:nvSpPr>
          <p:cNvPr id="3" name="Text 1"/>
          <p:cNvSpPr/>
          <p:nvPr/>
        </p:nvSpPr>
        <p:spPr>
          <a:xfrm>
            <a:off x="502920" y="512064"/>
            <a:ext cx="11155680" cy="566928"/>
          </a:xfrm>
          <a:prstGeom prst="rect">
            <a:avLst/>
          </a:prstGeom>
          <a:noFill/>
          <a:ln/>
        </p:spPr>
        <p:txBody>
          <a:bodyPr wrap="square" lIns="0" tIns="0" rIns="0" bIns="0" rtlCol="0" anchor="ctr">
            <a:normAutofit/>
          </a:bodyPr>
          <a:lstStyle/>
          <a:p>
            <a:pPr marL="0" indent="0">
              <a:buNone/>
            </a:pPr>
            <a:r>
              <a:rPr lang="en-US" sz="2700" b="1" dirty="0">
                <a:solidFill>
                  <a:srgbClr val="101828"/>
                </a:solidFill>
                <a:latin typeface="Arial" pitchFamily="34" charset="0"/>
                <a:ea typeface="Arial" pitchFamily="34" charset="-122"/>
                <a:cs typeface="Arial" pitchFamily="34" charset="-120"/>
              </a:rPr>
              <a:t>Mục tiêu nghiên cứu và triển khai</a:t>
            </a:r>
            <a:endParaRPr lang="en-US" sz="2700" dirty="0"/>
          </a:p>
        </p:txBody>
      </p:sp>
      <p:sp>
        <p:nvSpPr>
          <p:cNvPr id="4" name="Shape 2"/>
          <p:cNvSpPr/>
          <p:nvPr/>
        </p:nvSpPr>
        <p:spPr>
          <a:xfrm>
            <a:off x="502920" y="1152144"/>
            <a:ext cx="11155680" cy="0"/>
          </a:xfrm>
          <a:prstGeom prst="line">
            <a:avLst/>
          </a:prstGeom>
          <a:noFill/>
          <a:ln w="10160">
            <a:solidFill>
              <a:srgbClr val="D0D5DD"/>
            </a:solidFill>
            <a:prstDash val="solid"/>
          </a:ln>
        </p:spPr>
      </p:sp>
      <p:sp>
        <p:nvSpPr>
          <p:cNvPr id="5" name="Shape 3"/>
          <p:cNvSpPr/>
          <p:nvPr/>
        </p:nvSpPr>
        <p:spPr>
          <a:xfrm>
            <a:off x="804672" y="1417320"/>
            <a:ext cx="4892040" cy="1371600"/>
          </a:xfrm>
          <a:prstGeom prst="rect">
            <a:avLst/>
          </a:prstGeom>
          <a:solidFill>
            <a:srgbClr val="EEF6FF"/>
          </a:solidFill>
          <a:ln w="12700">
            <a:solidFill>
              <a:srgbClr val="175CD3"/>
            </a:solidFill>
            <a:prstDash val="solid"/>
          </a:ln>
        </p:spPr>
      </p:sp>
      <p:sp>
        <p:nvSpPr>
          <p:cNvPr id="6" name="Text 4"/>
          <p:cNvSpPr/>
          <p:nvPr/>
        </p:nvSpPr>
        <p:spPr>
          <a:xfrm>
            <a:off x="950976" y="1536192"/>
            <a:ext cx="4599432" cy="219456"/>
          </a:xfrm>
          <a:prstGeom prst="rect">
            <a:avLst/>
          </a:prstGeom>
          <a:noFill/>
          <a:ln/>
        </p:spPr>
        <p:txBody>
          <a:bodyPr wrap="square" lIns="381" tIns="381" rIns="381" bIns="381" rtlCol="0" anchor="t">
            <a:normAutofit/>
          </a:bodyPr>
          <a:lstStyle/>
          <a:p>
            <a:pPr marL="0" indent="0">
              <a:buNone/>
            </a:pPr>
            <a:r>
              <a:rPr lang="en-US" sz="1320" b="1" dirty="0">
                <a:solidFill>
                  <a:srgbClr val="175CD3"/>
                </a:solidFill>
                <a:latin typeface="Arial" pitchFamily="34" charset="0"/>
                <a:ea typeface="Arial" pitchFamily="34" charset="-122"/>
                <a:cs typeface="Arial" pitchFamily="34" charset="-120"/>
              </a:rPr>
              <a:t>Mục tiêu 1</a:t>
            </a:r>
            <a:endParaRPr lang="en-US" sz="1320" dirty="0"/>
          </a:p>
        </p:txBody>
      </p:sp>
      <p:sp>
        <p:nvSpPr>
          <p:cNvPr id="7" name="Text 5"/>
          <p:cNvSpPr/>
          <p:nvPr/>
        </p:nvSpPr>
        <p:spPr>
          <a:xfrm>
            <a:off x="950976" y="1847088"/>
            <a:ext cx="4599432" cy="850392"/>
          </a:xfrm>
          <a:prstGeom prst="rect">
            <a:avLst/>
          </a:prstGeom>
          <a:noFill/>
          <a:ln/>
        </p:spPr>
        <p:txBody>
          <a:bodyPr wrap="square" lIns="381" tIns="381" rIns="381" bIns="381" rtlCol="0" anchor="t">
            <a:normAutofit/>
          </a:bodyPr>
          <a:lstStyle/>
          <a:p>
            <a:pPr marL="0" indent="0">
              <a:buNone/>
            </a:pPr>
            <a:r>
              <a:rPr lang="en-US" sz="1180" dirty="0">
                <a:solidFill>
                  <a:srgbClr val="101828"/>
                </a:solidFill>
                <a:latin typeface="Arial" pitchFamily="34" charset="0"/>
                <a:ea typeface="Arial" pitchFamily="34" charset="-122"/>
                <a:cs typeface="Arial" pitchFamily="34" charset="-120"/>
              </a:rPr>
              <a:t>Xây dựng nền tảng phân tích tài chính có dashboard, stock/crypto, risk engine, portfolio optimizer và AI assistant.</a:t>
            </a:r>
            <a:endParaRPr lang="en-US" sz="1180" dirty="0"/>
          </a:p>
        </p:txBody>
      </p:sp>
      <p:sp>
        <p:nvSpPr>
          <p:cNvPr id="8" name="Shape 6"/>
          <p:cNvSpPr/>
          <p:nvPr/>
        </p:nvSpPr>
        <p:spPr>
          <a:xfrm>
            <a:off x="6199632" y="1417320"/>
            <a:ext cx="4892040" cy="1371600"/>
          </a:xfrm>
          <a:prstGeom prst="rect">
            <a:avLst/>
          </a:prstGeom>
          <a:solidFill>
            <a:srgbClr val="F0FDF4"/>
          </a:solidFill>
          <a:ln w="12700">
            <a:solidFill>
              <a:srgbClr val="157347"/>
            </a:solidFill>
            <a:prstDash val="solid"/>
          </a:ln>
        </p:spPr>
      </p:sp>
      <p:sp>
        <p:nvSpPr>
          <p:cNvPr id="9" name="Text 7"/>
          <p:cNvSpPr/>
          <p:nvPr/>
        </p:nvSpPr>
        <p:spPr>
          <a:xfrm>
            <a:off x="6345936" y="1536192"/>
            <a:ext cx="4599432" cy="219456"/>
          </a:xfrm>
          <a:prstGeom prst="rect">
            <a:avLst/>
          </a:prstGeom>
          <a:noFill/>
          <a:ln/>
        </p:spPr>
        <p:txBody>
          <a:bodyPr wrap="square" lIns="381" tIns="381" rIns="381" bIns="381" rtlCol="0" anchor="t">
            <a:normAutofit/>
          </a:bodyPr>
          <a:lstStyle/>
          <a:p>
            <a:pPr marL="0" indent="0">
              <a:buNone/>
            </a:pPr>
            <a:r>
              <a:rPr lang="en-US" sz="1320" b="1" dirty="0">
                <a:solidFill>
                  <a:srgbClr val="157347"/>
                </a:solidFill>
                <a:latin typeface="Arial" pitchFamily="34" charset="0"/>
                <a:ea typeface="Arial" pitchFamily="34" charset="-122"/>
                <a:cs typeface="Arial" pitchFamily="34" charset="-120"/>
              </a:rPr>
              <a:t>Mục tiêu 2</a:t>
            </a:r>
            <a:endParaRPr lang="en-US" sz="1320" dirty="0"/>
          </a:p>
        </p:txBody>
      </p:sp>
      <p:sp>
        <p:nvSpPr>
          <p:cNvPr id="10" name="Text 8"/>
          <p:cNvSpPr/>
          <p:nvPr/>
        </p:nvSpPr>
        <p:spPr>
          <a:xfrm>
            <a:off x="6345936" y="1847088"/>
            <a:ext cx="4599432" cy="850392"/>
          </a:xfrm>
          <a:prstGeom prst="rect">
            <a:avLst/>
          </a:prstGeom>
          <a:noFill/>
          <a:ln/>
        </p:spPr>
        <p:txBody>
          <a:bodyPr wrap="square" lIns="381" tIns="381" rIns="381" bIns="381" rtlCol="0" anchor="t">
            <a:normAutofit/>
          </a:bodyPr>
          <a:lstStyle/>
          <a:p>
            <a:pPr marL="0" indent="0">
              <a:buNone/>
            </a:pPr>
            <a:r>
              <a:rPr lang="en-US" sz="1180" dirty="0">
                <a:solidFill>
                  <a:srgbClr val="101828"/>
                </a:solidFill>
                <a:latin typeface="Arial" pitchFamily="34" charset="0"/>
                <a:ea typeface="Arial" pitchFamily="34" charset="-122"/>
                <a:cs typeface="Arial" pitchFamily="34" charset="-120"/>
              </a:rPr>
              <a:t>Thiết kế pipeline Python cho bài toán AI quản lý danh mục đầu tư theo hướng predict-then-optimize.</a:t>
            </a:r>
            <a:endParaRPr lang="en-US" sz="1180" dirty="0"/>
          </a:p>
        </p:txBody>
      </p:sp>
      <p:sp>
        <p:nvSpPr>
          <p:cNvPr id="11" name="Shape 9"/>
          <p:cNvSpPr/>
          <p:nvPr/>
        </p:nvSpPr>
        <p:spPr>
          <a:xfrm>
            <a:off x="804672" y="3383280"/>
            <a:ext cx="4892040" cy="1371600"/>
          </a:xfrm>
          <a:prstGeom prst="rect">
            <a:avLst/>
          </a:prstGeom>
          <a:solidFill>
            <a:srgbClr val="EEF6FF"/>
          </a:solidFill>
          <a:ln w="12700">
            <a:solidFill>
              <a:srgbClr val="175CD3"/>
            </a:solidFill>
            <a:prstDash val="solid"/>
          </a:ln>
        </p:spPr>
      </p:sp>
      <p:sp>
        <p:nvSpPr>
          <p:cNvPr id="12" name="Text 10"/>
          <p:cNvSpPr/>
          <p:nvPr/>
        </p:nvSpPr>
        <p:spPr>
          <a:xfrm>
            <a:off x="950976" y="3502152"/>
            <a:ext cx="4599432" cy="219456"/>
          </a:xfrm>
          <a:prstGeom prst="rect">
            <a:avLst/>
          </a:prstGeom>
          <a:noFill/>
          <a:ln/>
        </p:spPr>
        <p:txBody>
          <a:bodyPr wrap="square" lIns="381" tIns="381" rIns="381" bIns="381" rtlCol="0" anchor="t">
            <a:normAutofit/>
          </a:bodyPr>
          <a:lstStyle/>
          <a:p>
            <a:pPr marL="0" indent="0">
              <a:buNone/>
            </a:pPr>
            <a:r>
              <a:rPr lang="en-US" sz="1320" b="1" dirty="0">
                <a:solidFill>
                  <a:srgbClr val="175CD3"/>
                </a:solidFill>
                <a:latin typeface="Arial" pitchFamily="34" charset="0"/>
                <a:ea typeface="Arial" pitchFamily="34" charset="-122"/>
                <a:cs typeface="Arial" pitchFamily="34" charset="-120"/>
              </a:rPr>
              <a:t>Mục tiêu 3</a:t>
            </a:r>
            <a:endParaRPr lang="en-US" sz="1320" dirty="0"/>
          </a:p>
        </p:txBody>
      </p:sp>
      <p:sp>
        <p:nvSpPr>
          <p:cNvPr id="13" name="Text 11"/>
          <p:cNvSpPr/>
          <p:nvPr/>
        </p:nvSpPr>
        <p:spPr>
          <a:xfrm>
            <a:off x="950976" y="3813048"/>
            <a:ext cx="4599432" cy="850392"/>
          </a:xfrm>
          <a:prstGeom prst="rect">
            <a:avLst/>
          </a:prstGeom>
          <a:noFill/>
          <a:ln/>
        </p:spPr>
        <p:txBody>
          <a:bodyPr wrap="square" lIns="381" tIns="381" rIns="381" bIns="381" rtlCol="0" anchor="t">
            <a:normAutofit/>
          </a:bodyPr>
          <a:lstStyle/>
          <a:p>
            <a:pPr marL="0" indent="0">
              <a:buNone/>
            </a:pPr>
            <a:r>
              <a:rPr lang="en-US" sz="1180" dirty="0">
                <a:solidFill>
                  <a:srgbClr val="101828"/>
                </a:solidFill>
                <a:latin typeface="Arial" pitchFamily="34" charset="0"/>
                <a:ea typeface="Arial" pitchFamily="34" charset="-122"/>
                <a:cs typeface="Arial" pitchFamily="34" charset="-120"/>
              </a:rPr>
              <a:t>Đánh giá mô hình bằng train/valid/test theo thời gian, có embargo chống data leakage và backtest ngoài mẫu.</a:t>
            </a:r>
            <a:endParaRPr lang="en-US" sz="1180" dirty="0"/>
          </a:p>
        </p:txBody>
      </p:sp>
      <p:sp>
        <p:nvSpPr>
          <p:cNvPr id="14" name="Shape 12"/>
          <p:cNvSpPr/>
          <p:nvPr/>
        </p:nvSpPr>
        <p:spPr>
          <a:xfrm>
            <a:off x="6199632" y="3383280"/>
            <a:ext cx="4892040" cy="1371600"/>
          </a:xfrm>
          <a:prstGeom prst="rect">
            <a:avLst/>
          </a:prstGeom>
          <a:solidFill>
            <a:srgbClr val="F0FDF4"/>
          </a:solidFill>
          <a:ln w="12700">
            <a:solidFill>
              <a:srgbClr val="157347"/>
            </a:solidFill>
            <a:prstDash val="solid"/>
          </a:ln>
        </p:spPr>
      </p:sp>
      <p:sp>
        <p:nvSpPr>
          <p:cNvPr id="15" name="Text 13"/>
          <p:cNvSpPr/>
          <p:nvPr/>
        </p:nvSpPr>
        <p:spPr>
          <a:xfrm>
            <a:off x="6345936" y="3502152"/>
            <a:ext cx="4599432" cy="219456"/>
          </a:xfrm>
          <a:prstGeom prst="rect">
            <a:avLst/>
          </a:prstGeom>
          <a:noFill/>
          <a:ln/>
        </p:spPr>
        <p:txBody>
          <a:bodyPr wrap="square" lIns="381" tIns="381" rIns="381" bIns="381" rtlCol="0" anchor="t">
            <a:normAutofit/>
          </a:bodyPr>
          <a:lstStyle/>
          <a:p>
            <a:pPr marL="0" indent="0">
              <a:buNone/>
            </a:pPr>
            <a:r>
              <a:rPr lang="en-US" sz="1320" b="1" dirty="0">
                <a:solidFill>
                  <a:srgbClr val="157347"/>
                </a:solidFill>
                <a:latin typeface="Arial" pitchFamily="34" charset="0"/>
                <a:ea typeface="Arial" pitchFamily="34" charset="-122"/>
                <a:cs typeface="Arial" pitchFamily="34" charset="-120"/>
              </a:rPr>
              <a:t>Mục tiêu 4</a:t>
            </a:r>
            <a:endParaRPr lang="en-US" sz="1320" dirty="0"/>
          </a:p>
        </p:txBody>
      </p:sp>
      <p:sp>
        <p:nvSpPr>
          <p:cNvPr id="16" name="Text 14"/>
          <p:cNvSpPr/>
          <p:nvPr/>
        </p:nvSpPr>
        <p:spPr>
          <a:xfrm>
            <a:off x="6345936" y="3813048"/>
            <a:ext cx="4599432" cy="850392"/>
          </a:xfrm>
          <a:prstGeom prst="rect">
            <a:avLst/>
          </a:prstGeom>
          <a:noFill/>
          <a:ln/>
        </p:spPr>
        <p:txBody>
          <a:bodyPr wrap="square" lIns="381" tIns="381" rIns="381" bIns="381" rtlCol="0" anchor="t">
            <a:normAutofit/>
          </a:bodyPr>
          <a:lstStyle/>
          <a:p>
            <a:pPr marL="0" indent="0">
              <a:buNone/>
            </a:pPr>
            <a:r>
              <a:rPr lang="en-US" sz="1180" dirty="0">
                <a:solidFill>
                  <a:srgbClr val="101828"/>
                </a:solidFill>
                <a:latin typeface="Arial" pitchFamily="34" charset="0"/>
                <a:ea typeface="Arial" pitchFamily="34" charset="-122"/>
                <a:cs typeface="Arial" pitchFamily="34" charset="-120"/>
              </a:rPr>
              <a:t>Tích hợp AI Gemini, sử dụng ChatGPT/Codex trong quy trình phát triển/báo cáo, và thiết kế tự động hóa n8n có lưu vết.</a:t>
            </a:r>
            <a:endParaRPr lang="en-US" sz="1180" dirty="0"/>
          </a:p>
        </p:txBody>
      </p:sp>
      <p:sp>
        <p:nvSpPr>
          <p:cNvPr id="25" name="Slide Number Placeholder 0"/>
          <p:cNvSpPr>
            <a:spLocks noGrp="1"/>
          </p:cNvSpPr>
          <p:nvPr>
            <p:ph type="sldNum" sz="quarter" idx="4294967295"/>
          </p:nvPr>
        </p:nvSpPr>
        <p:spPr>
          <a:xfrm>
            <a:off x="11475720" y="6492240"/>
            <a:ext cx="800000" cy="300000"/>
          </a:xfrm>
          <a:prstGeom prst="rect">
            <a:avLst/>
          </a:prstGeom>
          <a:extLst>
            <a:ext uri="{C572A759-6A51-4108-AA02-DFA0A04FC94B}">
              <ma14:wrappingTextBoxFlag xmlns:ma14="http://schemas.microsoft.com/office/mac/drawingml/2011/main" xmlns="" val="0"/>
            </a:ext>
          </a:extLst>
        </p:spPr>
        <p:txBody>
          <a:bodyPr/>
          <a:lstStyle>
            <a:lvl1pPr>
              <a:defRPr sz="730">
                <a:solidFill>
                  <a:srgbClr val="667085"/>
                </a:solidFill>
                <a:latin typeface="Arial"/>
                <a:ea typeface="Arial"/>
                <a:cs typeface="Arial"/>
              </a:defRPr>
            </a:lvl1pPr>
          </a:lstStyle>
          <a:p>
            <a:pPr algn="l"/>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74320"/>
            <a:ext cx="7132320" cy="201168"/>
          </a:xfrm>
          <a:prstGeom prst="rect">
            <a:avLst/>
          </a:prstGeom>
          <a:noFill/>
          <a:ln/>
        </p:spPr>
        <p:txBody>
          <a:bodyPr wrap="square" lIns="0" tIns="0" rIns="0" bIns="0" rtlCol="0" anchor="ctr"/>
          <a:lstStyle/>
          <a:p>
            <a:pPr marL="0" indent="0">
              <a:buNone/>
            </a:pPr>
            <a:r>
              <a:rPr lang="en-US" sz="820" b="1" dirty="0">
                <a:solidFill>
                  <a:srgbClr val="667085"/>
                </a:solidFill>
                <a:latin typeface="Arial" pitchFamily="34" charset="0"/>
                <a:ea typeface="Arial" pitchFamily="34" charset="-122"/>
                <a:cs typeface="Arial" pitchFamily="34" charset="-120"/>
              </a:rPr>
              <a:t>PRODUCT SCOPE</a:t>
            </a:r>
            <a:endParaRPr lang="en-US" sz="820" dirty="0"/>
          </a:p>
        </p:txBody>
      </p:sp>
      <p:sp>
        <p:nvSpPr>
          <p:cNvPr id="3" name="Text 1"/>
          <p:cNvSpPr/>
          <p:nvPr/>
        </p:nvSpPr>
        <p:spPr>
          <a:xfrm>
            <a:off x="502920" y="512064"/>
            <a:ext cx="11155680" cy="566928"/>
          </a:xfrm>
          <a:prstGeom prst="rect">
            <a:avLst/>
          </a:prstGeom>
          <a:noFill/>
          <a:ln/>
        </p:spPr>
        <p:txBody>
          <a:bodyPr wrap="square" lIns="0" tIns="0" rIns="0" bIns="0" rtlCol="0" anchor="ctr">
            <a:normAutofit/>
          </a:bodyPr>
          <a:lstStyle/>
          <a:p>
            <a:pPr marL="0" indent="0">
              <a:buNone/>
            </a:pPr>
            <a:r>
              <a:rPr lang="en-US" sz="2700" b="1" dirty="0">
                <a:solidFill>
                  <a:srgbClr val="101828"/>
                </a:solidFill>
                <a:latin typeface="Arial" pitchFamily="34" charset="0"/>
                <a:ea typeface="Arial" pitchFamily="34" charset="-122"/>
                <a:cs typeface="Arial" pitchFamily="34" charset="-120"/>
              </a:rPr>
              <a:t>Phạm vi hệ thống Crystal Ball</a:t>
            </a:r>
            <a:endParaRPr lang="en-US" sz="2700" dirty="0"/>
          </a:p>
        </p:txBody>
      </p:sp>
      <p:sp>
        <p:nvSpPr>
          <p:cNvPr id="4" name="Shape 2"/>
          <p:cNvSpPr/>
          <p:nvPr/>
        </p:nvSpPr>
        <p:spPr>
          <a:xfrm>
            <a:off x="502920" y="1152144"/>
            <a:ext cx="11155680" cy="0"/>
          </a:xfrm>
          <a:prstGeom prst="line">
            <a:avLst/>
          </a:prstGeom>
          <a:noFill/>
          <a:ln w="10160">
            <a:solidFill>
              <a:srgbClr val="D0D5DD"/>
            </a:solidFill>
            <a:prstDash val="solid"/>
          </a:ln>
        </p:spPr>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58368" y="1353312"/>
          <a:ext cx="10881360" cy="4526280"/>
        </p:xfrm>
        <a:graphic>
          <a:graphicData uri="http://schemas.openxmlformats.org/drawingml/2006/table">
            <a:tbl>
              <a:tblPr/>
              <a:tblGrid>
                <a:gridCol w="1828800">
                  <a:extLst>
                    <a:ext uri="{9D8B030D-6E8A-4147-A177-3AD203B41FA5}">
                      <a16:colId xmlns:a16="http://schemas.microsoft.com/office/drawing/2014/main" val="20000"/>
                    </a:ext>
                  </a:extLst>
                </a:gridCol>
                <a:gridCol w="4663440">
                  <a:extLst>
                    <a:ext uri="{9D8B030D-6E8A-4147-A177-3AD203B41FA5}">
                      <a16:colId xmlns:a16="http://schemas.microsoft.com/office/drawing/2014/main" val="20001"/>
                    </a:ext>
                  </a:extLst>
                </a:gridCol>
                <a:gridCol w="4389120">
                  <a:extLst>
                    <a:ext uri="{9D8B030D-6E8A-4147-A177-3AD203B41FA5}">
                      <a16:colId xmlns:a16="http://schemas.microsoft.com/office/drawing/2014/main" val="20002"/>
                    </a:ext>
                  </a:extLst>
                </a:gridCol>
              </a:tblGrid>
              <a:tr h="646611">
                <a:tc>
                  <a:txBody>
                    <a:bodyPr/>
                    <a:lstStyle/>
                    <a:p>
                      <a:pPr marL="0" indent="0">
                        <a:buNone/>
                      </a:pPr>
                      <a:r>
                        <a:rPr lang="en-US" sz="1130" dirty="0">
                          <a:solidFill>
                            <a:srgbClr val="101828"/>
                          </a:solidFill>
                          <a:latin typeface="Arial" pitchFamily="34" charset="0"/>
                          <a:ea typeface="Arial" pitchFamily="34" charset="-122"/>
                          <a:cs typeface="Arial" pitchFamily="34" charset="-120"/>
                        </a:rPr>
                        <a:t>Phân hệ</a:t>
                      </a:r>
                      <a:endParaRPr lang="en-US" sz="113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130" dirty="0">
                          <a:solidFill>
                            <a:srgbClr val="101828"/>
                          </a:solidFill>
                          <a:latin typeface="Arial" pitchFamily="34" charset="0"/>
                          <a:ea typeface="Arial" pitchFamily="34" charset="-122"/>
                          <a:cs typeface="Arial" pitchFamily="34" charset="-120"/>
                        </a:rPr>
                        <a:t>Chức năng</a:t>
                      </a:r>
                      <a:endParaRPr lang="en-US" sz="113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130" dirty="0">
                          <a:solidFill>
                            <a:srgbClr val="101828"/>
                          </a:solidFill>
                          <a:latin typeface="Arial" pitchFamily="34" charset="0"/>
                          <a:ea typeface="Arial" pitchFamily="34" charset="-122"/>
                          <a:cs typeface="Arial" pitchFamily="34" charset="-120"/>
                        </a:rPr>
                        <a:t>Bằng chứng mã nguồn</a:t>
                      </a:r>
                      <a:endParaRPr lang="en-US" sz="113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extLst>
                  <a:ext uri="{0D108BD9-81ED-4DB2-BD59-A6C34878D82A}">
                    <a16:rowId xmlns:a16="http://schemas.microsoft.com/office/drawing/2014/main" val="10000"/>
                  </a:ext>
                </a:extLst>
              </a:tr>
              <a:tr h="646611">
                <a:tc>
                  <a:txBody>
                    <a:bodyPr/>
                    <a:lstStyle/>
                    <a:p>
                      <a:pPr marL="0" indent="0">
                        <a:buNone/>
                      </a:pPr>
                      <a:r>
                        <a:rPr lang="en-US" sz="1130" dirty="0">
                          <a:solidFill>
                            <a:srgbClr val="101828"/>
                          </a:solidFill>
                          <a:latin typeface="Arial" pitchFamily="34" charset="0"/>
                          <a:ea typeface="Arial" pitchFamily="34" charset="-122"/>
                          <a:cs typeface="Arial" pitchFamily="34" charset="-120"/>
                        </a:rPr>
                        <a:t>Dashboard</a:t>
                      </a:r>
                      <a:endParaRPr lang="en-US" sz="113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130" dirty="0">
                          <a:solidFill>
                            <a:srgbClr val="101828"/>
                          </a:solidFill>
                          <a:latin typeface="Arial" pitchFamily="34" charset="0"/>
                          <a:ea typeface="Arial" pitchFamily="34" charset="-122"/>
                          <a:cs typeface="Arial" pitchFamily="34" charset="-120"/>
                        </a:rPr>
                        <a:t>Tổng quan thị trường, watchlist, chỉ báo nhanh</a:t>
                      </a:r>
                      <a:endParaRPr lang="en-US" sz="113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130" dirty="0">
                          <a:solidFill>
                            <a:srgbClr val="101828"/>
                          </a:solidFill>
                          <a:latin typeface="Arial" pitchFamily="34" charset="0"/>
                          <a:ea typeface="Arial" pitchFamily="34" charset="-122"/>
                          <a:cs typeface="Arial" pitchFamily="34" charset="-120"/>
                        </a:rPr>
                        <a:t>src/pages/platform/Dashboard.tsx</a:t>
                      </a:r>
                      <a:endParaRPr lang="en-US" sz="113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extLst>
                  <a:ext uri="{0D108BD9-81ED-4DB2-BD59-A6C34878D82A}">
                    <a16:rowId xmlns:a16="http://schemas.microsoft.com/office/drawing/2014/main" val="10001"/>
                  </a:ext>
                </a:extLst>
              </a:tr>
              <a:tr h="646611">
                <a:tc>
                  <a:txBody>
                    <a:bodyPr/>
                    <a:lstStyle/>
                    <a:p>
                      <a:pPr marL="0" indent="0">
                        <a:buNone/>
                      </a:pPr>
                      <a:r>
                        <a:rPr lang="en-US" sz="1130" dirty="0">
                          <a:solidFill>
                            <a:srgbClr val="101828"/>
                          </a:solidFill>
                          <a:latin typeface="Arial" pitchFamily="34" charset="0"/>
                          <a:ea typeface="Arial" pitchFamily="34" charset="-122"/>
                          <a:cs typeface="Arial" pitchFamily="34" charset="-120"/>
                        </a:rPr>
                        <a:t>Stock Analysis</a:t>
                      </a:r>
                      <a:endParaRPr lang="en-US" sz="113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130" dirty="0">
                          <a:solidFill>
                            <a:srgbClr val="101828"/>
                          </a:solidFill>
                          <a:latin typeface="Arial" pitchFamily="34" charset="0"/>
                          <a:ea typeface="Arial" pitchFamily="34" charset="-122"/>
                          <a:cs typeface="Arial" pitchFamily="34" charset="-120"/>
                        </a:rPr>
                        <a:t>Biểu đồ, technical indicators, AI Research, Portfolio Lab</a:t>
                      </a:r>
                      <a:endParaRPr lang="en-US" sz="113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130" dirty="0">
                          <a:solidFill>
                            <a:srgbClr val="101828"/>
                          </a:solidFill>
                          <a:latin typeface="Arial" pitchFamily="34" charset="0"/>
                          <a:ea typeface="Arial" pitchFamily="34" charset="-122"/>
                          <a:cs typeface="Arial" pitchFamily="34" charset="-120"/>
                        </a:rPr>
                        <a:t>src/pages/platform/StockAnalysis.tsx</a:t>
                      </a:r>
                      <a:endParaRPr lang="en-US" sz="113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extLst>
                  <a:ext uri="{0D108BD9-81ED-4DB2-BD59-A6C34878D82A}">
                    <a16:rowId xmlns:a16="http://schemas.microsoft.com/office/drawing/2014/main" val="10002"/>
                  </a:ext>
                </a:extLst>
              </a:tr>
              <a:tr h="646611">
                <a:tc>
                  <a:txBody>
                    <a:bodyPr/>
                    <a:lstStyle/>
                    <a:p>
                      <a:pPr marL="0" indent="0">
                        <a:buNone/>
                      </a:pPr>
                      <a:r>
                        <a:rPr lang="en-US" sz="1130" dirty="0">
                          <a:solidFill>
                            <a:srgbClr val="101828"/>
                          </a:solidFill>
                          <a:latin typeface="Arial" pitchFamily="34" charset="0"/>
                          <a:ea typeface="Arial" pitchFamily="34" charset="-122"/>
                          <a:cs typeface="Arial" pitchFamily="34" charset="-120"/>
                        </a:rPr>
                        <a:t>Crypto Intelligence</a:t>
                      </a:r>
                      <a:endParaRPr lang="en-US" sz="113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130" dirty="0">
                          <a:solidFill>
                            <a:srgbClr val="101828"/>
                          </a:solidFill>
                          <a:latin typeface="Arial" pitchFamily="34" charset="0"/>
                          <a:ea typeface="Arial" pitchFamily="34" charset="-122"/>
                          <a:cs typeface="Arial" pitchFamily="34" charset="-120"/>
                        </a:rPr>
                        <a:t>Crypto market, Fear &amp; Greed, Crypto Chat</a:t>
                      </a:r>
                      <a:endParaRPr lang="en-US" sz="113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130" dirty="0">
                          <a:solidFill>
                            <a:srgbClr val="101828"/>
                          </a:solidFill>
                          <a:latin typeface="Arial" pitchFamily="34" charset="0"/>
                          <a:ea typeface="Arial" pitchFamily="34" charset="-122"/>
                          <a:cs typeface="Arial" pitchFamily="34" charset="-120"/>
                        </a:rPr>
                        <a:t>src/pages/platform/CryptoIntelligence.tsx</a:t>
                      </a:r>
                      <a:endParaRPr lang="en-US" sz="113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extLst>
                  <a:ext uri="{0D108BD9-81ED-4DB2-BD59-A6C34878D82A}">
                    <a16:rowId xmlns:a16="http://schemas.microsoft.com/office/drawing/2014/main" val="10003"/>
                  </a:ext>
                </a:extLst>
              </a:tr>
              <a:tr h="646611">
                <a:tc>
                  <a:txBody>
                    <a:bodyPr/>
                    <a:lstStyle/>
                    <a:p>
                      <a:pPr marL="0" indent="0">
                        <a:buNone/>
                      </a:pPr>
                      <a:r>
                        <a:rPr lang="en-US" sz="1130" dirty="0">
                          <a:solidFill>
                            <a:srgbClr val="101828"/>
                          </a:solidFill>
                          <a:latin typeface="Arial" pitchFamily="34" charset="0"/>
                          <a:ea typeface="Arial" pitchFamily="34" charset="-122"/>
                          <a:cs typeface="Arial" pitchFamily="34" charset="-120"/>
                        </a:rPr>
                        <a:t>Risk Engine</a:t>
                      </a:r>
                      <a:endParaRPr lang="en-US" sz="113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130" dirty="0">
                          <a:solidFill>
                            <a:srgbClr val="101828"/>
                          </a:solidFill>
                          <a:latin typeface="Arial" pitchFamily="34" charset="0"/>
                          <a:ea typeface="Arial" pitchFamily="34" charset="-122"/>
                          <a:cs typeface="Arial" pitchFamily="34" charset="-120"/>
                        </a:rPr>
                        <a:t>VaR, CVaR, drawdown, stress testing</a:t>
                      </a:r>
                      <a:endParaRPr lang="en-US" sz="113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130" dirty="0">
                          <a:solidFill>
                            <a:srgbClr val="101828"/>
                          </a:solidFill>
                          <a:latin typeface="Arial" pitchFamily="34" charset="0"/>
                          <a:ea typeface="Arial" pitchFamily="34" charset="-122"/>
                          <a:cs typeface="Arial" pitchFamily="34" charset="-120"/>
                        </a:rPr>
                        <a:t>src/pages/platform/RiskEngine.tsx</a:t>
                      </a:r>
                      <a:endParaRPr lang="en-US" sz="113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extLst>
                  <a:ext uri="{0D108BD9-81ED-4DB2-BD59-A6C34878D82A}">
                    <a16:rowId xmlns:a16="http://schemas.microsoft.com/office/drawing/2014/main" val="10004"/>
                  </a:ext>
                </a:extLst>
              </a:tr>
              <a:tr h="646611">
                <a:tc>
                  <a:txBody>
                    <a:bodyPr/>
                    <a:lstStyle/>
                    <a:p>
                      <a:pPr marL="0" indent="0">
                        <a:buNone/>
                      </a:pPr>
                      <a:r>
                        <a:rPr lang="en-US" sz="1130" dirty="0">
                          <a:solidFill>
                            <a:srgbClr val="101828"/>
                          </a:solidFill>
                          <a:latin typeface="Arial" pitchFamily="34" charset="0"/>
                          <a:ea typeface="Arial" pitchFamily="34" charset="-122"/>
                          <a:cs typeface="Arial" pitchFamily="34" charset="-120"/>
                        </a:rPr>
                        <a:t>AI Insights</a:t>
                      </a:r>
                      <a:endParaRPr lang="en-US" sz="113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130" dirty="0">
                          <a:solidFill>
                            <a:srgbClr val="101828"/>
                          </a:solidFill>
                          <a:latin typeface="Arial" pitchFamily="34" charset="0"/>
                          <a:ea typeface="Arial" pitchFamily="34" charset="-122"/>
                          <a:cs typeface="Arial" pitchFamily="34" charset="-120"/>
                        </a:rPr>
                        <a:t>Chat AI, market analysis, news/community context</a:t>
                      </a:r>
                      <a:endParaRPr lang="en-US" sz="113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130" dirty="0">
                          <a:solidFill>
                            <a:srgbClr val="101828"/>
                          </a:solidFill>
                          <a:latin typeface="Arial" pitchFamily="34" charset="0"/>
                          <a:ea typeface="Arial" pitchFamily="34" charset="-122"/>
                          <a:cs typeface="Arial" pitchFamily="34" charset="-120"/>
                        </a:rPr>
                        <a:t>src/pages/platform/AIInsights.tsx</a:t>
                      </a:r>
                      <a:endParaRPr lang="en-US" sz="113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extLst>
                  <a:ext uri="{0D108BD9-81ED-4DB2-BD59-A6C34878D82A}">
                    <a16:rowId xmlns:a16="http://schemas.microsoft.com/office/drawing/2014/main" val="10005"/>
                  </a:ext>
                </a:extLst>
              </a:tr>
              <a:tr h="646611">
                <a:tc>
                  <a:txBody>
                    <a:bodyPr/>
                    <a:lstStyle/>
                    <a:p>
                      <a:pPr marL="0" indent="0">
                        <a:buNone/>
                      </a:pPr>
                      <a:r>
                        <a:rPr lang="en-US" sz="1130" dirty="0">
                          <a:solidFill>
                            <a:srgbClr val="101828"/>
                          </a:solidFill>
                          <a:latin typeface="Arial" pitchFamily="34" charset="0"/>
                          <a:ea typeface="Arial" pitchFamily="34" charset="-122"/>
                          <a:cs typeface="Arial" pitchFamily="34" charset="-120"/>
                        </a:rPr>
                        <a:t>Project Analysis</a:t>
                      </a:r>
                      <a:endParaRPr lang="en-US" sz="113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130" dirty="0">
                          <a:solidFill>
                            <a:srgbClr val="101828"/>
                          </a:solidFill>
                          <a:latin typeface="Arial" pitchFamily="34" charset="0"/>
                          <a:ea typeface="Arial" pitchFamily="34" charset="-122"/>
                          <a:cs typeface="Arial" pitchFamily="34" charset="-120"/>
                        </a:rPr>
                        <a:t>NPV, IRR, Monte Carlo, PDF/Word + AI analysis</a:t>
                      </a:r>
                      <a:endParaRPr lang="en-US" sz="113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130" dirty="0">
                          <a:solidFill>
                            <a:srgbClr val="101828"/>
                          </a:solidFill>
                          <a:latin typeface="Arial" pitchFamily="34" charset="0"/>
                          <a:ea typeface="Arial" pitchFamily="34" charset="-122"/>
                          <a:cs typeface="Arial" pitchFamily="34" charset="-120"/>
                        </a:rPr>
                        <a:t>src/pages/ProjectAnalysis.tsx</a:t>
                      </a:r>
                      <a:endParaRPr lang="en-US" sz="113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5" name="Text 3"/>
          <p:cNvSpPr/>
          <p:nvPr/>
        </p:nvSpPr>
        <p:spPr>
          <a:xfrm>
            <a:off x="502920" y="6236208"/>
            <a:ext cx="10881360" cy="146304"/>
          </a:xfrm>
          <a:prstGeom prst="rect">
            <a:avLst/>
          </a:prstGeom>
          <a:noFill/>
          <a:ln/>
        </p:spPr>
        <p:txBody>
          <a:bodyPr wrap="square" lIns="381" tIns="381" rIns="381" bIns="381" rtlCol="0" anchor="t">
            <a:normAutofit/>
          </a:bodyPr>
          <a:lstStyle/>
          <a:p>
            <a:pPr marL="0" indent="0">
              <a:buNone/>
            </a:pPr>
            <a:r>
              <a:rPr lang="en-US" sz="730" dirty="0">
                <a:solidFill>
                  <a:srgbClr val="667085"/>
                </a:solidFill>
                <a:latin typeface="Arial" pitchFamily="34" charset="0"/>
                <a:ea typeface="Arial" pitchFamily="34" charset="-122"/>
                <a:cs typeface="Arial" pitchFamily="34" charset="-120"/>
              </a:rPr>
              <a:t>Nguồn: README.md; src/pages/platform/*; src/components/platform/*</a:t>
            </a:r>
            <a:endParaRPr lang="en-US" sz="730" dirty="0"/>
          </a:p>
        </p:txBody>
      </p:sp>
      <p:sp>
        <p:nvSpPr>
          <p:cNvPr id="25" name="Slide Number Placeholder 0"/>
          <p:cNvSpPr>
            <a:spLocks noGrp="1"/>
          </p:cNvSpPr>
          <p:nvPr>
            <p:ph type="sldNum" sz="quarter" idx="4294967295"/>
          </p:nvPr>
        </p:nvSpPr>
        <p:spPr>
          <a:xfrm>
            <a:off x="11475720" y="6492240"/>
            <a:ext cx="800000" cy="300000"/>
          </a:xfrm>
          <a:prstGeom prst="rect">
            <a:avLst/>
          </a:prstGeom>
          <a:extLst>
            <a:ext uri="{C572A759-6A51-4108-AA02-DFA0A04FC94B}">
              <ma14:wrappingTextBoxFlag xmlns:ma14="http://schemas.microsoft.com/office/mac/drawingml/2011/main" xmlns="" val="0"/>
            </a:ext>
          </a:extLst>
        </p:spPr>
        <p:txBody>
          <a:bodyPr/>
          <a:lstStyle>
            <a:lvl1pPr>
              <a:defRPr sz="730">
                <a:solidFill>
                  <a:srgbClr val="667085"/>
                </a:solidFill>
                <a:latin typeface="Arial"/>
                <a:ea typeface="Arial"/>
                <a:cs typeface="Arial"/>
              </a:defRPr>
            </a:lvl1pPr>
          </a:lstStyle>
          <a:p>
            <a:pPr algn="l"/>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74320"/>
            <a:ext cx="7132320" cy="201168"/>
          </a:xfrm>
          <a:prstGeom prst="rect">
            <a:avLst/>
          </a:prstGeom>
          <a:noFill/>
          <a:ln/>
        </p:spPr>
        <p:txBody>
          <a:bodyPr wrap="square" lIns="0" tIns="0" rIns="0" bIns="0" rtlCol="0" anchor="ctr"/>
          <a:lstStyle/>
          <a:p>
            <a:pPr marL="0" indent="0">
              <a:buNone/>
            </a:pPr>
            <a:r>
              <a:rPr lang="en-US" sz="820" b="1" dirty="0">
                <a:solidFill>
                  <a:srgbClr val="667085"/>
                </a:solidFill>
                <a:latin typeface="Arial" pitchFamily="34" charset="0"/>
                <a:ea typeface="Arial" pitchFamily="34" charset="-122"/>
                <a:cs typeface="Arial" pitchFamily="34" charset="-120"/>
              </a:rPr>
              <a:t>METHODOLOGY</a:t>
            </a:r>
            <a:endParaRPr lang="en-US" sz="820" dirty="0"/>
          </a:p>
        </p:txBody>
      </p:sp>
      <p:sp>
        <p:nvSpPr>
          <p:cNvPr id="3" name="Text 1"/>
          <p:cNvSpPr/>
          <p:nvPr/>
        </p:nvSpPr>
        <p:spPr>
          <a:xfrm>
            <a:off x="502920" y="512064"/>
            <a:ext cx="11155680" cy="566928"/>
          </a:xfrm>
          <a:prstGeom prst="rect">
            <a:avLst/>
          </a:prstGeom>
          <a:noFill/>
          <a:ln/>
        </p:spPr>
        <p:txBody>
          <a:bodyPr wrap="square" lIns="0" tIns="0" rIns="0" bIns="0" rtlCol="0" anchor="ctr">
            <a:normAutofit/>
          </a:bodyPr>
          <a:lstStyle/>
          <a:p>
            <a:pPr marL="0" indent="0">
              <a:buNone/>
            </a:pPr>
            <a:r>
              <a:rPr lang="en-US" sz="2700" b="1" dirty="0">
                <a:solidFill>
                  <a:srgbClr val="101828"/>
                </a:solidFill>
                <a:latin typeface="Arial" pitchFamily="34" charset="0"/>
                <a:ea typeface="Arial" pitchFamily="34" charset="-122"/>
                <a:cs typeface="Arial" pitchFamily="34" charset="-120"/>
              </a:rPr>
              <a:t>Phương pháp nghiên cứu</a:t>
            </a:r>
            <a:endParaRPr lang="en-US" sz="2700" dirty="0"/>
          </a:p>
        </p:txBody>
      </p:sp>
      <p:sp>
        <p:nvSpPr>
          <p:cNvPr id="4" name="Shape 2"/>
          <p:cNvSpPr/>
          <p:nvPr/>
        </p:nvSpPr>
        <p:spPr>
          <a:xfrm>
            <a:off x="502920" y="1152144"/>
            <a:ext cx="11155680" cy="0"/>
          </a:xfrm>
          <a:prstGeom prst="line">
            <a:avLst/>
          </a:prstGeom>
          <a:noFill/>
          <a:ln w="10160">
            <a:solidFill>
              <a:srgbClr val="D0D5DD"/>
            </a:solidFill>
            <a:prstDash val="solid"/>
          </a:ln>
        </p:spPr>
      </p:sp>
      <p:sp>
        <p:nvSpPr>
          <p:cNvPr id="5" name="Shape 3"/>
          <p:cNvSpPr/>
          <p:nvPr/>
        </p:nvSpPr>
        <p:spPr>
          <a:xfrm>
            <a:off x="685800" y="1417320"/>
            <a:ext cx="3246120" cy="1298448"/>
          </a:xfrm>
          <a:prstGeom prst="rect">
            <a:avLst/>
          </a:prstGeom>
          <a:solidFill>
            <a:srgbClr val="EEF6FF"/>
          </a:solidFill>
          <a:ln w="12700">
            <a:solidFill>
              <a:srgbClr val="175CD3"/>
            </a:solidFill>
            <a:prstDash val="solid"/>
          </a:ln>
        </p:spPr>
      </p:sp>
      <p:sp>
        <p:nvSpPr>
          <p:cNvPr id="6" name="Text 4"/>
          <p:cNvSpPr/>
          <p:nvPr/>
        </p:nvSpPr>
        <p:spPr>
          <a:xfrm>
            <a:off x="832104" y="1536192"/>
            <a:ext cx="2953512" cy="219456"/>
          </a:xfrm>
          <a:prstGeom prst="rect">
            <a:avLst/>
          </a:prstGeom>
          <a:noFill/>
          <a:ln/>
        </p:spPr>
        <p:txBody>
          <a:bodyPr wrap="square" lIns="381" tIns="381" rIns="381" bIns="381" rtlCol="0" anchor="t">
            <a:normAutofit/>
          </a:bodyPr>
          <a:lstStyle/>
          <a:p>
            <a:pPr marL="0" indent="0">
              <a:buNone/>
            </a:pPr>
            <a:r>
              <a:rPr lang="en-US" sz="1320" b="1" dirty="0">
                <a:solidFill>
                  <a:srgbClr val="175CD3"/>
                </a:solidFill>
                <a:latin typeface="Arial" pitchFamily="34" charset="0"/>
                <a:ea typeface="Arial" pitchFamily="34" charset="-122"/>
                <a:cs typeface="Arial" pitchFamily="34" charset="-120"/>
              </a:rPr>
              <a:t>1. Đặt bài toán</a:t>
            </a:r>
            <a:endParaRPr lang="en-US" sz="1320" dirty="0"/>
          </a:p>
        </p:txBody>
      </p:sp>
      <p:sp>
        <p:nvSpPr>
          <p:cNvPr id="7" name="Text 5"/>
          <p:cNvSpPr/>
          <p:nvPr/>
        </p:nvSpPr>
        <p:spPr>
          <a:xfrm>
            <a:off x="832104" y="1847088"/>
            <a:ext cx="2953512" cy="777240"/>
          </a:xfrm>
          <a:prstGeom prst="rect">
            <a:avLst/>
          </a:prstGeom>
          <a:noFill/>
          <a:ln/>
        </p:spPr>
        <p:txBody>
          <a:bodyPr wrap="square" lIns="381" tIns="381" rIns="381" bIns="381" rtlCol="0" anchor="t">
            <a:normAutofit/>
          </a:bodyPr>
          <a:lstStyle/>
          <a:p>
            <a:pPr marL="0" indent="0">
              <a:buNone/>
            </a:pPr>
            <a:r>
              <a:rPr lang="en-US" sz="1180" dirty="0">
                <a:solidFill>
                  <a:srgbClr val="101828"/>
                </a:solidFill>
                <a:latin typeface="Arial" pitchFamily="34" charset="0"/>
                <a:ea typeface="Arial" pitchFamily="34" charset="-122"/>
                <a:cs typeface="Arial" pitchFamily="34" charset="-120"/>
              </a:rPr>
              <a:t>Quản lý danh mục theo kiến trúc predict-then-optimize</a:t>
            </a:r>
            <a:endParaRPr lang="en-US" sz="1180" dirty="0"/>
          </a:p>
        </p:txBody>
      </p:sp>
      <p:sp>
        <p:nvSpPr>
          <p:cNvPr id="8" name="Shape 6"/>
          <p:cNvSpPr/>
          <p:nvPr/>
        </p:nvSpPr>
        <p:spPr>
          <a:xfrm>
            <a:off x="4389120" y="1417320"/>
            <a:ext cx="3246120" cy="1298448"/>
          </a:xfrm>
          <a:prstGeom prst="rect">
            <a:avLst/>
          </a:prstGeom>
          <a:solidFill>
            <a:srgbClr val="EEF6FF"/>
          </a:solidFill>
          <a:ln w="12700">
            <a:solidFill>
              <a:srgbClr val="175CD3"/>
            </a:solidFill>
            <a:prstDash val="solid"/>
          </a:ln>
        </p:spPr>
      </p:sp>
      <p:sp>
        <p:nvSpPr>
          <p:cNvPr id="9" name="Text 7"/>
          <p:cNvSpPr/>
          <p:nvPr/>
        </p:nvSpPr>
        <p:spPr>
          <a:xfrm>
            <a:off x="4535424" y="1536192"/>
            <a:ext cx="2953512" cy="219456"/>
          </a:xfrm>
          <a:prstGeom prst="rect">
            <a:avLst/>
          </a:prstGeom>
          <a:noFill/>
          <a:ln/>
        </p:spPr>
        <p:txBody>
          <a:bodyPr wrap="square" lIns="381" tIns="381" rIns="381" bIns="381" rtlCol="0" anchor="t">
            <a:normAutofit/>
          </a:bodyPr>
          <a:lstStyle/>
          <a:p>
            <a:pPr marL="0" indent="0">
              <a:buNone/>
            </a:pPr>
            <a:r>
              <a:rPr lang="en-US" sz="1320" b="1" dirty="0">
                <a:solidFill>
                  <a:srgbClr val="175CD3"/>
                </a:solidFill>
                <a:latin typeface="Arial" pitchFamily="34" charset="0"/>
                <a:ea typeface="Arial" pitchFamily="34" charset="-122"/>
                <a:cs typeface="Arial" pitchFamily="34" charset="-120"/>
              </a:rPr>
              <a:t>2. Thu thập dữ liệu</a:t>
            </a:r>
            <a:endParaRPr lang="en-US" sz="1320" dirty="0"/>
          </a:p>
        </p:txBody>
      </p:sp>
      <p:sp>
        <p:nvSpPr>
          <p:cNvPr id="10" name="Text 8"/>
          <p:cNvSpPr/>
          <p:nvPr/>
        </p:nvSpPr>
        <p:spPr>
          <a:xfrm>
            <a:off x="4535424" y="1847088"/>
            <a:ext cx="2953512" cy="777240"/>
          </a:xfrm>
          <a:prstGeom prst="rect">
            <a:avLst/>
          </a:prstGeom>
          <a:noFill/>
          <a:ln/>
        </p:spPr>
        <p:txBody>
          <a:bodyPr wrap="square" lIns="381" tIns="381" rIns="381" bIns="381" rtlCol="0" anchor="t">
            <a:normAutofit/>
          </a:bodyPr>
          <a:lstStyle/>
          <a:p>
            <a:pPr marL="0" indent="0">
              <a:buNone/>
            </a:pPr>
            <a:r>
              <a:rPr lang="en-US" sz="1180" dirty="0">
                <a:solidFill>
                  <a:srgbClr val="101828"/>
                </a:solidFill>
                <a:latin typeface="Arial" pitchFamily="34" charset="0"/>
                <a:ea typeface="Arial" pitchFamily="34" charset="-122"/>
                <a:cs typeface="Arial" pitchFamily="34" charset="-120"/>
              </a:rPr>
              <a:t>Yahoo Finance, benchmark SPY, risk-free ^IRX</a:t>
            </a:r>
            <a:endParaRPr lang="en-US" sz="1180" dirty="0"/>
          </a:p>
        </p:txBody>
      </p:sp>
      <p:sp>
        <p:nvSpPr>
          <p:cNvPr id="11" name="Shape 9"/>
          <p:cNvSpPr/>
          <p:nvPr/>
        </p:nvSpPr>
        <p:spPr>
          <a:xfrm>
            <a:off x="8092440" y="1417320"/>
            <a:ext cx="3246120" cy="1298448"/>
          </a:xfrm>
          <a:prstGeom prst="rect">
            <a:avLst/>
          </a:prstGeom>
          <a:solidFill>
            <a:srgbClr val="EEF6FF"/>
          </a:solidFill>
          <a:ln w="12700">
            <a:solidFill>
              <a:srgbClr val="175CD3"/>
            </a:solidFill>
            <a:prstDash val="solid"/>
          </a:ln>
        </p:spPr>
      </p:sp>
      <p:sp>
        <p:nvSpPr>
          <p:cNvPr id="12" name="Text 10"/>
          <p:cNvSpPr/>
          <p:nvPr/>
        </p:nvSpPr>
        <p:spPr>
          <a:xfrm>
            <a:off x="8238744" y="1536192"/>
            <a:ext cx="2953512" cy="219456"/>
          </a:xfrm>
          <a:prstGeom prst="rect">
            <a:avLst/>
          </a:prstGeom>
          <a:noFill/>
          <a:ln/>
        </p:spPr>
        <p:txBody>
          <a:bodyPr wrap="square" lIns="381" tIns="381" rIns="381" bIns="381" rtlCol="0" anchor="t">
            <a:normAutofit/>
          </a:bodyPr>
          <a:lstStyle/>
          <a:p>
            <a:pPr marL="0" indent="0">
              <a:buNone/>
            </a:pPr>
            <a:r>
              <a:rPr lang="en-US" sz="1320" b="1" dirty="0">
                <a:solidFill>
                  <a:srgbClr val="175CD3"/>
                </a:solidFill>
                <a:latin typeface="Arial" pitchFamily="34" charset="0"/>
                <a:ea typeface="Arial" pitchFamily="34" charset="-122"/>
                <a:cs typeface="Arial" pitchFamily="34" charset="-120"/>
              </a:rPr>
              <a:t>3. Tiền xử lý</a:t>
            </a:r>
            <a:endParaRPr lang="en-US" sz="1320" dirty="0"/>
          </a:p>
        </p:txBody>
      </p:sp>
      <p:sp>
        <p:nvSpPr>
          <p:cNvPr id="13" name="Text 11"/>
          <p:cNvSpPr/>
          <p:nvPr/>
        </p:nvSpPr>
        <p:spPr>
          <a:xfrm>
            <a:off x="8238744" y="1847088"/>
            <a:ext cx="2953512" cy="777240"/>
          </a:xfrm>
          <a:prstGeom prst="rect">
            <a:avLst/>
          </a:prstGeom>
          <a:noFill/>
          <a:ln/>
        </p:spPr>
        <p:txBody>
          <a:bodyPr wrap="square" lIns="381" tIns="381" rIns="381" bIns="381" rtlCol="0" anchor="t">
            <a:normAutofit/>
          </a:bodyPr>
          <a:lstStyle/>
          <a:p>
            <a:pPr marL="0" indent="0">
              <a:buNone/>
            </a:pPr>
            <a:r>
              <a:rPr lang="en-US" sz="1180" dirty="0">
                <a:solidFill>
                  <a:srgbClr val="101828"/>
                </a:solidFill>
                <a:latin typeface="Arial" pitchFamily="34" charset="0"/>
                <a:ea typeface="Arial" pitchFamily="34" charset="-122"/>
                <a:cs typeface="Arial" pitchFamily="34" charset="-120"/>
              </a:rPr>
              <a:t>Căn chỉnh ngày, tính returns, tạo feature trailing</a:t>
            </a:r>
            <a:endParaRPr lang="en-US" sz="1180" dirty="0"/>
          </a:p>
        </p:txBody>
      </p:sp>
      <p:sp>
        <p:nvSpPr>
          <p:cNvPr id="14" name="Shape 12"/>
          <p:cNvSpPr/>
          <p:nvPr/>
        </p:nvSpPr>
        <p:spPr>
          <a:xfrm>
            <a:off x="685800" y="3291840"/>
            <a:ext cx="3246120" cy="1298448"/>
          </a:xfrm>
          <a:prstGeom prst="rect">
            <a:avLst/>
          </a:prstGeom>
          <a:solidFill>
            <a:srgbClr val="F0FDF4"/>
          </a:solidFill>
          <a:ln w="12700">
            <a:solidFill>
              <a:srgbClr val="157347"/>
            </a:solidFill>
            <a:prstDash val="solid"/>
          </a:ln>
        </p:spPr>
      </p:sp>
      <p:sp>
        <p:nvSpPr>
          <p:cNvPr id="15" name="Text 13"/>
          <p:cNvSpPr/>
          <p:nvPr/>
        </p:nvSpPr>
        <p:spPr>
          <a:xfrm>
            <a:off x="832104" y="3410712"/>
            <a:ext cx="2953512" cy="219456"/>
          </a:xfrm>
          <a:prstGeom prst="rect">
            <a:avLst/>
          </a:prstGeom>
          <a:noFill/>
          <a:ln/>
        </p:spPr>
        <p:txBody>
          <a:bodyPr wrap="square" lIns="381" tIns="381" rIns="381" bIns="381" rtlCol="0" anchor="t">
            <a:normAutofit/>
          </a:bodyPr>
          <a:lstStyle/>
          <a:p>
            <a:pPr marL="0" indent="0">
              <a:buNone/>
            </a:pPr>
            <a:r>
              <a:rPr lang="en-US" sz="1320" b="1" dirty="0">
                <a:solidFill>
                  <a:srgbClr val="157347"/>
                </a:solidFill>
                <a:latin typeface="Arial" pitchFamily="34" charset="0"/>
                <a:ea typeface="Arial" pitchFamily="34" charset="-122"/>
                <a:cs typeface="Arial" pitchFamily="34" charset="-120"/>
              </a:rPr>
              <a:t>4. Thiết kế thí nghiệm</a:t>
            </a:r>
            <a:endParaRPr lang="en-US" sz="1320" dirty="0"/>
          </a:p>
        </p:txBody>
      </p:sp>
      <p:sp>
        <p:nvSpPr>
          <p:cNvPr id="16" name="Text 14"/>
          <p:cNvSpPr/>
          <p:nvPr/>
        </p:nvSpPr>
        <p:spPr>
          <a:xfrm>
            <a:off x="832104" y="3721608"/>
            <a:ext cx="2953512" cy="777240"/>
          </a:xfrm>
          <a:prstGeom prst="rect">
            <a:avLst/>
          </a:prstGeom>
          <a:noFill/>
          <a:ln/>
        </p:spPr>
        <p:txBody>
          <a:bodyPr wrap="square" lIns="381" tIns="381" rIns="381" bIns="381" rtlCol="0" anchor="t">
            <a:normAutofit/>
          </a:bodyPr>
          <a:lstStyle/>
          <a:p>
            <a:pPr marL="0" indent="0">
              <a:buNone/>
            </a:pPr>
            <a:r>
              <a:rPr lang="en-US" sz="1180" dirty="0">
                <a:solidFill>
                  <a:srgbClr val="101828"/>
                </a:solidFill>
                <a:latin typeface="Arial" pitchFamily="34" charset="0"/>
                <a:ea typeface="Arial" pitchFamily="34" charset="-122"/>
                <a:cs typeface="Arial" pitchFamily="34" charset="-120"/>
              </a:rPr>
              <a:t>Train/valid/test theo thời gian, embargo 81 phiên</a:t>
            </a:r>
            <a:endParaRPr lang="en-US" sz="1180" dirty="0"/>
          </a:p>
        </p:txBody>
      </p:sp>
      <p:sp>
        <p:nvSpPr>
          <p:cNvPr id="17" name="Shape 15"/>
          <p:cNvSpPr/>
          <p:nvPr/>
        </p:nvSpPr>
        <p:spPr>
          <a:xfrm>
            <a:off x="4389120" y="3291840"/>
            <a:ext cx="3246120" cy="1298448"/>
          </a:xfrm>
          <a:prstGeom prst="rect">
            <a:avLst/>
          </a:prstGeom>
          <a:solidFill>
            <a:srgbClr val="F0FDF4"/>
          </a:solidFill>
          <a:ln w="12700">
            <a:solidFill>
              <a:srgbClr val="157347"/>
            </a:solidFill>
            <a:prstDash val="solid"/>
          </a:ln>
        </p:spPr>
      </p:sp>
      <p:sp>
        <p:nvSpPr>
          <p:cNvPr id="18" name="Text 16"/>
          <p:cNvSpPr/>
          <p:nvPr/>
        </p:nvSpPr>
        <p:spPr>
          <a:xfrm>
            <a:off x="4535424" y="3410712"/>
            <a:ext cx="2953512" cy="219456"/>
          </a:xfrm>
          <a:prstGeom prst="rect">
            <a:avLst/>
          </a:prstGeom>
          <a:noFill/>
          <a:ln/>
        </p:spPr>
        <p:txBody>
          <a:bodyPr wrap="square" lIns="381" tIns="381" rIns="381" bIns="381" rtlCol="0" anchor="t">
            <a:normAutofit/>
          </a:bodyPr>
          <a:lstStyle/>
          <a:p>
            <a:pPr marL="0" indent="0">
              <a:buNone/>
            </a:pPr>
            <a:r>
              <a:rPr lang="en-US" sz="1320" b="1" dirty="0">
                <a:solidFill>
                  <a:srgbClr val="157347"/>
                </a:solidFill>
                <a:latin typeface="Arial" pitchFamily="34" charset="0"/>
                <a:ea typeface="Arial" pitchFamily="34" charset="-122"/>
                <a:cs typeface="Arial" pitchFamily="34" charset="-120"/>
              </a:rPr>
              <a:t>5. Huấn luyện</a:t>
            </a:r>
            <a:endParaRPr lang="en-US" sz="1320" dirty="0"/>
          </a:p>
        </p:txBody>
      </p:sp>
      <p:sp>
        <p:nvSpPr>
          <p:cNvPr id="19" name="Text 17"/>
          <p:cNvSpPr/>
          <p:nvPr/>
        </p:nvSpPr>
        <p:spPr>
          <a:xfrm>
            <a:off x="4535424" y="3721608"/>
            <a:ext cx="2953512" cy="777240"/>
          </a:xfrm>
          <a:prstGeom prst="rect">
            <a:avLst/>
          </a:prstGeom>
          <a:noFill/>
          <a:ln/>
        </p:spPr>
        <p:txBody>
          <a:bodyPr wrap="square" lIns="381" tIns="381" rIns="381" bIns="381" rtlCol="0" anchor="t">
            <a:normAutofit/>
          </a:bodyPr>
          <a:lstStyle/>
          <a:p>
            <a:pPr marL="0" indent="0">
              <a:buNone/>
            </a:pPr>
            <a:r>
              <a:rPr lang="en-US" sz="1180" dirty="0">
                <a:solidFill>
                  <a:srgbClr val="101828"/>
                </a:solidFill>
                <a:latin typeface="Arial" pitchFamily="34" charset="0"/>
                <a:ea typeface="Arial" pitchFamily="34" charset="-122"/>
                <a:cs typeface="Arial" pitchFamily="34" charset="-120"/>
              </a:rPr>
              <a:t>Baseline + PA-Transformer + ablation</a:t>
            </a:r>
            <a:endParaRPr lang="en-US" sz="1180" dirty="0"/>
          </a:p>
        </p:txBody>
      </p:sp>
      <p:sp>
        <p:nvSpPr>
          <p:cNvPr id="20" name="Shape 18"/>
          <p:cNvSpPr/>
          <p:nvPr/>
        </p:nvSpPr>
        <p:spPr>
          <a:xfrm>
            <a:off x="8092440" y="3291840"/>
            <a:ext cx="3246120" cy="1298448"/>
          </a:xfrm>
          <a:prstGeom prst="rect">
            <a:avLst/>
          </a:prstGeom>
          <a:solidFill>
            <a:srgbClr val="F0FDF4"/>
          </a:solidFill>
          <a:ln w="12700">
            <a:solidFill>
              <a:srgbClr val="157347"/>
            </a:solidFill>
            <a:prstDash val="solid"/>
          </a:ln>
        </p:spPr>
      </p:sp>
      <p:sp>
        <p:nvSpPr>
          <p:cNvPr id="21" name="Text 19"/>
          <p:cNvSpPr/>
          <p:nvPr/>
        </p:nvSpPr>
        <p:spPr>
          <a:xfrm>
            <a:off x="8238744" y="3410712"/>
            <a:ext cx="2953512" cy="219456"/>
          </a:xfrm>
          <a:prstGeom prst="rect">
            <a:avLst/>
          </a:prstGeom>
          <a:noFill/>
          <a:ln/>
        </p:spPr>
        <p:txBody>
          <a:bodyPr wrap="square" lIns="381" tIns="381" rIns="381" bIns="381" rtlCol="0" anchor="t">
            <a:normAutofit/>
          </a:bodyPr>
          <a:lstStyle/>
          <a:p>
            <a:pPr marL="0" indent="0">
              <a:buNone/>
            </a:pPr>
            <a:r>
              <a:rPr lang="en-US" sz="1320" b="1" dirty="0">
                <a:solidFill>
                  <a:srgbClr val="157347"/>
                </a:solidFill>
                <a:latin typeface="Arial" pitchFamily="34" charset="0"/>
                <a:ea typeface="Arial" pitchFamily="34" charset="-122"/>
                <a:cs typeface="Arial" pitchFamily="34" charset="-120"/>
              </a:rPr>
              <a:t>6. Đánh giá</a:t>
            </a:r>
            <a:endParaRPr lang="en-US" sz="1320" dirty="0"/>
          </a:p>
        </p:txBody>
      </p:sp>
      <p:sp>
        <p:nvSpPr>
          <p:cNvPr id="22" name="Text 20"/>
          <p:cNvSpPr/>
          <p:nvPr/>
        </p:nvSpPr>
        <p:spPr>
          <a:xfrm>
            <a:off x="8238744" y="3721608"/>
            <a:ext cx="2953512" cy="777240"/>
          </a:xfrm>
          <a:prstGeom prst="rect">
            <a:avLst/>
          </a:prstGeom>
          <a:noFill/>
          <a:ln/>
        </p:spPr>
        <p:txBody>
          <a:bodyPr wrap="square" lIns="381" tIns="381" rIns="381" bIns="381" rtlCol="0" anchor="t">
            <a:normAutofit/>
          </a:bodyPr>
          <a:lstStyle/>
          <a:p>
            <a:pPr marL="0" indent="0">
              <a:buNone/>
            </a:pPr>
            <a:r>
              <a:rPr lang="en-US" sz="1180" dirty="0">
                <a:solidFill>
                  <a:srgbClr val="101828"/>
                </a:solidFill>
                <a:latin typeface="Arial" pitchFamily="34" charset="0"/>
                <a:ea typeface="Arial" pitchFamily="34" charset="-122"/>
                <a:cs typeface="Arial" pitchFamily="34" charset="-120"/>
              </a:rPr>
              <a:t>Walk-forward backtest, Sharpe, MDD, Sortino, Calmar</a:t>
            </a:r>
            <a:endParaRPr lang="en-US" sz="1180" dirty="0"/>
          </a:p>
        </p:txBody>
      </p:sp>
      <p:sp>
        <p:nvSpPr>
          <p:cNvPr id="23" name="Text 21"/>
          <p:cNvSpPr/>
          <p:nvPr/>
        </p:nvSpPr>
        <p:spPr>
          <a:xfrm>
            <a:off x="868680" y="5532120"/>
            <a:ext cx="10332720" cy="292608"/>
          </a:xfrm>
          <a:prstGeom prst="rect">
            <a:avLst/>
          </a:prstGeom>
          <a:noFill/>
          <a:ln/>
        </p:spPr>
        <p:txBody>
          <a:bodyPr wrap="square" lIns="381" tIns="381" rIns="381" bIns="381" rtlCol="0" anchor="t">
            <a:normAutofit/>
          </a:bodyPr>
          <a:lstStyle/>
          <a:p>
            <a:pPr marL="0" indent="0" algn="ctr">
              <a:buNone/>
            </a:pPr>
            <a:r>
              <a:rPr lang="en-US" sz="1650" b="1" dirty="0">
                <a:solidFill>
                  <a:srgbClr val="E46A11"/>
                </a:solidFill>
                <a:latin typeface="Arial" pitchFamily="34" charset="0"/>
                <a:ea typeface="Arial" pitchFamily="34" charset="-122"/>
                <a:cs typeface="Arial" pitchFamily="34" charset="-120"/>
              </a:rPr>
              <a:t>Phương pháp cốt lõi: đánh giá ngoài mẫu nghiêm ngặt thay vì tối ưu số liệu trên tập test.</a:t>
            </a:r>
            <a:endParaRPr lang="en-US" sz="1650" dirty="0"/>
          </a:p>
        </p:txBody>
      </p:sp>
      <p:sp>
        <p:nvSpPr>
          <p:cNvPr id="25" name="Slide Number Placeholder 0"/>
          <p:cNvSpPr>
            <a:spLocks noGrp="1"/>
          </p:cNvSpPr>
          <p:nvPr>
            <p:ph type="sldNum" sz="quarter" idx="4294967295"/>
          </p:nvPr>
        </p:nvSpPr>
        <p:spPr>
          <a:xfrm>
            <a:off x="11475720" y="6492240"/>
            <a:ext cx="800000" cy="300000"/>
          </a:xfrm>
          <a:prstGeom prst="rect">
            <a:avLst/>
          </a:prstGeom>
          <a:extLst>
            <a:ext uri="{C572A759-6A51-4108-AA02-DFA0A04FC94B}">
              <ma14:wrappingTextBoxFlag xmlns:ma14="http://schemas.microsoft.com/office/mac/drawingml/2011/main" xmlns="" val="0"/>
            </a:ext>
          </a:extLst>
        </p:spPr>
        <p:txBody>
          <a:bodyPr/>
          <a:lstStyle>
            <a:lvl1pPr>
              <a:defRPr sz="730">
                <a:solidFill>
                  <a:srgbClr val="667085"/>
                </a:solidFill>
                <a:latin typeface="Arial"/>
                <a:ea typeface="Arial"/>
                <a:cs typeface="Arial"/>
              </a:defRPr>
            </a:lvl1pPr>
          </a:lstStyle>
          <a:p>
            <a:pPr algn="l"/>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74320"/>
            <a:ext cx="7132320" cy="201168"/>
          </a:xfrm>
          <a:prstGeom prst="rect">
            <a:avLst/>
          </a:prstGeom>
          <a:noFill/>
          <a:ln/>
        </p:spPr>
        <p:txBody>
          <a:bodyPr wrap="square" lIns="0" tIns="0" rIns="0" bIns="0" rtlCol="0" anchor="ctr"/>
          <a:lstStyle/>
          <a:p>
            <a:pPr marL="0" indent="0">
              <a:buNone/>
            </a:pPr>
            <a:r>
              <a:rPr lang="en-US" sz="820" b="1" dirty="0">
                <a:solidFill>
                  <a:srgbClr val="667085"/>
                </a:solidFill>
                <a:latin typeface="Arial" pitchFamily="34" charset="0"/>
                <a:ea typeface="Arial" pitchFamily="34" charset="-122"/>
                <a:cs typeface="Arial" pitchFamily="34" charset="-120"/>
              </a:rPr>
              <a:t>DATA COLLECTION</a:t>
            </a:r>
            <a:endParaRPr lang="en-US" sz="820" dirty="0"/>
          </a:p>
        </p:txBody>
      </p:sp>
      <p:sp>
        <p:nvSpPr>
          <p:cNvPr id="3" name="Text 1"/>
          <p:cNvSpPr/>
          <p:nvPr/>
        </p:nvSpPr>
        <p:spPr>
          <a:xfrm>
            <a:off x="502920" y="512064"/>
            <a:ext cx="11155680" cy="566928"/>
          </a:xfrm>
          <a:prstGeom prst="rect">
            <a:avLst/>
          </a:prstGeom>
          <a:noFill/>
          <a:ln/>
        </p:spPr>
        <p:txBody>
          <a:bodyPr wrap="square" lIns="0" tIns="0" rIns="0" bIns="0" rtlCol="0" anchor="ctr">
            <a:normAutofit/>
          </a:bodyPr>
          <a:lstStyle/>
          <a:p>
            <a:pPr marL="0" indent="0">
              <a:buNone/>
            </a:pPr>
            <a:r>
              <a:rPr lang="en-US" sz="2700" b="1" dirty="0">
                <a:solidFill>
                  <a:srgbClr val="101828"/>
                </a:solidFill>
                <a:latin typeface="Arial" pitchFamily="34" charset="0"/>
                <a:ea typeface="Arial" pitchFamily="34" charset="-122"/>
                <a:cs typeface="Arial" pitchFamily="34" charset="-120"/>
              </a:rPr>
              <a:t>Cách thu thập dữ liệu</a:t>
            </a:r>
            <a:endParaRPr lang="en-US" sz="2700" dirty="0"/>
          </a:p>
        </p:txBody>
      </p:sp>
      <p:sp>
        <p:nvSpPr>
          <p:cNvPr id="4" name="Shape 2"/>
          <p:cNvSpPr/>
          <p:nvPr/>
        </p:nvSpPr>
        <p:spPr>
          <a:xfrm>
            <a:off x="502920" y="1152144"/>
            <a:ext cx="11155680" cy="0"/>
          </a:xfrm>
          <a:prstGeom prst="line">
            <a:avLst/>
          </a:prstGeom>
          <a:noFill/>
          <a:ln w="10160">
            <a:solidFill>
              <a:srgbClr val="D0D5DD"/>
            </a:solidFill>
            <a:prstDash val="solid"/>
          </a:ln>
        </p:spPr>
      </p:sp>
      <p:sp>
        <p:nvSpPr>
          <p:cNvPr id="5" name="Shape 3"/>
          <p:cNvSpPr/>
          <p:nvPr/>
        </p:nvSpPr>
        <p:spPr>
          <a:xfrm>
            <a:off x="731520" y="1417320"/>
            <a:ext cx="1965960" cy="932688"/>
          </a:xfrm>
          <a:prstGeom prst="rect">
            <a:avLst/>
          </a:prstGeom>
          <a:solidFill>
            <a:srgbClr val="F8FAFC"/>
          </a:solidFill>
          <a:ln w="10160">
            <a:solidFill>
              <a:srgbClr val="D0D5DD"/>
            </a:solidFill>
            <a:prstDash val="solid"/>
          </a:ln>
        </p:spPr>
      </p:sp>
      <p:sp>
        <p:nvSpPr>
          <p:cNvPr id="6" name="Text 4"/>
          <p:cNvSpPr/>
          <p:nvPr/>
        </p:nvSpPr>
        <p:spPr>
          <a:xfrm>
            <a:off x="850392" y="1536192"/>
            <a:ext cx="1728216" cy="310896"/>
          </a:xfrm>
          <a:prstGeom prst="rect">
            <a:avLst/>
          </a:prstGeom>
          <a:noFill/>
          <a:ln/>
        </p:spPr>
        <p:txBody>
          <a:bodyPr wrap="square" lIns="381" tIns="381" rIns="381" bIns="381" rtlCol="0" anchor="t">
            <a:normAutofit lnSpcReduction="10000"/>
          </a:bodyPr>
          <a:lstStyle/>
          <a:p>
            <a:pPr marL="0" indent="0" algn="ctr">
              <a:buNone/>
            </a:pPr>
            <a:r>
              <a:rPr lang="en-US" sz="2200" b="1" dirty="0">
                <a:solidFill>
                  <a:srgbClr val="175CD3"/>
                </a:solidFill>
                <a:latin typeface="Arial" pitchFamily="34" charset="0"/>
                <a:ea typeface="Arial" pitchFamily="34" charset="-122"/>
                <a:cs typeface="Arial" pitchFamily="34" charset="-120"/>
              </a:rPr>
              <a:t>Yahoo</a:t>
            </a:r>
            <a:endParaRPr lang="en-US" sz="2200" dirty="0"/>
          </a:p>
        </p:txBody>
      </p:sp>
      <p:sp>
        <p:nvSpPr>
          <p:cNvPr id="7" name="Text 5"/>
          <p:cNvSpPr/>
          <p:nvPr/>
        </p:nvSpPr>
        <p:spPr>
          <a:xfrm>
            <a:off x="850392" y="1929384"/>
            <a:ext cx="1728216" cy="164592"/>
          </a:xfrm>
          <a:prstGeom prst="rect">
            <a:avLst/>
          </a:prstGeom>
          <a:noFill/>
          <a:ln/>
        </p:spPr>
        <p:txBody>
          <a:bodyPr wrap="square" lIns="381" tIns="381" rIns="381" bIns="381" rtlCol="0" anchor="t">
            <a:normAutofit/>
          </a:bodyPr>
          <a:lstStyle/>
          <a:p>
            <a:pPr marL="0" indent="0" algn="ctr">
              <a:buNone/>
            </a:pPr>
            <a:r>
              <a:rPr lang="en-US" sz="980" b="1" dirty="0">
                <a:solidFill>
                  <a:srgbClr val="101828"/>
                </a:solidFill>
                <a:latin typeface="Arial" pitchFamily="34" charset="0"/>
                <a:ea typeface="Arial" pitchFamily="34" charset="-122"/>
                <a:cs typeface="Arial" pitchFamily="34" charset="-120"/>
              </a:rPr>
              <a:t>Nguồn</a:t>
            </a:r>
            <a:endParaRPr lang="en-US" sz="980" dirty="0"/>
          </a:p>
        </p:txBody>
      </p:sp>
      <p:sp>
        <p:nvSpPr>
          <p:cNvPr id="8" name="Text 6"/>
          <p:cNvSpPr/>
          <p:nvPr/>
        </p:nvSpPr>
        <p:spPr>
          <a:xfrm>
            <a:off x="850392" y="2121408"/>
            <a:ext cx="1728216" cy="128016"/>
          </a:xfrm>
          <a:prstGeom prst="rect">
            <a:avLst/>
          </a:prstGeom>
          <a:noFill/>
          <a:ln/>
        </p:spPr>
        <p:txBody>
          <a:bodyPr wrap="square" lIns="381" tIns="381" rIns="381" bIns="381" rtlCol="0" anchor="t">
            <a:normAutofit/>
          </a:bodyPr>
          <a:lstStyle/>
          <a:p>
            <a:pPr marL="0" indent="0" algn="ctr">
              <a:buNone/>
            </a:pPr>
            <a:r>
              <a:rPr lang="en-US" sz="760" dirty="0">
                <a:solidFill>
                  <a:srgbClr val="667085"/>
                </a:solidFill>
                <a:latin typeface="Arial" pitchFamily="34" charset="0"/>
                <a:ea typeface="Arial" pitchFamily="34" charset="-122"/>
                <a:cs typeface="Arial" pitchFamily="34" charset="-120"/>
              </a:rPr>
              <a:t>yfinance</a:t>
            </a:r>
            <a:endParaRPr lang="en-US" sz="760" dirty="0"/>
          </a:p>
        </p:txBody>
      </p:sp>
      <p:sp>
        <p:nvSpPr>
          <p:cNvPr id="9" name="Shape 7"/>
          <p:cNvSpPr/>
          <p:nvPr/>
        </p:nvSpPr>
        <p:spPr>
          <a:xfrm>
            <a:off x="2907792" y="1417320"/>
            <a:ext cx="1965960" cy="932688"/>
          </a:xfrm>
          <a:prstGeom prst="rect">
            <a:avLst/>
          </a:prstGeom>
          <a:solidFill>
            <a:srgbClr val="F8FAFC"/>
          </a:solidFill>
          <a:ln w="10160">
            <a:solidFill>
              <a:srgbClr val="D0D5DD"/>
            </a:solidFill>
            <a:prstDash val="solid"/>
          </a:ln>
        </p:spPr>
      </p:sp>
      <p:sp>
        <p:nvSpPr>
          <p:cNvPr id="10" name="Text 8"/>
          <p:cNvSpPr/>
          <p:nvPr/>
        </p:nvSpPr>
        <p:spPr>
          <a:xfrm>
            <a:off x="3026664" y="1536192"/>
            <a:ext cx="1728216" cy="310896"/>
          </a:xfrm>
          <a:prstGeom prst="rect">
            <a:avLst/>
          </a:prstGeom>
          <a:noFill/>
          <a:ln/>
        </p:spPr>
        <p:txBody>
          <a:bodyPr wrap="square" lIns="381" tIns="381" rIns="381" bIns="381" rtlCol="0" anchor="t">
            <a:normAutofit lnSpcReduction="10000"/>
          </a:bodyPr>
          <a:lstStyle/>
          <a:p>
            <a:pPr marL="0" indent="0" algn="ctr">
              <a:buNone/>
            </a:pPr>
            <a:r>
              <a:rPr lang="en-US" sz="2200" b="1" dirty="0">
                <a:solidFill>
                  <a:srgbClr val="157347"/>
                </a:solidFill>
                <a:latin typeface="Arial" pitchFamily="34" charset="0"/>
                <a:ea typeface="Arial" pitchFamily="34" charset="-122"/>
                <a:cs typeface="Arial" pitchFamily="34" charset="-120"/>
              </a:rPr>
              <a:t>14</a:t>
            </a:r>
            <a:endParaRPr lang="en-US" sz="2200" dirty="0"/>
          </a:p>
        </p:txBody>
      </p:sp>
      <p:sp>
        <p:nvSpPr>
          <p:cNvPr id="11" name="Text 9"/>
          <p:cNvSpPr/>
          <p:nvPr/>
        </p:nvSpPr>
        <p:spPr>
          <a:xfrm>
            <a:off x="3026664" y="1929384"/>
            <a:ext cx="1728216" cy="164592"/>
          </a:xfrm>
          <a:prstGeom prst="rect">
            <a:avLst/>
          </a:prstGeom>
          <a:noFill/>
          <a:ln/>
        </p:spPr>
        <p:txBody>
          <a:bodyPr wrap="square" lIns="381" tIns="381" rIns="381" bIns="381" rtlCol="0" anchor="t">
            <a:normAutofit/>
          </a:bodyPr>
          <a:lstStyle/>
          <a:p>
            <a:pPr marL="0" indent="0" algn="ctr">
              <a:buNone/>
            </a:pPr>
            <a:r>
              <a:rPr lang="en-US" sz="980" b="1" dirty="0">
                <a:solidFill>
                  <a:srgbClr val="101828"/>
                </a:solidFill>
                <a:latin typeface="Arial" pitchFamily="34" charset="0"/>
                <a:ea typeface="Arial" pitchFamily="34" charset="-122"/>
                <a:cs typeface="Arial" pitchFamily="34" charset="-120"/>
              </a:rPr>
              <a:t>Universe</a:t>
            </a:r>
            <a:endParaRPr lang="en-US" sz="980" dirty="0"/>
          </a:p>
        </p:txBody>
      </p:sp>
      <p:sp>
        <p:nvSpPr>
          <p:cNvPr id="12" name="Text 10"/>
          <p:cNvSpPr/>
          <p:nvPr/>
        </p:nvSpPr>
        <p:spPr>
          <a:xfrm>
            <a:off x="3026664" y="2121408"/>
            <a:ext cx="1728216" cy="128016"/>
          </a:xfrm>
          <a:prstGeom prst="rect">
            <a:avLst/>
          </a:prstGeom>
          <a:noFill/>
          <a:ln/>
        </p:spPr>
        <p:txBody>
          <a:bodyPr wrap="square" lIns="381" tIns="381" rIns="381" bIns="381" rtlCol="0" anchor="t">
            <a:normAutofit/>
          </a:bodyPr>
          <a:lstStyle/>
          <a:p>
            <a:pPr marL="0" indent="0" algn="ctr">
              <a:buNone/>
            </a:pPr>
            <a:r>
              <a:rPr lang="en-US" sz="760" dirty="0">
                <a:solidFill>
                  <a:srgbClr val="667085"/>
                </a:solidFill>
                <a:latin typeface="Arial" pitchFamily="34" charset="0"/>
                <a:ea typeface="Arial" pitchFamily="34" charset="-122"/>
                <a:cs typeface="Arial" pitchFamily="34" charset="-120"/>
              </a:rPr>
              <a:t>tài sản</a:t>
            </a:r>
            <a:endParaRPr lang="en-US" sz="760" dirty="0"/>
          </a:p>
        </p:txBody>
      </p:sp>
      <p:sp>
        <p:nvSpPr>
          <p:cNvPr id="13" name="Shape 11"/>
          <p:cNvSpPr/>
          <p:nvPr/>
        </p:nvSpPr>
        <p:spPr>
          <a:xfrm>
            <a:off x="5084064" y="1417320"/>
            <a:ext cx="1965960" cy="932688"/>
          </a:xfrm>
          <a:prstGeom prst="rect">
            <a:avLst/>
          </a:prstGeom>
          <a:solidFill>
            <a:srgbClr val="F8FAFC"/>
          </a:solidFill>
          <a:ln w="10160">
            <a:solidFill>
              <a:srgbClr val="D0D5DD"/>
            </a:solidFill>
            <a:prstDash val="solid"/>
          </a:ln>
        </p:spPr>
      </p:sp>
      <p:sp>
        <p:nvSpPr>
          <p:cNvPr id="14" name="Text 12"/>
          <p:cNvSpPr/>
          <p:nvPr/>
        </p:nvSpPr>
        <p:spPr>
          <a:xfrm>
            <a:off x="5202936" y="1536192"/>
            <a:ext cx="1728216" cy="310896"/>
          </a:xfrm>
          <a:prstGeom prst="rect">
            <a:avLst/>
          </a:prstGeom>
          <a:noFill/>
          <a:ln/>
        </p:spPr>
        <p:txBody>
          <a:bodyPr wrap="square" lIns="381" tIns="381" rIns="381" bIns="381" rtlCol="0" anchor="t">
            <a:normAutofit lnSpcReduction="10000"/>
          </a:bodyPr>
          <a:lstStyle/>
          <a:p>
            <a:pPr marL="0" indent="0" algn="ctr">
              <a:buNone/>
            </a:pPr>
            <a:r>
              <a:rPr lang="en-US" sz="2200" b="1" dirty="0">
                <a:solidFill>
                  <a:srgbClr val="6941C6"/>
                </a:solidFill>
                <a:latin typeface="Arial" pitchFamily="34" charset="0"/>
                <a:ea typeface="Arial" pitchFamily="34" charset="-122"/>
                <a:cs typeface="Arial" pitchFamily="34" charset="-120"/>
              </a:rPr>
              <a:t>SPY</a:t>
            </a:r>
            <a:endParaRPr lang="en-US" sz="2200" dirty="0"/>
          </a:p>
        </p:txBody>
      </p:sp>
      <p:sp>
        <p:nvSpPr>
          <p:cNvPr id="15" name="Text 13"/>
          <p:cNvSpPr/>
          <p:nvPr/>
        </p:nvSpPr>
        <p:spPr>
          <a:xfrm>
            <a:off x="5202936" y="1929384"/>
            <a:ext cx="1728216" cy="164592"/>
          </a:xfrm>
          <a:prstGeom prst="rect">
            <a:avLst/>
          </a:prstGeom>
          <a:noFill/>
          <a:ln/>
        </p:spPr>
        <p:txBody>
          <a:bodyPr wrap="square" lIns="381" tIns="381" rIns="381" bIns="381" rtlCol="0" anchor="t">
            <a:normAutofit/>
          </a:bodyPr>
          <a:lstStyle/>
          <a:p>
            <a:pPr marL="0" indent="0" algn="ctr">
              <a:buNone/>
            </a:pPr>
            <a:r>
              <a:rPr lang="en-US" sz="980" b="1" dirty="0">
                <a:solidFill>
                  <a:srgbClr val="101828"/>
                </a:solidFill>
                <a:latin typeface="Arial" pitchFamily="34" charset="0"/>
                <a:ea typeface="Arial" pitchFamily="34" charset="-122"/>
                <a:cs typeface="Arial" pitchFamily="34" charset="-120"/>
              </a:rPr>
              <a:t>Benchmark</a:t>
            </a:r>
            <a:endParaRPr lang="en-US" sz="980" dirty="0"/>
          </a:p>
        </p:txBody>
      </p:sp>
      <p:sp>
        <p:nvSpPr>
          <p:cNvPr id="16" name="Shape 14"/>
          <p:cNvSpPr/>
          <p:nvPr/>
        </p:nvSpPr>
        <p:spPr>
          <a:xfrm>
            <a:off x="7260336" y="1417320"/>
            <a:ext cx="1965960" cy="932688"/>
          </a:xfrm>
          <a:prstGeom prst="rect">
            <a:avLst/>
          </a:prstGeom>
          <a:solidFill>
            <a:srgbClr val="F8FAFC"/>
          </a:solidFill>
          <a:ln w="10160">
            <a:solidFill>
              <a:srgbClr val="D0D5DD"/>
            </a:solidFill>
            <a:prstDash val="solid"/>
          </a:ln>
        </p:spPr>
      </p:sp>
      <p:sp>
        <p:nvSpPr>
          <p:cNvPr id="17" name="Text 15"/>
          <p:cNvSpPr/>
          <p:nvPr/>
        </p:nvSpPr>
        <p:spPr>
          <a:xfrm>
            <a:off x="7379208" y="1536192"/>
            <a:ext cx="1728216" cy="310896"/>
          </a:xfrm>
          <a:prstGeom prst="rect">
            <a:avLst/>
          </a:prstGeom>
          <a:noFill/>
          <a:ln/>
        </p:spPr>
        <p:txBody>
          <a:bodyPr wrap="square" lIns="381" tIns="381" rIns="381" bIns="381" rtlCol="0" anchor="t">
            <a:normAutofit lnSpcReduction="10000"/>
          </a:bodyPr>
          <a:lstStyle/>
          <a:p>
            <a:pPr marL="0" indent="0" algn="ctr">
              <a:buNone/>
            </a:pPr>
            <a:r>
              <a:rPr lang="en-US" sz="2200" b="1" dirty="0">
                <a:solidFill>
                  <a:srgbClr val="E46A11"/>
                </a:solidFill>
                <a:latin typeface="Arial" pitchFamily="34" charset="0"/>
                <a:ea typeface="Arial" pitchFamily="34" charset="-122"/>
                <a:cs typeface="Arial" pitchFamily="34" charset="-120"/>
              </a:rPr>
              <a:t>^IRX</a:t>
            </a:r>
            <a:endParaRPr lang="en-US" sz="2200" dirty="0"/>
          </a:p>
        </p:txBody>
      </p:sp>
      <p:sp>
        <p:nvSpPr>
          <p:cNvPr id="18" name="Text 16"/>
          <p:cNvSpPr/>
          <p:nvPr/>
        </p:nvSpPr>
        <p:spPr>
          <a:xfrm>
            <a:off x="7379208" y="1929384"/>
            <a:ext cx="1728216" cy="164592"/>
          </a:xfrm>
          <a:prstGeom prst="rect">
            <a:avLst/>
          </a:prstGeom>
          <a:noFill/>
          <a:ln/>
        </p:spPr>
        <p:txBody>
          <a:bodyPr wrap="square" lIns="381" tIns="381" rIns="381" bIns="381" rtlCol="0" anchor="t">
            <a:normAutofit/>
          </a:bodyPr>
          <a:lstStyle/>
          <a:p>
            <a:pPr marL="0" indent="0" algn="ctr">
              <a:buNone/>
            </a:pPr>
            <a:r>
              <a:rPr lang="en-US" sz="980" b="1" dirty="0">
                <a:solidFill>
                  <a:srgbClr val="101828"/>
                </a:solidFill>
                <a:latin typeface="Arial" pitchFamily="34" charset="0"/>
                <a:ea typeface="Arial" pitchFamily="34" charset="-122"/>
                <a:cs typeface="Arial" pitchFamily="34" charset="-120"/>
              </a:rPr>
              <a:t>Risk-free</a:t>
            </a:r>
            <a:endParaRPr lang="en-US" sz="980" dirty="0"/>
          </a:p>
        </p:txBody>
      </p:sp>
      <p:sp>
        <p:nvSpPr>
          <p:cNvPr id="19" name="Shape 17"/>
          <p:cNvSpPr/>
          <p:nvPr/>
        </p:nvSpPr>
        <p:spPr>
          <a:xfrm>
            <a:off x="9436608" y="1417320"/>
            <a:ext cx="1965960" cy="932688"/>
          </a:xfrm>
          <a:prstGeom prst="rect">
            <a:avLst/>
          </a:prstGeom>
          <a:solidFill>
            <a:srgbClr val="F8FAFC"/>
          </a:solidFill>
          <a:ln w="10160">
            <a:solidFill>
              <a:srgbClr val="D0D5DD"/>
            </a:solidFill>
            <a:prstDash val="solid"/>
          </a:ln>
        </p:spPr>
      </p:sp>
      <p:sp>
        <p:nvSpPr>
          <p:cNvPr id="20" name="Text 18"/>
          <p:cNvSpPr/>
          <p:nvPr/>
        </p:nvSpPr>
        <p:spPr>
          <a:xfrm>
            <a:off x="9555480" y="1536192"/>
            <a:ext cx="1728216" cy="310896"/>
          </a:xfrm>
          <a:prstGeom prst="rect">
            <a:avLst/>
          </a:prstGeom>
          <a:noFill/>
          <a:ln/>
        </p:spPr>
        <p:txBody>
          <a:bodyPr wrap="square" lIns="381" tIns="381" rIns="381" bIns="381" rtlCol="0" anchor="t">
            <a:normAutofit lnSpcReduction="10000"/>
          </a:bodyPr>
          <a:lstStyle/>
          <a:p>
            <a:pPr marL="0" indent="0" algn="ctr">
              <a:buNone/>
            </a:pPr>
            <a:r>
              <a:rPr lang="en-US" sz="2200" b="1" dirty="0">
                <a:solidFill>
                  <a:srgbClr val="0E9384"/>
                </a:solidFill>
                <a:latin typeface="Arial" pitchFamily="34" charset="0"/>
                <a:ea typeface="Arial" pitchFamily="34" charset="-122"/>
                <a:cs typeface="Arial" pitchFamily="34" charset="-120"/>
              </a:rPr>
              <a:t>CSV</a:t>
            </a:r>
            <a:endParaRPr lang="en-US" sz="2200" dirty="0"/>
          </a:p>
        </p:txBody>
      </p:sp>
      <p:sp>
        <p:nvSpPr>
          <p:cNvPr id="21" name="Text 19"/>
          <p:cNvSpPr/>
          <p:nvPr/>
        </p:nvSpPr>
        <p:spPr>
          <a:xfrm>
            <a:off x="9555480" y="1929384"/>
            <a:ext cx="1728216" cy="164592"/>
          </a:xfrm>
          <a:prstGeom prst="rect">
            <a:avLst/>
          </a:prstGeom>
          <a:noFill/>
          <a:ln/>
        </p:spPr>
        <p:txBody>
          <a:bodyPr wrap="square" lIns="381" tIns="381" rIns="381" bIns="381" rtlCol="0" anchor="t">
            <a:normAutofit/>
          </a:bodyPr>
          <a:lstStyle/>
          <a:p>
            <a:pPr marL="0" indent="0" algn="ctr">
              <a:buNone/>
            </a:pPr>
            <a:r>
              <a:rPr lang="en-US" sz="980" b="1" dirty="0">
                <a:solidFill>
                  <a:srgbClr val="101828"/>
                </a:solidFill>
                <a:latin typeface="Arial" pitchFamily="34" charset="0"/>
                <a:ea typeface="Arial" pitchFamily="34" charset="-122"/>
                <a:cs typeface="Arial" pitchFamily="34" charset="-120"/>
              </a:rPr>
              <a:t>Cache</a:t>
            </a:r>
            <a:endParaRPr lang="en-US" sz="980" dirty="0"/>
          </a:p>
        </p:txBody>
      </p:sp>
      <p:sp>
        <p:nvSpPr>
          <p:cNvPr id="22" name="Text 20"/>
          <p:cNvSpPr/>
          <p:nvPr/>
        </p:nvSpPr>
        <p:spPr>
          <a:xfrm>
            <a:off x="9555480" y="2121408"/>
            <a:ext cx="1728216" cy="128016"/>
          </a:xfrm>
          <a:prstGeom prst="rect">
            <a:avLst/>
          </a:prstGeom>
          <a:noFill/>
          <a:ln/>
        </p:spPr>
        <p:txBody>
          <a:bodyPr wrap="square" lIns="381" tIns="381" rIns="381" bIns="381" rtlCol="0" anchor="t">
            <a:normAutofit/>
          </a:bodyPr>
          <a:lstStyle/>
          <a:p>
            <a:pPr marL="0" indent="0" algn="ctr">
              <a:buNone/>
            </a:pPr>
            <a:r>
              <a:rPr lang="en-US" sz="760" dirty="0">
                <a:solidFill>
                  <a:srgbClr val="667085"/>
                </a:solidFill>
                <a:latin typeface="Arial" pitchFamily="34" charset="0"/>
                <a:ea typeface="Arial" pitchFamily="34" charset="-122"/>
                <a:cs typeface="Arial" pitchFamily="34" charset="-120"/>
              </a:rPr>
              <a:t>data/raw</a:t>
            </a:r>
            <a:endParaRPr lang="en-US" sz="76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822960" y="2788920"/>
          <a:ext cx="10561320" cy="2697480"/>
        </p:xfrm>
        <a:graphic>
          <a:graphicData uri="http://schemas.openxmlformats.org/drawingml/2006/table">
            <a:tbl>
              <a:tblPr/>
              <a:tblGrid>
                <a:gridCol w="2194560">
                  <a:extLst>
                    <a:ext uri="{9D8B030D-6E8A-4147-A177-3AD203B41FA5}">
                      <a16:colId xmlns:a16="http://schemas.microsoft.com/office/drawing/2014/main" val="20000"/>
                    </a:ext>
                  </a:extLst>
                </a:gridCol>
                <a:gridCol w="8366760">
                  <a:extLst>
                    <a:ext uri="{9D8B030D-6E8A-4147-A177-3AD203B41FA5}">
                      <a16:colId xmlns:a16="http://schemas.microsoft.com/office/drawing/2014/main" val="20001"/>
                    </a:ext>
                  </a:extLst>
                </a:gridCol>
              </a:tblGrid>
              <a:tr h="449580">
                <a:tc>
                  <a:txBody>
                    <a:bodyPr/>
                    <a:lstStyle/>
                    <a:p>
                      <a:pPr marL="0" indent="0">
                        <a:buNone/>
                      </a:pPr>
                      <a:r>
                        <a:rPr lang="en-US" sz="1200" dirty="0">
                          <a:solidFill>
                            <a:srgbClr val="101828"/>
                          </a:solidFill>
                          <a:latin typeface="Arial" pitchFamily="34" charset="0"/>
                          <a:ea typeface="Arial" pitchFamily="34" charset="-122"/>
                          <a:cs typeface="Arial" pitchFamily="34" charset="-120"/>
                        </a:rPr>
                        <a:t>Thành phần</a:t>
                      </a:r>
                      <a:endParaRPr lang="en-US" sz="120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200" dirty="0">
                          <a:solidFill>
                            <a:srgbClr val="101828"/>
                          </a:solidFill>
                          <a:latin typeface="Arial" pitchFamily="34" charset="0"/>
                          <a:ea typeface="Arial" pitchFamily="34" charset="-122"/>
                          <a:cs typeface="Arial" pitchFamily="34" charset="-120"/>
                        </a:rPr>
                        <a:t>Mô tả</a:t>
                      </a:r>
                      <a:endParaRPr lang="en-US" sz="120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extLst>
                  <a:ext uri="{0D108BD9-81ED-4DB2-BD59-A6C34878D82A}">
                    <a16:rowId xmlns:a16="http://schemas.microsoft.com/office/drawing/2014/main" val="10000"/>
                  </a:ext>
                </a:extLst>
              </a:tr>
              <a:tr h="449580">
                <a:tc>
                  <a:txBody>
                    <a:bodyPr/>
                    <a:lstStyle/>
                    <a:p>
                      <a:pPr marL="0" indent="0">
                        <a:buNone/>
                      </a:pPr>
                      <a:r>
                        <a:rPr lang="en-US" sz="1200" dirty="0">
                          <a:solidFill>
                            <a:srgbClr val="101828"/>
                          </a:solidFill>
                          <a:latin typeface="Arial" pitchFamily="34" charset="0"/>
                          <a:ea typeface="Arial" pitchFamily="34" charset="-122"/>
                          <a:cs typeface="Arial" pitchFamily="34" charset="-120"/>
                        </a:rPr>
                        <a:t>Tài sản cổ phiếu</a:t>
                      </a:r>
                      <a:endParaRPr lang="en-US" sz="120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200" dirty="0">
                          <a:solidFill>
                            <a:srgbClr val="101828"/>
                          </a:solidFill>
                          <a:latin typeface="Arial" pitchFamily="34" charset="0"/>
                          <a:ea typeface="Arial" pitchFamily="34" charset="-122"/>
                          <a:cs typeface="Arial" pitchFamily="34" charset="-120"/>
                        </a:rPr>
                        <a:t>AAPL, MSFT, GOOGL, AMZN, JPM, JNJ, PG, XOM, NVDA, KO, DIS, WMT</a:t>
                      </a:r>
                      <a:endParaRPr lang="en-US" sz="120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extLst>
                  <a:ext uri="{0D108BD9-81ED-4DB2-BD59-A6C34878D82A}">
                    <a16:rowId xmlns:a16="http://schemas.microsoft.com/office/drawing/2014/main" val="10001"/>
                  </a:ext>
                </a:extLst>
              </a:tr>
              <a:tr h="449580">
                <a:tc>
                  <a:txBody>
                    <a:bodyPr/>
                    <a:lstStyle/>
                    <a:p>
                      <a:pPr marL="0" indent="0">
                        <a:buNone/>
                      </a:pPr>
                      <a:r>
                        <a:rPr lang="en-US" sz="1200" dirty="0">
                          <a:solidFill>
                            <a:srgbClr val="101828"/>
                          </a:solidFill>
                          <a:latin typeface="Arial" pitchFamily="34" charset="0"/>
                          <a:ea typeface="Arial" pitchFamily="34" charset="-122"/>
                          <a:cs typeface="Arial" pitchFamily="34" charset="-120"/>
                        </a:rPr>
                        <a:t>Tài sản đa dạng hóa</a:t>
                      </a:r>
                      <a:endParaRPr lang="en-US" sz="120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200" dirty="0">
                          <a:solidFill>
                            <a:srgbClr val="101828"/>
                          </a:solidFill>
                          <a:latin typeface="Arial" pitchFamily="34" charset="0"/>
                          <a:ea typeface="Arial" pitchFamily="34" charset="-122"/>
                          <a:cs typeface="Arial" pitchFamily="34" charset="-120"/>
                        </a:rPr>
                        <a:t>TLT (trái phiếu dài hạn), GLD (vàng)</a:t>
                      </a:r>
                      <a:endParaRPr lang="en-US" sz="120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extLst>
                  <a:ext uri="{0D108BD9-81ED-4DB2-BD59-A6C34878D82A}">
                    <a16:rowId xmlns:a16="http://schemas.microsoft.com/office/drawing/2014/main" val="10002"/>
                  </a:ext>
                </a:extLst>
              </a:tr>
              <a:tr h="449580">
                <a:tc>
                  <a:txBody>
                    <a:bodyPr/>
                    <a:lstStyle/>
                    <a:p>
                      <a:pPr marL="0" indent="0">
                        <a:buNone/>
                      </a:pPr>
                      <a:r>
                        <a:rPr lang="en-US" sz="1200" dirty="0">
                          <a:solidFill>
                            <a:srgbClr val="101828"/>
                          </a:solidFill>
                          <a:latin typeface="Arial" pitchFamily="34" charset="0"/>
                          <a:ea typeface="Arial" pitchFamily="34" charset="-122"/>
                          <a:cs typeface="Arial" pitchFamily="34" charset="-120"/>
                        </a:rPr>
                        <a:t>Benchmark</a:t>
                      </a:r>
                      <a:endParaRPr lang="en-US" sz="120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200" dirty="0">
                          <a:solidFill>
                            <a:srgbClr val="101828"/>
                          </a:solidFill>
                          <a:latin typeface="Arial" pitchFamily="34" charset="0"/>
                          <a:ea typeface="Arial" pitchFamily="34" charset="-122"/>
                          <a:cs typeface="Arial" pitchFamily="34" charset="-120"/>
                        </a:rPr>
                        <a:t>SPY dùng cho so sánh và Information Ratio</a:t>
                      </a:r>
                      <a:endParaRPr lang="en-US" sz="120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extLst>
                  <a:ext uri="{0D108BD9-81ED-4DB2-BD59-A6C34878D82A}">
                    <a16:rowId xmlns:a16="http://schemas.microsoft.com/office/drawing/2014/main" val="10003"/>
                  </a:ext>
                </a:extLst>
              </a:tr>
              <a:tr h="449580">
                <a:tc>
                  <a:txBody>
                    <a:bodyPr/>
                    <a:lstStyle/>
                    <a:p>
                      <a:pPr marL="0" indent="0">
                        <a:buNone/>
                      </a:pPr>
                      <a:r>
                        <a:rPr lang="en-US" sz="1200" dirty="0">
                          <a:solidFill>
                            <a:srgbClr val="101828"/>
                          </a:solidFill>
                          <a:latin typeface="Arial" pitchFamily="34" charset="0"/>
                          <a:ea typeface="Arial" pitchFamily="34" charset="-122"/>
                          <a:cs typeface="Arial" pitchFamily="34" charset="-120"/>
                        </a:rPr>
                        <a:t>Risk-free</a:t>
                      </a:r>
                      <a:endParaRPr lang="en-US" sz="120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200" dirty="0">
                          <a:solidFill>
                            <a:srgbClr val="101828"/>
                          </a:solidFill>
                          <a:latin typeface="Arial" pitchFamily="34" charset="0"/>
                          <a:ea typeface="Arial" pitchFamily="34" charset="-122"/>
                          <a:cs typeface="Arial" pitchFamily="34" charset="-120"/>
                        </a:rPr>
                        <a:t>^IRX dùng cho Sharpe và các phép tính liên quan</a:t>
                      </a:r>
                      <a:endParaRPr lang="en-US" sz="120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extLst>
                  <a:ext uri="{0D108BD9-81ED-4DB2-BD59-A6C34878D82A}">
                    <a16:rowId xmlns:a16="http://schemas.microsoft.com/office/drawing/2014/main" val="10004"/>
                  </a:ext>
                </a:extLst>
              </a:tr>
              <a:tr h="449580">
                <a:tc>
                  <a:txBody>
                    <a:bodyPr/>
                    <a:lstStyle/>
                    <a:p>
                      <a:pPr marL="0" indent="0">
                        <a:buNone/>
                      </a:pPr>
                      <a:r>
                        <a:rPr lang="en-US" sz="1200" dirty="0">
                          <a:solidFill>
                            <a:srgbClr val="101828"/>
                          </a:solidFill>
                          <a:latin typeface="Arial" pitchFamily="34" charset="0"/>
                          <a:ea typeface="Arial" pitchFamily="34" charset="-122"/>
                          <a:cs typeface="Arial" pitchFamily="34" charset="-120"/>
                        </a:rPr>
                        <a:t>File cache</a:t>
                      </a:r>
                      <a:endParaRPr lang="en-US" sz="120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200" dirty="0">
                          <a:solidFill>
                            <a:srgbClr val="101828"/>
                          </a:solidFill>
                          <a:latin typeface="Arial" pitchFamily="34" charset="0"/>
                          <a:ea typeface="Arial" pitchFamily="34" charset="-122"/>
                          <a:cs typeface="Arial" pitchFamily="34" charset="-120"/>
                        </a:rPr>
                        <a:t>ai-portfolio-research/data/raw/prices.csv và riskfree.csv</a:t>
                      </a:r>
                      <a:endParaRPr lang="en-US" sz="120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24" name="Text 21"/>
          <p:cNvSpPr/>
          <p:nvPr/>
        </p:nvSpPr>
        <p:spPr>
          <a:xfrm>
            <a:off x="502920" y="6236208"/>
            <a:ext cx="10881360" cy="146304"/>
          </a:xfrm>
          <a:prstGeom prst="rect">
            <a:avLst/>
          </a:prstGeom>
          <a:noFill/>
          <a:ln/>
        </p:spPr>
        <p:txBody>
          <a:bodyPr wrap="square" lIns="381" tIns="381" rIns="381" bIns="381" rtlCol="0" anchor="t">
            <a:normAutofit/>
          </a:bodyPr>
          <a:lstStyle/>
          <a:p>
            <a:pPr marL="0" indent="0">
              <a:buNone/>
            </a:pPr>
            <a:r>
              <a:rPr lang="en-US" sz="730" dirty="0">
                <a:solidFill>
                  <a:srgbClr val="667085"/>
                </a:solidFill>
                <a:latin typeface="Arial" pitchFamily="34" charset="0"/>
                <a:ea typeface="Arial" pitchFamily="34" charset="-122"/>
                <a:cs typeface="Arial" pitchFamily="34" charset="-120"/>
              </a:rPr>
              <a:t>Nguồn: ai-portfolio-research/src/config.py; src/data_pipeline.py</a:t>
            </a:r>
            <a:endParaRPr lang="en-US" sz="730" dirty="0"/>
          </a:p>
        </p:txBody>
      </p:sp>
      <p:sp>
        <p:nvSpPr>
          <p:cNvPr id="25" name="Slide Number Placeholder 0"/>
          <p:cNvSpPr>
            <a:spLocks noGrp="1"/>
          </p:cNvSpPr>
          <p:nvPr>
            <p:ph type="sldNum" sz="quarter" idx="4294967295"/>
          </p:nvPr>
        </p:nvSpPr>
        <p:spPr>
          <a:xfrm>
            <a:off x="11475720" y="6492240"/>
            <a:ext cx="800000" cy="300000"/>
          </a:xfrm>
          <a:prstGeom prst="rect">
            <a:avLst/>
          </a:prstGeom>
          <a:extLst>
            <a:ext uri="{C572A759-6A51-4108-AA02-DFA0A04FC94B}">
              <ma14:wrappingTextBoxFlag xmlns:ma14="http://schemas.microsoft.com/office/mac/drawingml/2011/main" xmlns="" val="0"/>
            </a:ext>
          </a:extLst>
        </p:spPr>
        <p:txBody>
          <a:bodyPr/>
          <a:lstStyle>
            <a:lvl1pPr>
              <a:defRPr sz="730">
                <a:solidFill>
                  <a:srgbClr val="667085"/>
                </a:solidFill>
                <a:latin typeface="Arial"/>
                <a:ea typeface="Arial"/>
                <a:cs typeface="Arial"/>
              </a:defRPr>
            </a:lvl1pPr>
          </a:lstStyle>
          <a:p>
            <a:pPr algn="l"/>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74320"/>
            <a:ext cx="7132320" cy="201168"/>
          </a:xfrm>
          <a:prstGeom prst="rect">
            <a:avLst/>
          </a:prstGeom>
          <a:noFill/>
          <a:ln/>
        </p:spPr>
        <p:txBody>
          <a:bodyPr wrap="square" lIns="0" tIns="0" rIns="0" bIns="0" rtlCol="0" anchor="ctr"/>
          <a:lstStyle/>
          <a:p>
            <a:pPr marL="0" indent="0">
              <a:buNone/>
            </a:pPr>
            <a:r>
              <a:rPr lang="en-US" sz="820" b="1" dirty="0">
                <a:solidFill>
                  <a:srgbClr val="667085"/>
                </a:solidFill>
                <a:latin typeface="Arial" pitchFamily="34" charset="0"/>
                <a:ea typeface="Arial" pitchFamily="34" charset="-122"/>
                <a:cs typeface="Arial" pitchFamily="34" charset="-120"/>
              </a:rPr>
              <a:t>PYTHON PROCESSING</a:t>
            </a:r>
            <a:endParaRPr lang="en-US" sz="820" dirty="0"/>
          </a:p>
        </p:txBody>
      </p:sp>
      <p:sp>
        <p:nvSpPr>
          <p:cNvPr id="3" name="Text 1"/>
          <p:cNvSpPr/>
          <p:nvPr/>
        </p:nvSpPr>
        <p:spPr>
          <a:xfrm>
            <a:off x="502920" y="512064"/>
            <a:ext cx="11155680" cy="566928"/>
          </a:xfrm>
          <a:prstGeom prst="rect">
            <a:avLst/>
          </a:prstGeom>
          <a:noFill/>
          <a:ln/>
        </p:spPr>
        <p:txBody>
          <a:bodyPr wrap="square" lIns="0" tIns="0" rIns="0" bIns="0" rtlCol="0" anchor="ctr">
            <a:normAutofit/>
          </a:bodyPr>
          <a:lstStyle/>
          <a:p>
            <a:pPr marL="0" indent="0">
              <a:buNone/>
            </a:pPr>
            <a:r>
              <a:rPr lang="en-US" sz="2700" b="1" dirty="0">
                <a:solidFill>
                  <a:srgbClr val="101828"/>
                </a:solidFill>
                <a:latin typeface="Arial" pitchFamily="34" charset="0"/>
                <a:ea typeface="Arial" pitchFamily="34" charset="-122"/>
                <a:cs typeface="Arial" pitchFamily="34" charset="-120"/>
              </a:rPr>
              <a:t>Tiền xử lý và tạo đặc trưng</a:t>
            </a:r>
            <a:endParaRPr lang="en-US" sz="2700" dirty="0"/>
          </a:p>
        </p:txBody>
      </p:sp>
      <p:sp>
        <p:nvSpPr>
          <p:cNvPr id="4" name="Shape 2"/>
          <p:cNvSpPr/>
          <p:nvPr/>
        </p:nvSpPr>
        <p:spPr>
          <a:xfrm>
            <a:off x="502920" y="1152144"/>
            <a:ext cx="11155680" cy="0"/>
          </a:xfrm>
          <a:prstGeom prst="line">
            <a:avLst/>
          </a:prstGeom>
          <a:noFill/>
          <a:ln w="10160">
            <a:solidFill>
              <a:srgbClr val="D0D5DD"/>
            </a:solidFill>
            <a:prstDash val="solid"/>
          </a:ln>
        </p:spPr>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58368" y="1371600"/>
          <a:ext cx="6537960" cy="3794760"/>
        </p:xfrm>
        <a:graphic>
          <a:graphicData uri="http://schemas.openxmlformats.org/drawingml/2006/table">
            <a:tbl>
              <a:tblPr/>
              <a:tblGrid>
                <a:gridCol w="685800">
                  <a:extLst>
                    <a:ext uri="{9D8B030D-6E8A-4147-A177-3AD203B41FA5}">
                      <a16:colId xmlns:a16="http://schemas.microsoft.com/office/drawing/2014/main" val="20000"/>
                    </a:ext>
                  </a:extLst>
                </a:gridCol>
                <a:gridCol w="3520440">
                  <a:extLst>
                    <a:ext uri="{9D8B030D-6E8A-4147-A177-3AD203B41FA5}">
                      <a16:colId xmlns:a16="http://schemas.microsoft.com/office/drawing/2014/main" val="20001"/>
                    </a:ext>
                  </a:extLst>
                </a:gridCol>
                <a:gridCol w="2331720">
                  <a:extLst>
                    <a:ext uri="{9D8B030D-6E8A-4147-A177-3AD203B41FA5}">
                      <a16:colId xmlns:a16="http://schemas.microsoft.com/office/drawing/2014/main" val="20002"/>
                    </a:ext>
                  </a:extLst>
                </a:gridCol>
              </a:tblGrid>
              <a:tr h="632460">
                <a:tc>
                  <a:txBody>
                    <a:bodyPr/>
                    <a:lstStyle/>
                    <a:p>
                      <a:pPr marL="0" indent="0">
                        <a:buNone/>
                      </a:pPr>
                      <a:r>
                        <a:rPr lang="en-US" sz="1230" dirty="0">
                          <a:solidFill>
                            <a:srgbClr val="101828"/>
                          </a:solidFill>
                          <a:latin typeface="Arial" pitchFamily="34" charset="0"/>
                          <a:ea typeface="Arial" pitchFamily="34" charset="-122"/>
                          <a:cs typeface="Arial" pitchFamily="34" charset="-120"/>
                        </a:rPr>
                        <a:t>Bước</a:t>
                      </a:r>
                      <a:endParaRPr lang="en-US" sz="123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230" dirty="0">
                          <a:solidFill>
                            <a:srgbClr val="101828"/>
                          </a:solidFill>
                          <a:latin typeface="Arial" pitchFamily="34" charset="0"/>
                          <a:ea typeface="Arial" pitchFamily="34" charset="-122"/>
                          <a:cs typeface="Arial" pitchFamily="34" charset="-120"/>
                        </a:rPr>
                        <a:t>Xử lý</a:t>
                      </a:r>
                      <a:endParaRPr lang="en-US" sz="123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230" dirty="0">
                          <a:solidFill>
                            <a:srgbClr val="101828"/>
                          </a:solidFill>
                          <a:latin typeface="Arial" pitchFamily="34" charset="0"/>
                          <a:ea typeface="Arial" pitchFamily="34" charset="-122"/>
                          <a:cs typeface="Arial" pitchFamily="34" charset="-120"/>
                        </a:rPr>
                        <a:t>Output</a:t>
                      </a:r>
                      <a:endParaRPr lang="en-US" sz="123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extLst>
                  <a:ext uri="{0D108BD9-81ED-4DB2-BD59-A6C34878D82A}">
                    <a16:rowId xmlns:a16="http://schemas.microsoft.com/office/drawing/2014/main" val="10000"/>
                  </a:ext>
                </a:extLst>
              </a:tr>
              <a:tr h="632460">
                <a:tc>
                  <a:txBody>
                    <a:bodyPr/>
                    <a:lstStyle/>
                    <a:p>
                      <a:pPr marL="0" indent="0">
                        <a:buNone/>
                      </a:pPr>
                      <a:r>
                        <a:rPr lang="en-US" sz="1230" dirty="0">
                          <a:solidFill>
                            <a:srgbClr val="101828"/>
                          </a:solidFill>
                          <a:latin typeface="Arial" pitchFamily="34" charset="0"/>
                          <a:ea typeface="Arial" pitchFamily="34" charset="-122"/>
                          <a:cs typeface="Arial" pitchFamily="34" charset="-120"/>
                        </a:rPr>
                        <a:t>1</a:t>
                      </a:r>
                      <a:endParaRPr lang="en-US" sz="123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230" dirty="0">
                          <a:solidFill>
                            <a:srgbClr val="101828"/>
                          </a:solidFill>
                          <a:latin typeface="Arial" pitchFamily="34" charset="0"/>
                          <a:ea typeface="Arial" pitchFamily="34" charset="-122"/>
                          <a:cs typeface="Arial" pitchFamily="34" charset="-120"/>
                        </a:rPr>
                        <a:t>Tải giá điều chỉnh và risk-free rate</a:t>
                      </a:r>
                      <a:endParaRPr lang="en-US" sz="123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230" dirty="0">
                          <a:solidFill>
                            <a:srgbClr val="101828"/>
                          </a:solidFill>
                          <a:latin typeface="Arial" pitchFamily="34" charset="0"/>
                          <a:ea typeface="Arial" pitchFamily="34" charset="-122"/>
                          <a:cs typeface="Arial" pitchFamily="34" charset="-120"/>
                        </a:rPr>
                        <a:t>prices, rf</a:t>
                      </a:r>
                      <a:endParaRPr lang="en-US" sz="123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extLst>
                  <a:ext uri="{0D108BD9-81ED-4DB2-BD59-A6C34878D82A}">
                    <a16:rowId xmlns:a16="http://schemas.microsoft.com/office/drawing/2014/main" val="10001"/>
                  </a:ext>
                </a:extLst>
              </a:tr>
              <a:tr h="632460">
                <a:tc>
                  <a:txBody>
                    <a:bodyPr/>
                    <a:lstStyle/>
                    <a:p>
                      <a:pPr marL="0" indent="0">
                        <a:buNone/>
                      </a:pPr>
                      <a:r>
                        <a:rPr lang="en-US" sz="1230" dirty="0">
                          <a:solidFill>
                            <a:srgbClr val="101828"/>
                          </a:solidFill>
                          <a:latin typeface="Arial" pitchFamily="34" charset="0"/>
                          <a:ea typeface="Arial" pitchFamily="34" charset="-122"/>
                          <a:cs typeface="Arial" pitchFamily="34" charset="-120"/>
                        </a:rPr>
                        <a:t>2</a:t>
                      </a:r>
                      <a:endParaRPr lang="en-US" sz="123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230" dirty="0">
                          <a:solidFill>
                            <a:srgbClr val="101828"/>
                          </a:solidFill>
                          <a:latin typeface="Arial" pitchFamily="34" charset="0"/>
                          <a:ea typeface="Arial" pitchFamily="34" charset="-122"/>
                          <a:cs typeface="Arial" pitchFamily="34" charset="-120"/>
                        </a:rPr>
                        <a:t>Căn chỉnh ngày giao dịch và loại dữ liệu thiếu</a:t>
                      </a:r>
                      <a:endParaRPr lang="en-US" sz="123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230" dirty="0">
                          <a:solidFill>
                            <a:srgbClr val="101828"/>
                          </a:solidFill>
                          <a:latin typeface="Arial" pitchFamily="34" charset="0"/>
                          <a:ea typeface="Arial" pitchFamily="34" charset="-122"/>
                          <a:cs typeface="Arial" pitchFamily="34" charset="-120"/>
                        </a:rPr>
                        <a:t>aligned prices</a:t>
                      </a:r>
                      <a:endParaRPr lang="en-US" sz="123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extLst>
                  <a:ext uri="{0D108BD9-81ED-4DB2-BD59-A6C34878D82A}">
                    <a16:rowId xmlns:a16="http://schemas.microsoft.com/office/drawing/2014/main" val="10002"/>
                  </a:ext>
                </a:extLst>
              </a:tr>
              <a:tr h="632460">
                <a:tc>
                  <a:txBody>
                    <a:bodyPr/>
                    <a:lstStyle/>
                    <a:p>
                      <a:pPr marL="0" indent="0">
                        <a:buNone/>
                      </a:pPr>
                      <a:r>
                        <a:rPr lang="en-US" sz="1230" dirty="0">
                          <a:solidFill>
                            <a:srgbClr val="101828"/>
                          </a:solidFill>
                          <a:latin typeface="Arial" pitchFamily="34" charset="0"/>
                          <a:ea typeface="Arial" pitchFamily="34" charset="-122"/>
                          <a:cs typeface="Arial" pitchFamily="34" charset="-120"/>
                        </a:rPr>
                        <a:t>3</a:t>
                      </a:r>
                      <a:endParaRPr lang="en-US" sz="123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230" dirty="0">
                          <a:solidFill>
                            <a:srgbClr val="101828"/>
                          </a:solidFill>
                          <a:latin typeface="Arial" pitchFamily="34" charset="0"/>
                          <a:ea typeface="Arial" pitchFamily="34" charset="-122"/>
                          <a:cs typeface="Arial" pitchFamily="34" charset="-120"/>
                        </a:rPr>
                        <a:t>Tính daily returns bằng pct_change()</a:t>
                      </a:r>
                      <a:endParaRPr lang="en-US" sz="123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230" dirty="0">
                          <a:solidFill>
                            <a:srgbClr val="101828"/>
                          </a:solidFill>
                          <a:latin typeface="Arial" pitchFamily="34" charset="0"/>
                          <a:ea typeface="Arial" pitchFamily="34" charset="-122"/>
                          <a:cs typeface="Arial" pitchFamily="34" charset="-120"/>
                        </a:rPr>
                        <a:t>asset_returns, bench_returns</a:t>
                      </a:r>
                      <a:endParaRPr lang="en-US" sz="123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extLst>
                  <a:ext uri="{0D108BD9-81ED-4DB2-BD59-A6C34878D82A}">
                    <a16:rowId xmlns:a16="http://schemas.microsoft.com/office/drawing/2014/main" val="10003"/>
                  </a:ext>
                </a:extLst>
              </a:tr>
              <a:tr h="632460">
                <a:tc>
                  <a:txBody>
                    <a:bodyPr/>
                    <a:lstStyle/>
                    <a:p>
                      <a:pPr marL="0" indent="0">
                        <a:buNone/>
                      </a:pPr>
                      <a:r>
                        <a:rPr lang="en-US" sz="1230" dirty="0">
                          <a:solidFill>
                            <a:srgbClr val="101828"/>
                          </a:solidFill>
                          <a:latin typeface="Arial" pitchFamily="34" charset="0"/>
                          <a:ea typeface="Arial" pitchFamily="34" charset="-122"/>
                          <a:cs typeface="Arial" pitchFamily="34" charset="-120"/>
                        </a:rPr>
                        <a:t>4</a:t>
                      </a:r>
                      <a:endParaRPr lang="en-US" sz="123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230" dirty="0">
                          <a:solidFill>
                            <a:srgbClr val="101828"/>
                          </a:solidFill>
                          <a:latin typeface="Arial" pitchFamily="34" charset="0"/>
                          <a:ea typeface="Arial" pitchFamily="34" charset="-122"/>
                          <a:cs typeface="Arial" pitchFamily="34" charset="-120"/>
                        </a:rPr>
                        <a:t>Tạo 7 feature kỹ thuật trailing</a:t>
                      </a:r>
                      <a:endParaRPr lang="en-US" sz="123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230" dirty="0">
                          <a:solidFill>
                            <a:srgbClr val="101828"/>
                          </a:solidFill>
                          <a:latin typeface="Arial" pitchFamily="34" charset="0"/>
                          <a:ea typeface="Arial" pitchFamily="34" charset="-122"/>
                          <a:cs typeface="Arial" pitchFamily="34" charset="-120"/>
                        </a:rPr>
                        <a:t>feature cube [T, N, F]</a:t>
                      </a:r>
                      <a:endParaRPr lang="en-US" sz="123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extLst>
                  <a:ext uri="{0D108BD9-81ED-4DB2-BD59-A6C34878D82A}">
                    <a16:rowId xmlns:a16="http://schemas.microsoft.com/office/drawing/2014/main" val="10004"/>
                  </a:ext>
                </a:extLst>
              </a:tr>
              <a:tr h="632460">
                <a:tc>
                  <a:txBody>
                    <a:bodyPr/>
                    <a:lstStyle/>
                    <a:p>
                      <a:pPr marL="0" indent="0">
                        <a:buNone/>
                      </a:pPr>
                      <a:r>
                        <a:rPr lang="en-US" sz="1230" dirty="0">
                          <a:solidFill>
                            <a:srgbClr val="101828"/>
                          </a:solidFill>
                          <a:latin typeface="Arial" pitchFamily="34" charset="0"/>
                          <a:ea typeface="Arial" pitchFamily="34" charset="-122"/>
                          <a:cs typeface="Arial" pitchFamily="34" charset="-120"/>
                        </a:rPr>
                        <a:t>5</a:t>
                      </a:r>
                      <a:endParaRPr lang="en-US" sz="123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230" dirty="0">
                          <a:solidFill>
                            <a:srgbClr val="101828"/>
                          </a:solidFill>
                          <a:latin typeface="Arial" pitchFamily="34" charset="0"/>
                          <a:ea typeface="Arial" pitchFamily="34" charset="-122"/>
                          <a:cs typeface="Arial" pitchFamily="34" charset="-120"/>
                        </a:rPr>
                        <a:t>Tạo mẫu cửa sổ 60 phiên và target 21 phiên</a:t>
                      </a:r>
                      <a:endParaRPr lang="en-US" sz="123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230" dirty="0">
                          <a:solidFill>
                            <a:srgbClr val="101828"/>
                          </a:solidFill>
                          <a:latin typeface="Arial" pitchFamily="34" charset="0"/>
                          <a:ea typeface="Arial" pitchFamily="34" charset="-122"/>
                          <a:cs typeface="Arial" pitchFamily="34" charset="-120"/>
                        </a:rPr>
                        <a:t>X [S,60,14,7], y [S,14]</a:t>
                      </a:r>
                      <a:endParaRPr lang="en-US" sz="123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6" name="Shape 3"/>
          <p:cNvSpPr/>
          <p:nvPr/>
        </p:nvSpPr>
        <p:spPr>
          <a:xfrm>
            <a:off x="7635240" y="1371600"/>
            <a:ext cx="3566160" cy="960120"/>
          </a:xfrm>
          <a:prstGeom prst="rect">
            <a:avLst/>
          </a:prstGeom>
          <a:solidFill>
            <a:srgbClr val="EEF6FF"/>
          </a:solidFill>
          <a:ln w="12700">
            <a:solidFill>
              <a:srgbClr val="175CD3"/>
            </a:solidFill>
            <a:prstDash val="solid"/>
          </a:ln>
        </p:spPr>
      </p:sp>
      <p:sp>
        <p:nvSpPr>
          <p:cNvPr id="7" name="Text 4"/>
          <p:cNvSpPr/>
          <p:nvPr/>
        </p:nvSpPr>
        <p:spPr>
          <a:xfrm>
            <a:off x="7781544" y="1490472"/>
            <a:ext cx="3273552" cy="219456"/>
          </a:xfrm>
          <a:prstGeom prst="rect">
            <a:avLst/>
          </a:prstGeom>
          <a:noFill/>
          <a:ln/>
        </p:spPr>
        <p:txBody>
          <a:bodyPr wrap="square" lIns="381" tIns="381" rIns="381" bIns="381" rtlCol="0" anchor="t">
            <a:normAutofit/>
          </a:bodyPr>
          <a:lstStyle/>
          <a:p>
            <a:pPr marL="0" indent="0">
              <a:buNone/>
            </a:pPr>
            <a:r>
              <a:rPr lang="en-US" sz="1320" b="1" dirty="0">
                <a:solidFill>
                  <a:srgbClr val="175CD3"/>
                </a:solidFill>
                <a:latin typeface="Arial" pitchFamily="34" charset="0"/>
                <a:ea typeface="Arial" pitchFamily="34" charset="-122"/>
                <a:cs typeface="Arial" pitchFamily="34" charset="-120"/>
              </a:rPr>
              <a:t>7 đặc trưng</a:t>
            </a:r>
            <a:endParaRPr lang="en-US" sz="1320" dirty="0"/>
          </a:p>
        </p:txBody>
      </p:sp>
      <p:sp>
        <p:nvSpPr>
          <p:cNvPr id="8" name="Text 5"/>
          <p:cNvSpPr/>
          <p:nvPr/>
        </p:nvSpPr>
        <p:spPr>
          <a:xfrm>
            <a:off x="7781544" y="1801368"/>
            <a:ext cx="3273552" cy="438912"/>
          </a:xfrm>
          <a:prstGeom prst="rect">
            <a:avLst/>
          </a:prstGeom>
          <a:noFill/>
          <a:ln/>
        </p:spPr>
        <p:txBody>
          <a:bodyPr wrap="square" lIns="381" tIns="381" rIns="381" bIns="381" rtlCol="0" anchor="t">
            <a:normAutofit/>
          </a:bodyPr>
          <a:lstStyle/>
          <a:p>
            <a:pPr marL="0" indent="0">
              <a:buNone/>
            </a:pPr>
            <a:r>
              <a:rPr lang="en-US" sz="1180" dirty="0">
                <a:solidFill>
                  <a:srgbClr val="101828"/>
                </a:solidFill>
                <a:latin typeface="Arial" pitchFamily="34" charset="0"/>
                <a:ea typeface="Arial" pitchFamily="34" charset="-122"/>
                <a:cs typeface="Arial" pitchFamily="34" charset="-120"/>
              </a:rPr>
              <a:t>ret_1, ret_5, ret_21, vol_21, rsi_14, macd_diff, zscore_50</a:t>
            </a:r>
            <a:endParaRPr lang="en-US" sz="1180" dirty="0"/>
          </a:p>
        </p:txBody>
      </p:sp>
      <p:sp>
        <p:nvSpPr>
          <p:cNvPr id="5" name="Shape 6"/>
          <p:cNvSpPr/>
          <p:nvPr/>
        </p:nvSpPr>
        <p:spPr>
          <a:xfrm>
            <a:off x="7635240" y="2670048"/>
            <a:ext cx="3566160" cy="960120"/>
          </a:xfrm>
          <a:prstGeom prst="rect">
            <a:avLst/>
          </a:prstGeom>
          <a:solidFill>
            <a:srgbClr val="F0FDF4"/>
          </a:solidFill>
          <a:ln w="12700">
            <a:solidFill>
              <a:srgbClr val="157347"/>
            </a:solidFill>
            <a:prstDash val="solid"/>
          </a:ln>
        </p:spPr>
      </p:sp>
      <p:sp>
        <p:nvSpPr>
          <p:cNvPr id="10" name="Text 7"/>
          <p:cNvSpPr/>
          <p:nvPr/>
        </p:nvSpPr>
        <p:spPr>
          <a:xfrm>
            <a:off x="7781544" y="2788920"/>
            <a:ext cx="3273552" cy="219456"/>
          </a:xfrm>
          <a:prstGeom prst="rect">
            <a:avLst/>
          </a:prstGeom>
          <a:noFill/>
          <a:ln/>
        </p:spPr>
        <p:txBody>
          <a:bodyPr wrap="square" lIns="381" tIns="381" rIns="381" bIns="381" rtlCol="0" anchor="t">
            <a:normAutofit/>
          </a:bodyPr>
          <a:lstStyle/>
          <a:p>
            <a:pPr marL="0" indent="0">
              <a:buNone/>
            </a:pPr>
            <a:r>
              <a:rPr lang="en-US" sz="1320" b="1" dirty="0">
                <a:solidFill>
                  <a:srgbClr val="157347"/>
                </a:solidFill>
                <a:latin typeface="Arial" pitchFamily="34" charset="0"/>
                <a:ea typeface="Arial" pitchFamily="34" charset="-122"/>
                <a:cs typeface="Arial" pitchFamily="34" charset="-120"/>
              </a:rPr>
              <a:t>Nguyên tắc</a:t>
            </a:r>
            <a:endParaRPr lang="en-US" sz="1320" dirty="0"/>
          </a:p>
        </p:txBody>
      </p:sp>
      <p:sp>
        <p:nvSpPr>
          <p:cNvPr id="11" name="Text 8"/>
          <p:cNvSpPr/>
          <p:nvPr/>
        </p:nvSpPr>
        <p:spPr>
          <a:xfrm>
            <a:off x="7781544" y="3099816"/>
            <a:ext cx="3273552" cy="438912"/>
          </a:xfrm>
          <a:prstGeom prst="rect">
            <a:avLst/>
          </a:prstGeom>
          <a:noFill/>
          <a:ln/>
        </p:spPr>
        <p:txBody>
          <a:bodyPr wrap="square" lIns="381" tIns="381" rIns="381" bIns="381" rtlCol="0" anchor="t">
            <a:normAutofit/>
          </a:bodyPr>
          <a:lstStyle/>
          <a:p>
            <a:pPr marL="0" indent="0">
              <a:buNone/>
            </a:pPr>
            <a:r>
              <a:rPr lang="en-US" sz="1180" dirty="0">
                <a:solidFill>
                  <a:srgbClr val="101828"/>
                </a:solidFill>
                <a:latin typeface="Arial" pitchFamily="34" charset="0"/>
                <a:ea typeface="Arial" pitchFamily="34" charset="-122"/>
                <a:cs typeface="Arial" pitchFamily="34" charset="-120"/>
              </a:rPr>
              <a:t>Feature tại ngày t chỉ dùng dữ liệu quá khứ đến t; target mới nằm ở tương lai.</a:t>
            </a:r>
            <a:endParaRPr lang="en-US" sz="1180" dirty="0"/>
          </a:p>
        </p:txBody>
      </p:sp>
      <p:sp>
        <p:nvSpPr>
          <p:cNvPr id="12" name="Shape 9"/>
          <p:cNvSpPr/>
          <p:nvPr/>
        </p:nvSpPr>
        <p:spPr>
          <a:xfrm>
            <a:off x="7635240" y="3968496"/>
            <a:ext cx="3566160" cy="960120"/>
          </a:xfrm>
          <a:prstGeom prst="rect">
            <a:avLst/>
          </a:prstGeom>
          <a:solidFill>
            <a:srgbClr val="FFF7ED"/>
          </a:solidFill>
          <a:ln w="12700">
            <a:solidFill>
              <a:srgbClr val="E46A11"/>
            </a:solidFill>
            <a:prstDash val="solid"/>
          </a:ln>
        </p:spPr>
      </p:sp>
      <p:sp>
        <p:nvSpPr>
          <p:cNvPr id="13" name="Text 10"/>
          <p:cNvSpPr/>
          <p:nvPr/>
        </p:nvSpPr>
        <p:spPr>
          <a:xfrm>
            <a:off x="7781544" y="4087368"/>
            <a:ext cx="3273552" cy="219456"/>
          </a:xfrm>
          <a:prstGeom prst="rect">
            <a:avLst/>
          </a:prstGeom>
          <a:noFill/>
          <a:ln/>
        </p:spPr>
        <p:txBody>
          <a:bodyPr wrap="square" lIns="381" tIns="381" rIns="381" bIns="381" rtlCol="0" anchor="t">
            <a:normAutofit/>
          </a:bodyPr>
          <a:lstStyle/>
          <a:p>
            <a:pPr marL="0" indent="0">
              <a:buNone/>
            </a:pPr>
            <a:r>
              <a:rPr lang="en-US" sz="1320" b="1" dirty="0">
                <a:solidFill>
                  <a:srgbClr val="E46A11"/>
                </a:solidFill>
                <a:latin typeface="Arial" pitchFamily="34" charset="0"/>
                <a:ea typeface="Arial" pitchFamily="34" charset="-122"/>
                <a:cs typeface="Arial" pitchFamily="34" charset="-120"/>
              </a:rPr>
              <a:t>Bằng chứng</a:t>
            </a:r>
            <a:endParaRPr lang="en-US" sz="1320" dirty="0"/>
          </a:p>
        </p:txBody>
      </p:sp>
      <p:sp>
        <p:nvSpPr>
          <p:cNvPr id="14" name="Text 11"/>
          <p:cNvSpPr/>
          <p:nvPr/>
        </p:nvSpPr>
        <p:spPr>
          <a:xfrm>
            <a:off x="7781544" y="4398264"/>
            <a:ext cx="3273552" cy="438912"/>
          </a:xfrm>
          <a:prstGeom prst="rect">
            <a:avLst/>
          </a:prstGeom>
          <a:noFill/>
          <a:ln/>
        </p:spPr>
        <p:txBody>
          <a:bodyPr wrap="square" lIns="381" tIns="381" rIns="381" bIns="381" rtlCol="0" anchor="t">
            <a:normAutofit/>
          </a:bodyPr>
          <a:lstStyle/>
          <a:p>
            <a:pPr marL="0" indent="0">
              <a:buNone/>
            </a:pPr>
            <a:r>
              <a:rPr lang="en-US" sz="1180" dirty="0">
                <a:solidFill>
                  <a:srgbClr val="101828"/>
                </a:solidFill>
                <a:latin typeface="Arial" pitchFamily="34" charset="0"/>
                <a:ea typeface="Arial" pitchFamily="34" charset="-122"/>
                <a:cs typeface="Arial" pitchFamily="34" charset="-120"/>
              </a:rPr>
              <a:t>src/data_pipeline.py và src/features.py cài đặt toàn bộ pipeline xử lý.</a:t>
            </a:r>
            <a:endParaRPr lang="en-US" sz="1180" dirty="0"/>
          </a:p>
        </p:txBody>
      </p:sp>
      <p:sp>
        <p:nvSpPr>
          <p:cNvPr id="15" name="Text 12"/>
          <p:cNvSpPr/>
          <p:nvPr/>
        </p:nvSpPr>
        <p:spPr>
          <a:xfrm>
            <a:off x="502920" y="6236208"/>
            <a:ext cx="10881360" cy="146304"/>
          </a:xfrm>
          <a:prstGeom prst="rect">
            <a:avLst/>
          </a:prstGeom>
          <a:noFill/>
          <a:ln/>
        </p:spPr>
        <p:txBody>
          <a:bodyPr wrap="square" lIns="381" tIns="381" rIns="381" bIns="381" rtlCol="0" anchor="t">
            <a:normAutofit/>
          </a:bodyPr>
          <a:lstStyle/>
          <a:p>
            <a:pPr marL="0" indent="0">
              <a:buNone/>
            </a:pPr>
            <a:r>
              <a:rPr lang="en-US" sz="730" dirty="0">
                <a:solidFill>
                  <a:srgbClr val="667085"/>
                </a:solidFill>
                <a:latin typeface="Arial" pitchFamily="34" charset="0"/>
                <a:ea typeface="Arial" pitchFamily="34" charset="-122"/>
                <a:cs typeface="Arial" pitchFamily="34" charset="-120"/>
              </a:rPr>
              <a:t>Nguồn: ai-portfolio-research/src/data_pipeline.py; src/features.py</a:t>
            </a:r>
            <a:endParaRPr lang="en-US" sz="730" dirty="0"/>
          </a:p>
        </p:txBody>
      </p:sp>
      <p:sp>
        <p:nvSpPr>
          <p:cNvPr id="25" name="Slide Number Placeholder 0"/>
          <p:cNvSpPr>
            <a:spLocks noGrp="1"/>
          </p:cNvSpPr>
          <p:nvPr>
            <p:ph type="sldNum" sz="quarter" idx="4294967295"/>
          </p:nvPr>
        </p:nvSpPr>
        <p:spPr>
          <a:xfrm>
            <a:off x="11475720" y="6492240"/>
            <a:ext cx="800000" cy="300000"/>
          </a:xfrm>
          <a:prstGeom prst="rect">
            <a:avLst/>
          </a:prstGeom>
          <a:extLst>
            <a:ext uri="{C572A759-6A51-4108-AA02-DFA0A04FC94B}">
              <ma14:wrappingTextBoxFlag xmlns:ma14="http://schemas.microsoft.com/office/mac/drawingml/2011/main" xmlns="" val="0"/>
            </a:ext>
          </a:extLst>
        </p:spPr>
        <p:txBody>
          <a:bodyPr/>
          <a:lstStyle>
            <a:lvl1pPr>
              <a:defRPr sz="730">
                <a:solidFill>
                  <a:srgbClr val="667085"/>
                </a:solidFill>
                <a:latin typeface="Arial"/>
                <a:ea typeface="Arial"/>
                <a:cs typeface="Arial"/>
              </a:defRPr>
            </a:lvl1pPr>
          </a:lstStyle>
          <a:p>
            <a:pPr algn="l"/>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74320"/>
            <a:ext cx="7132320" cy="201168"/>
          </a:xfrm>
          <a:prstGeom prst="rect">
            <a:avLst/>
          </a:prstGeom>
          <a:noFill/>
          <a:ln/>
        </p:spPr>
        <p:txBody>
          <a:bodyPr wrap="square" lIns="0" tIns="0" rIns="0" bIns="0" rtlCol="0" anchor="ctr"/>
          <a:lstStyle/>
          <a:p>
            <a:pPr marL="0" indent="0">
              <a:buNone/>
            </a:pPr>
            <a:r>
              <a:rPr lang="en-US" sz="820" b="1" dirty="0">
                <a:solidFill>
                  <a:srgbClr val="667085"/>
                </a:solidFill>
                <a:latin typeface="Arial" pitchFamily="34" charset="0"/>
                <a:ea typeface="Arial" pitchFamily="34" charset="-122"/>
                <a:cs typeface="Arial" pitchFamily="34" charset="-120"/>
              </a:rPr>
              <a:t>IMPLEMENTATION FLOW</a:t>
            </a:r>
            <a:endParaRPr lang="en-US" sz="820" dirty="0"/>
          </a:p>
        </p:txBody>
      </p:sp>
      <p:sp>
        <p:nvSpPr>
          <p:cNvPr id="3" name="Text 1"/>
          <p:cNvSpPr/>
          <p:nvPr/>
        </p:nvSpPr>
        <p:spPr>
          <a:xfrm>
            <a:off x="502920" y="512064"/>
            <a:ext cx="11155680" cy="566928"/>
          </a:xfrm>
          <a:prstGeom prst="rect">
            <a:avLst/>
          </a:prstGeom>
          <a:noFill/>
          <a:ln/>
        </p:spPr>
        <p:txBody>
          <a:bodyPr wrap="square" lIns="0" tIns="0" rIns="0" bIns="0" rtlCol="0" anchor="ctr">
            <a:normAutofit/>
          </a:bodyPr>
          <a:lstStyle/>
          <a:p>
            <a:pPr marL="0" indent="0">
              <a:buNone/>
            </a:pPr>
            <a:r>
              <a:rPr lang="en-US" sz="2700" b="1" dirty="0">
                <a:solidFill>
                  <a:srgbClr val="101828"/>
                </a:solidFill>
                <a:latin typeface="Arial" pitchFamily="34" charset="0"/>
                <a:ea typeface="Arial" pitchFamily="34" charset="-122"/>
                <a:cs typeface="Arial" pitchFamily="34" charset="-120"/>
              </a:rPr>
              <a:t>Pipeline Python triển khai nghiên cứu</a:t>
            </a:r>
            <a:endParaRPr lang="en-US" sz="2700" dirty="0"/>
          </a:p>
        </p:txBody>
      </p:sp>
      <p:sp>
        <p:nvSpPr>
          <p:cNvPr id="4" name="Shape 2"/>
          <p:cNvSpPr/>
          <p:nvPr/>
        </p:nvSpPr>
        <p:spPr>
          <a:xfrm>
            <a:off x="502920" y="1152144"/>
            <a:ext cx="11155680" cy="0"/>
          </a:xfrm>
          <a:prstGeom prst="line">
            <a:avLst/>
          </a:prstGeom>
          <a:noFill/>
          <a:ln w="10160">
            <a:solidFill>
              <a:srgbClr val="D0D5DD"/>
            </a:solidFill>
            <a:prstDash val="solid"/>
          </a:ln>
        </p:spPr>
      </p:sp>
      <p:sp>
        <p:nvSpPr>
          <p:cNvPr id="5" name="Shape 3"/>
          <p:cNvSpPr/>
          <p:nvPr/>
        </p:nvSpPr>
        <p:spPr>
          <a:xfrm>
            <a:off x="621792" y="1417320"/>
            <a:ext cx="2395728" cy="1325880"/>
          </a:xfrm>
          <a:prstGeom prst="rect">
            <a:avLst/>
          </a:prstGeom>
          <a:solidFill>
            <a:srgbClr val="EEF6FF"/>
          </a:solidFill>
          <a:ln w="12700">
            <a:solidFill>
              <a:srgbClr val="175CD3"/>
            </a:solidFill>
            <a:prstDash val="solid"/>
          </a:ln>
        </p:spPr>
      </p:sp>
      <p:sp>
        <p:nvSpPr>
          <p:cNvPr id="6" name="Text 4"/>
          <p:cNvSpPr/>
          <p:nvPr/>
        </p:nvSpPr>
        <p:spPr>
          <a:xfrm>
            <a:off x="768096" y="1536192"/>
            <a:ext cx="2103120" cy="219456"/>
          </a:xfrm>
          <a:prstGeom prst="rect">
            <a:avLst/>
          </a:prstGeom>
          <a:noFill/>
          <a:ln/>
        </p:spPr>
        <p:txBody>
          <a:bodyPr wrap="square" lIns="381" tIns="381" rIns="381" bIns="381" rtlCol="0" anchor="t">
            <a:normAutofit/>
          </a:bodyPr>
          <a:lstStyle/>
          <a:p>
            <a:pPr marL="0" indent="0">
              <a:buNone/>
            </a:pPr>
            <a:r>
              <a:rPr lang="en-US" sz="1320" b="1" dirty="0">
                <a:solidFill>
                  <a:srgbClr val="175CD3"/>
                </a:solidFill>
                <a:latin typeface="Arial" pitchFamily="34" charset="0"/>
                <a:ea typeface="Arial" pitchFamily="34" charset="-122"/>
                <a:cs typeface="Arial" pitchFamily="34" charset="-120"/>
              </a:rPr>
              <a:t>config.py</a:t>
            </a:r>
            <a:endParaRPr lang="en-US" sz="1320" dirty="0"/>
          </a:p>
        </p:txBody>
      </p:sp>
      <p:sp>
        <p:nvSpPr>
          <p:cNvPr id="7" name="Text 5"/>
          <p:cNvSpPr/>
          <p:nvPr/>
        </p:nvSpPr>
        <p:spPr>
          <a:xfrm>
            <a:off x="768096" y="1847088"/>
            <a:ext cx="2103120" cy="804672"/>
          </a:xfrm>
          <a:prstGeom prst="rect">
            <a:avLst/>
          </a:prstGeom>
          <a:noFill/>
          <a:ln/>
        </p:spPr>
        <p:txBody>
          <a:bodyPr wrap="square" lIns="381" tIns="381" rIns="381" bIns="381" rtlCol="0" anchor="t">
            <a:normAutofit/>
          </a:bodyPr>
          <a:lstStyle/>
          <a:p>
            <a:pPr marL="0" indent="0">
              <a:buNone/>
            </a:pPr>
            <a:r>
              <a:rPr lang="en-US" sz="1180" dirty="0">
                <a:solidFill>
                  <a:srgbClr val="101828"/>
                </a:solidFill>
                <a:latin typeface="Arial" pitchFamily="34" charset="0"/>
                <a:ea typeface="Arial" pitchFamily="34" charset="-122"/>
                <a:cs typeface="Arial" pitchFamily="34" charset="-120"/>
              </a:rPr>
              <a:t>Universe, thời gian, lookback, horizon, constraints</a:t>
            </a:r>
            <a:endParaRPr lang="en-US" sz="1180" dirty="0"/>
          </a:p>
        </p:txBody>
      </p:sp>
      <p:sp>
        <p:nvSpPr>
          <p:cNvPr id="8" name="Shape 6"/>
          <p:cNvSpPr/>
          <p:nvPr/>
        </p:nvSpPr>
        <p:spPr>
          <a:xfrm>
            <a:off x="3456432" y="1417320"/>
            <a:ext cx="2395728" cy="1325880"/>
          </a:xfrm>
          <a:prstGeom prst="rect">
            <a:avLst/>
          </a:prstGeom>
          <a:solidFill>
            <a:srgbClr val="EEF6FF"/>
          </a:solidFill>
          <a:ln w="12700">
            <a:solidFill>
              <a:srgbClr val="175CD3"/>
            </a:solidFill>
            <a:prstDash val="solid"/>
          </a:ln>
        </p:spPr>
      </p:sp>
      <p:sp>
        <p:nvSpPr>
          <p:cNvPr id="9" name="Text 7"/>
          <p:cNvSpPr/>
          <p:nvPr/>
        </p:nvSpPr>
        <p:spPr>
          <a:xfrm>
            <a:off x="3602736" y="1536192"/>
            <a:ext cx="2103120" cy="219456"/>
          </a:xfrm>
          <a:prstGeom prst="rect">
            <a:avLst/>
          </a:prstGeom>
          <a:noFill/>
          <a:ln/>
        </p:spPr>
        <p:txBody>
          <a:bodyPr wrap="square" lIns="381" tIns="381" rIns="381" bIns="381" rtlCol="0" anchor="t">
            <a:normAutofit/>
          </a:bodyPr>
          <a:lstStyle/>
          <a:p>
            <a:pPr marL="0" indent="0">
              <a:buNone/>
            </a:pPr>
            <a:r>
              <a:rPr lang="en-US" sz="1320" b="1" dirty="0">
                <a:solidFill>
                  <a:srgbClr val="175CD3"/>
                </a:solidFill>
                <a:latin typeface="Arial" pitchFamily="34" charset="0"/>
                <a:ea typeface="Arial" pitchFamily="34" charset="-122"/>
                <a:cs typeface="Arial" pitchFamily="34" charset="-120"/>
              </a:rPr>
              <a:t>data_pipeline.py</a:t>
            </a:r>
            <a:endParaRPr lang="en-US" sz="1320" dirty="0"/>
          </a:p>
        </p:txBody>
      </p:sp>
      <p:sp>
        <p:nvSpPr>
          <p:cNvPr id="10" name="Text 8"/>
          <p:cNvSpPr/>
          <p:nvPr/>
        </p:nvSpPr>
        <p:spPr>
          <a:xfrm>
            <a:off x="3602736" y="1847088"/>
            <a:ext cx="2103120" cy="804672"/>
          </a:xfrm>
          <a:prstGeom prst="rect">
            <a:avLst/>
          </a:prstGeom>
          <a:noFill/>
          <a:ln/>
        </p:spPr>
        <p:txBody>
          <a:bodyPr wrap="square" lIns="381" tIns="381" rIns="381" bIns="381" rtlCol="0" anchor="t">
            <a:normAutofit/>
          </a:bodyPr>
          <a:lstStyle/>
          <a:p>
            <a:pPr marL="0" indent="0">
              <a:buNone/>
            </a:pPr>
            <a:r>
              <a:rPr lang="en-US" sz="1180" dirty="0">
                <a:solidFill>
                  <a:srgbClr val="101828"/>
                </a:solidFill>
                <a:latin typeface="Arial" pitchFamily="34" charset="0"/>
                <a:ea typeface="Arial" pitchFamily="34" charset="-122"/>
                <a:cs typeface="Arial" pitchFamily="34" charset="-120"/>
              </a:rPr>
              <a:t>Download/cache dữ liệu giá và risk-free</a:t>
            </a:r>
            <a:endParaRPr lang="en-US" sz="1180" dirty="0"/>
          </a:p>
        </p:txBody>
      </p:sp>
      <p:sp>
        <p:nvSpPr>
          <p:cNvPr id="11" name="Shape 9"/>
          <p:cNvSpPr/>
          <p:nvPr/>
        </p:nvSpPr>
        <p:spPr>
          <a:xfrm>
            <a:off x="6291072" y="1417320"/>
            <a:ext cx="2395728" cy="1325880"/>
          </a:xfrm>
          <a:prstGeom prst="rect">
            <a:avLst/>
          </a:prstGeom>
          <a:solidFill>
            <a:srgbClr val="EEF6FF"/>
          </a:solidFill>
          <a:ln w="12700">
            <a:solidFill>
              <a:srgbClr val="175CD3"/>
            </a:solidFill>
            <a:prstDash val="solid"/>
          </a:ln>
        </p:spPr>
      </p:sp>
      <p:sp>
        <p:nvSpPr>
          <p:cNvPr id="12" name="Text 10"/>
          <p:cNvSpPr/>
          <p:nvPr/>
        </p:nvSpPr>
        <p:spPr>
          <a:xfrm>
            <a:off x="6437376" y="1536192"/>
            <a:ext cx="2103120" cy="219456"/>
          </a:xfrm>
          <a:prstGeom prst="rect">
            <a:avLst/>
          </a:prstGeom>
          <a:noFill/>
          <a:ln/>
        </p:spPr>
        <p:txBody>
          <a:bodyPr wrap="square" lIns="381" tIns="381" rIns="381" bIns="381" rtlCol="0" anchor="t">
            <a:normAutofit/>
          </a:bodyPr>
          <a:lstStyle/>
          <a:p>
            <a:pPr marL="0" indent="0">
              <a:buNone/>
            </a:pPr>
            <a:r>
              <a:rPr lang="en-US" sz="1320" b="1" dirty="0">
                <a:solidFill>
                  <a:srgbClr val="175CD3"/>
                </a:solidFill>
                <a:latin typeface="Arial" pitchFamily="34" charset="0"/>
                <a:ea typeface="Arial" pitchFamily="34" charset="-122"/>
                <a:cs typeface="Arial" pitchFamily="34" charset="-120"/>
              </a:rPr>
              <a:t>features.py</a:t>
            </a:r>
            <a:endParaRPr lang="en-US" sz="1320" dirty="0"/>
          </a:p>
        </p:txBody>
      </p:sp>
      <p:sp>
        <p:nvSpPr>
          <p:cNvPr id="13" name="Text 11"/>
          <p:cNvSpPr/>
          <p:nvPr/>
        </p:nvSpPr>
        <p:spPr>
          <a:xfrm>
            <a:off x="6437376" y="1847088"/>
            <a:ext cx="2103120" cy="804672"/>
          </a:xfrm>
          <a:prstGeom prst="rect">
            <a:avLst/>
          </a:prstGeom>
          <a:noFill/>
          <a:ln/>
        </p:spPr>
        <p:txBody>
          <a:bodyPr wrap="square" lIns="381" tIns="381" rIns="381" bIns="381" rtlCol="0" anchor="t">
            <a:normAutofit/>
          </a:bodyPr>
          <a:lstStyle/>
          <a:p>
            <a:pPr marL="0" indent="0">
              <a:buNone/>
            </a:pPr>
            <a:r>
              <a:rPr lang="en-US" sz="1180" dirty="0">
                <a:solidFill>
                  <a:srgbClr val="101828"/>
                </a:solidFill>
                <a:latin typeface="Arial" pitchFamily="34" charset="0"/>
                <a:ea typeface="Arial" pitchFamily="34" charset="-122"/>
                <a:cs typeface="Arial" pitchFamily="34" charset="-120"/>
              </a:rPr>
              <a:t>Feature cube và windowed samples</a:t>
            </a:r>
            <a:endParaRPr lang="en-US" sz="1180" dirty="0"/>
          </a:p>
        </p:txBody>
      </p:sp>
      <p:sp>
        <p:nvSpPr>
          <p:cNvPr id="14" name="Shape 12"/>
          <p:cNvSpPr/>
          <p:nvPr/>
        </p:nvSpPr>
        <p:spPr>
          <a:xfrm>
            <a:off x="9125712" y="1417320"/>
            <a:ext cx="2395728" cy="1325880"/>
          </a:xfrm>
          <a:prstGeom prst="rect">
            <a:avLst/>
          </a:prstGeom>
          <a:solidFill>
            <a:srgbClr val="EEF6FF"/>
          </a:solidFill>
          <a:ln w="12700">
            <a:solidFill>
              <a:srgbClr val="175CD3"/>
            </a:solidFill>
            <a:prstDash val="solid"/>
          </a:ln>
        </p:spPr>
      </p:sp>
      <p:sp>
        <p:nvSpPr>
          <p:cNvPr id="15" name="Text 13"/>
          <p:cNvSpPr/>
          <p:nvPr/>
        </p:nvSpPr>
        <p:spPr>
          <a:xfrm>
            <a:off x="9272016" y="1536192"/>
            <a:ext cx="2103120" cy="219456"/>
          </a:xfrm>
          <a:prstGeom prst="rect">
            <a:avLst/>
          </a:prstGeom>
          <a:noFill/>
          <a:ln/>
        </p:spPr>
        <p:txBody>
          <a:bodyPr wrap="square" lIns="381" tIns="381" rIns="381" bIns="381" rtlCol="0" anchor="t">
            <a:normAutofit/>
          </a:bodyPr>
          <a:lstStyle/>
          <a:p>
            <a:pPr marL="0" indent="0">
              <a:buNone/>
            </a:pPr>
            <a:r>
              <a:rPr lang="en-US" sz="1320" b="1" dirty="0">
                <a:solidFill>
                  <a:srgbClr val="175CD3"/>
                </a:solidFill>
                <a:latin typeface="Arial" pitchFamily="34" charset="0"/>
                <a:ea typeface="Arial" pitchFamily="34" charset="-122"/>
                <a:cs typeface="Arial" pitchFamily="34" charset="-120"/>
              </a:rPr>
              <a:t>splits.py</a:t>
            </a:r>
            <a:endParaRPr lang="en-US" sz="1320" dirty="0"/>
          </a:p>
        </p:txBody>
      </p:sp>
      <p:sp>
        <p:nvSpPr>
          <p:cNvPr id="16" name="Text 14"/>
          <p:cNvSpPr/>
          <p:nvPr/>
        </p:nvSpPr>
        <p:spPr>
          <a:xfrm>
            <a:off x="9272016" y="1847088"/>
            <a:ext cx="2103120" cy="804672"/>
          </a:xfrm>
          <a:prstGeom prst="rect">
            <a:avLst/>
          </a:prstGeom>
          <a:noFill/>
          <a:ln/>
        </p:spPr>
        <p:txBody>
          <a:bodyPr wrap="square" lIns="381" tIns="381" rIns="381" bIns="381" rtlCol="0" anchor="t">
            <a:normAutofit/>
          </a:bodyPr>
          <a:lstStyle/>
          <a:p>
            <a:pPr marL="0" indent="0">
              <a:buNone/>
            </a:pPr>
            <a:r>
              <a:rPr lang="en-US" sz="1180" dirty="0">
                <a:solidFill>
                  <a:srgbClr val="101828"/>
                </a:solidFill>
                <a:latin typeface="Arial" pitchFamily="34" charset="0"/>
                <a:ea typeface="Arial" pitchFamily="34" charset="-122"/>
                <a:cs typeface="Arial" pitchFamily="34" charset="-120"/>
              </a:rPr>
              <a:t>Train/valid/test + embargo</a:t>
            </a:r>
            <a:endParaRPr lang="en-US" sz="1180" dirty="0"/>
          </a:p>
        </p:txBody>
      </p:sp>
      <p:sp>
        <p:nvSpPr>
          <p:cNvPr id="17" name="Shape 15"/>
          <p:cNvSpPr/>
          <p:nvPr/>
        </p:nvSpPr>
        <p:spPr>
          <a:xfrm>
            <a:off x="621792" y="3383280"/>
            <a:ext cx="2395728" cy="1325880"/>
          </a:xfrm>
          <a:prstGeom prst="rect">
            <a:avLst/>
          </a:prstGeom>
          <a:solidFill>
            <a:srgbClr val="F0FDF4"/>
          </a:solidFill>
          <a:ln w="12700">
            <a:solidFill>
              <a:srgbClr val="157347"/>
            </a:solidFill>
            <a:prstDash val="solid"/>
          </a:ln>
        </p:spPr>
      </p:sp>
      <p:sp>
        <p:nvSpPr>
          <p:cNvPr id="18" name="Text 16"/>
          <p:cNvSpPr/>
          <p:nvPr/>
        </p:nvSpPr>
        <p:spPr>
          <a:xfrm>
            <a:off x="768096" y="3502152"/>
            <a:ext cx="2103120" cy="219456"/>
          </a:xfrm>
          <a:prstGeom prst="rect">
            <a:avLst/>
          </a:prstGeom>
          <a:noFill/>
          <a:ln/>
        </p:spPr>
        <p:txBody>
          <a:bodyPr wrap="square" lIns="381" tIns="381" rIns="381" bIns="381" rtlCol="0" anchor="t">
            <a:normAutofit/>
          </a:bodyPr>
          <a:lstStyle/>
          <a:p>
            <a:pPr marL="0" indent="0">
              <a:buNone/>
            </a:pPr>
            <a:r>
              <a:rPr lang="en-US" sz="1320" b="1" dirty="0">
                <a:solidFill>
                  <a:srgbClr val="157347"/>
                </a:solidFill>
                <a:latin typeface="Arial" pitchFamily="34" charset="0"/>
                <a:ea typeface="Arial" pitchFamily="34" charset="-122"/>
                <a:cs typeface="Arial" pitchFamily="34" charset="-120"/>
              </a:rPr>
              <a:t>train.py</a:t>
            </a:r>
            <a:endParaRPr lang="en-US" sz="1320" dirty="0"/>
          </a:p>
        </p:txBody>
      </p:sp>
      <p:sp>
        <p:nvSpPr>
          <p:cNvPr id="19" name="Text 17"/>
          <p:cNvSpPr/>
          <p:nvPr/>
        </p:nvSpPr>
        <p:spPr>
          <a:xfrm>
            <a:off x="768096" y="3813048"/>
            <a:ext cx="2103120" cy="804672"/>
          </a:xfrm>
          <a:prstGeom prst="rect">
            <a:avLst/>
          </a:prstGeom>
          <a:noFill/>
          <a:ln/>
        </p:spPr>
        <p:txBody>
          <a:bodyPr wrap="square" lIns="381" tIns="381" rIns="381" bIns="381" rtlCol="0" anchor="t">
            <a:normAutofit/>
          </a:bodyPr>
          <a:lstStyle/>
          <a:p>
            <a:pPr marL="0" indent="0">
              <a:buNone/>
            </a:pPr>
            <a:r>
              <a:rPr lang="en-US" sz="1180" dirty="0">
                <a:solidFill>
                  <a:srgbClr val="101828"/>
                </a:solidFill>
                <a:latin typeface="Arial" pitchFamily="34" charset="0"/>
                <a:ea typeface="Arial" pitchFamily="34" charset="-122"/>
                <a:cs typeface="Arial" pitchFamily="34" charset="-120"/>
              </a:rPr>
              <a:t>Baseline classical và deep learning</a:t>
            </a:r>
            <a:endParaRPr lang="en-US" sz="1180" dirty="0"/>
          </a:p>
        </p:txBody>
      </p:sp>
      <p:sp>
        <p:nvSpPr>
          <p:cNvPr id="20" name="Shape 18"/>
          <p:cNvSpPr/>
          <p:nvPr/>
        </p:nvSpPr>
        <p:spPr>
          <a:xfrm>
            <a:off x="3456432" y="3383280"/>
            <a:ext cx="2395728" cy="1325880"/>
          </a:xfrm>
          <a:prstGeom prst="rect">
            <a:avLst/>
          </a:prstGeom>
          <a:solidFill>
            <a:srgbClr val="F0FDF4"/>
          </a:solidFill>
          <a:ln w="12700">
            <a:solidFill>
              <a:srgbClr val="157347"/>
            </a:solidFill>
            <a:prstDash val="solid"/>
          </a:ln>
        </p:spPr>
      </p:sp>
      <p:sp>
        <p:nvSpPr>
          <p:cNvPr id="21" name="Text 19"/>
          <p:cNvSpPr/>
          <p:nvPr/>
        </p:nvSpPr>
        <p:spPr>
          <a:xfrm>
            <a:off x="3602736" y="3502152"/>
            <a:ext cx="2103120" cy="219456"/>
          </a:xfrm>
          <a:prstGeom prst="rect">
            <a:avLst/>
          </a:prstGeom>
          <a:noFill/>
          <a:ln/>
        </p:spPr>
        <p:txBody>
          <a:bodyPr wrap="square" lIns="381" tIns="381" rIns="381" bIns="381" rtlCol="0" anchor="t">
            <a:normAutofit/>
          </a:bodyPr>
          <a:lstStyle/>
          <a:p>
            <a:pPr marL="0" indent="0">
              <a:buNone/>
            </a:pPr>
            <a:r>
              <a:rPr lang="en-US" sz="1320" b="1" dirty="0">
                <a:solidFill>
                  <a:srgbClr val="157347"/>
                </a:solidFill>
                <a:latin typeface="Arial" pitchFamily="34" charset="0"/>
                <a:ea typeface="Arial" pitchFamily="34" charset="-122"/>
                <a:cs typeface="Arial" pitchFamily="34" charset="-120"/>
              </a:rPr>
              <a:t>ablation.py</a:t>
            </a:r>
            <a:endParaRPr lang="en-US" sz="1320" dirty="0"/>
          </a:p>
        </p:txBody>
      </p:sp>
      <p:sp>
        <p:nvSpPr>
          <p:cNvPr id="22" name="Text 20"/>
          <p:cNvSpPr/>
          <p:nvPr/>
        </p:nvSpPr>
        <p:spPr>
          <a:xfrm>
            <a:off x="3602736" y="3813048"/>
            <a:ext cx="2103120" cy="804672"/>
          </a:xfrm>
          <a:prstGeom prst="rect">
            <a:avLst/>
          </a:prstGeom>
          <a:noFill/>
          <a:ln/>
        </p:spPr>
        <p:txBody>
          <a:bodyPr wrap="square" lIns="381" tIns="381" rIns="381" bIns="381" rtlCol="0" anchor="t">
            <a:normAutofit/>
          </a:bodyPr>
          <a:lstStyle/>
          <a:p>
            <a:pPr marL="0" indent="0">
              <a:buNone/>
            </a:pPr>
            <a:r>
              <a:rPr lang="en-US" sz="1180" dirty="0">
                <a:solidFill>
                  <a:srgbClr val="101828"/>
                </a:solidFill>
                <a:latin typeface="Arial" pitchFamily="34" charset="0"/>
                <a:ea typeface="Arial" pitchFamily="34" charset="-122"/>
                <a:cs typeface="Arial" pitchFamily="34" charset="-120"/>
              </a:rPr>
              <a:t>PA-Transformer A/A+B/A+B+C</a:t>
            </a:r>
            <a:endParaRPr lang="en-US" sz="1180" dirty="0"/>
          </a:p>
        </p:txBody>
      </p:sp>
      <p:sp>
        <p:nvSpPr>
          <p:cNvPr id="23" name="Shape 21"/>
          <p:cNvSpPr/>
          <p:nvPr/>
        </p:nvSpPr>
        <p:spPr>
          <a:xfrm>
            <a:off x="6291072" y="3383280"/>
            <a:ext cx="2395728" cy="1325880"/>
          </a:xfrm>
          <a:prstGeom prst="rect">
            <a:avLst/>
          </a:prstGeom>
          <a:solidFill>
            <a:srgbClr val="F0FDF4"/>
          </a:solidFill>
          <a:ln w="12700">
            <a:solidFill>
              <a:srgbClr val="157347"/>
            </a:solidFill>
            <a:prstDash val="solid"/>
          </a:ln>
        </p:spPr>
      </p:sp>
      <p:sp>
        <p:nvSpPr>
          <p:cNvPr id="24" name="Text 22"/>
          <p:cNvSpPr/>
          <p:nvPr/>
        </p:nvSpPr>
        <p:spPr>
          <a:xfrm>
            <a:off x="6437376" y="3502152"/>
            <a:ext cx="2103120" cy="219456"/>
          </a:xfrm>
          <a:prstGeom prst="rect">
            <a:avLst/>
          </a:prstGeom>
          <a:noFill/>
          <a:ln/>
        </p:spPr>
        <p:txBody>
          <a:bodyPr wrap="square" lIns="381" tIns="381" rIns="381" bIns="381" rtlCol="0" anchor="t">
            <a:normAutofit/>
          </a:bodyPr>
          <a:lstStyle/>
          <a:p>
            <a:pPr marL="0" indent="0">
              <a:buNone/>
            </a:pPr>
            <a:r>
              <a:rPr lang="en-US" sz="1320" b="1" dirty="0">
                <a:solidFill>
                  <a:srgbClr val="157347"/>
                </a:solidFill>
                <a:latin typeface="Arial" pitchFamily="34" charset="0"/>
                <a:ea typeface="Arial" pitchFamily="34" charset="-122"/>
                <a:cs typeface="Arial" pitchFamily="34" charset="-120"/>
              </a:rPr>
              <a:t>backtest.py</a:t>
            </a:r>
            <a:endParaRPr lang="en-US" sz="1320" dirty="0"/>
          </a:p>
        </p:txBody>
      </p:sp>
      <p:sp>
        <p:nvSpPr>
          <p:cNvPr id="25" name="Text 23"/>
          <p:cNvSpPr/>
          <p:nvPr/>
        </p:nvSpPr>
        <p:spPr>
          <a:xfrm>
            <a:off x="6437376" y="3813048"/>
            <a:ext cx="2103120" cy="804672"/>
          </a:xfrm>
          <a:prstGeom prst="rect">
            <a:avLst/>
          </a:prstGeom>
          <a:noFill/>
          <a:ln/>
        </p:spPr>
        <p:txBody>
          <a:bodyPr wrap="square" lIns="381" tIns="381" rIns="381" bIns="381" rtlCol="0" anchor="t">
            <a:normAutofit/>
          </a:bodyPr>
          <a:lstStyle/>
          <a:p>
            <a:pPr marL="0" indent="0">
              <a:buNone/>
            </a:pPr>
            <a:r>
              <a:rPr lang="en-US" sz="1180" dirty="0">
                <a:solidFill>
                  <a:srgbClr val="101828"/>
                </a:solidFill>
                <a:latin typeface="Arial" pitchFamily="34" charset="0"/>
                <a:ea typeface="Arial" pitchFamily="34" charset="-122"/>
                <a:cs typeface="Arial" pitchFamily="34" charset="-120"/>
              </a:rPr>
              <a:t>Walk-forward backtest engine</a:t>
            </a:r>
            <a:endParaRPr lang="en-US" sz="1180" dirty="0"/>
          </a:p>
        </p:txBody>
      </p:sp>
      <p:sp>
        <p:nvSpPr>
          <p:cNvPr id="26" name="Shape 24"/>
          <p:cNvSpPr/>
          <p:nvPr/>
        </p:nvSpPr>
        <p:spPr>
          <a:xfrm>
            <a:off x="9125712" y="3383280"/>
            <a:ext cx="2395728" cy="1325880"/>
          </a:xfrm>
          <a:prstGeom prst="rect">
            <a:avLst/>
          </a:prstGeom>
          <a:solidFill>
            <a:srgbClr val="F0FDF4"/>
          </a:solidFill>
          <a:ln w="12700">
            <a:solidFill>
              <a:srgbClr val="157347"/>
            </a:solidFill>
            <a:prstDash val="solid"/>
          </a:ln>
        </p:spPr>
      </p:sp>
      <p:sp>
        <p:nvSpPr>
          <p:cNvPr id="27" name="Text 25"/>
          <p:cNvSpPr/>
          <p:nvPr/>
        </p:nvSpPr>
        <p:spPr>
          <a:xfrm>
            <a:off x="9272016" y="3502152"/>
            <a:ext cx="2103120" cy="219456"/>
          </a:xfrm>
          <a:prstGeom prst="rect">
            <a:avLst/>
          </a:prstGeom>
          <a:noFill/>
          <a:ln/>
        </p:spPr>
        <p:txBody>
          <a:bodyPr wrap="square" lIns="381" tIns="381" rIns="381" bIns="381" rtlCol="0" anchor="t">
            <a:normAutofit/>
          </a:bodyPr>
          <a:lstStyle/>
          <a:p>
            <a:pPr marL="0" indent="0">
              <a:buNone/>
            </a:pPr>
            <a:r>
              <a:rPr lang="en-US" sz="1320" b="1" dirty="0">
                <a:solidFill>
                  <a:srgbClr val="157347"/>
                </a:solidFill>
                <a:latin typeface="Arial" pitchFamily="34" charset="0"/>
                <a:ea typeface="Arial" pitchFamily="34" charset="-122"/>
                <a:cs typeface="Arial" pitchFamily="34" charset="-120"/>
              </a:rPr>
              <a:t>evaluate.py</a:t>
            </a:r>
            <a:endParaRPr lang="en-US" sz="1320" dirty="0"/>
          </a:p>
        </p:txBody>
      </p:sp>
      <p:sp>
        <p:nvSpPr>
          <p:cNvPr id="28" name="Text 26"/>
          <p:cNvSpPr/>
          <p:nvPr/>
        </p:nvSpPr>
        <p:spPr>
          <a:xfrm>
            <a:off x="9272016" y="3813048"/>
            <a:ext cx="2103120" cy="804672"/>
          </a:xfrm>
          <a:prstGeom prst="rect">
            <a:avLst/>
          </a:prstGeom>
          <a:noFill/>
          <a:ln/>
        </p:spPr>
        <p:txBody>
          <a:bodyPr wrap="square" lIns="381" tIns="381" rIns="381" bIns="381" rtlCol="0" anchor="t">
            <a:normAutofit/>
          </a:bodyPr>
          <a:lstStyle/>
          <a:p>
            <a:pPr marL="0" indent="0">
              <a:buNone/>
            </a:pPr>
            <a:r>
              <a:rPr lang="en-US" sz="1180" dirty="0">
                <a:solidFill>
                  <a:srgbClr val="101828"/>
                </a:solidFill>
                <a:latin typeface="Arial" pitchFamily="34" charset="0"/>
                <a:ea typeface="Arial" pitchFamily="34" charset="-122"/>
                <a:cs typeface="Arial" pitchFamily="34" charset="-120"/>
              </a:rPr>
              <a:t>Script tổng xuất metrics, figures, checkpoint</a:t>
            </a:r>
            <a:endParaRPr lang="en-US" sz="1180" dirty="0"/>
          </a:p>
        </p:txBody>
      </p:sp>
      <p:sp>
        <p:nvSpPr>
          <p:cNvPr id="29" name="Text 27"/>
          <p:cNvSpPr/>
          <p:nvPr/>
        </p:nvSpPr>
        <p:spPr>
          <a:xfrm>
            <a:off x="868680" y="5669280"/>
            <a:ext cx="10241280" cy="274320"/>
          </a:xfrm>
          <a:prstGeom prst="rect">
            <a:avLst/>
          </a:prstGeom>
          <a:noFill/>
          <a:ln/>
        </p:spPr>
        <p:txBody>
          <a:bodyPr wrap="square" lIns="381" tIns="381" rIns="381" bIns="381" rtlCol="0" anchor="t">
            <a:normAutofit/>
          </a:bodyPr>
          <a:lstStyle/>
          <a:p>
            <a:pPr marL="0" indent="0" algn="ctr">
              <a:buNone/>
            </a:pPr>
            <a:r>
              <a:rPr lang="en-US" sz="1700" b="1" dirty="0">
                <a:solidFill>
                  <a:srgbClr val="157347"/>
                </a:solidFill>
                <a:latin typeface="Arial" pitchFamily="34" charset="0"/>
                <a:ea typeface="Arial" pitchFamily="34" charset="-122"/>
                <a:cs typeface="Arial" pitchFamily="34" charset="-120"/>
              </a:rPr>
              <a:t>Lệnh chạy tổng: python -m src.evaluate</a:t>
            </a:r>
            <a:endParaRPr lang="en-US" sz="1700" dirty="0"/>
          </a:p>
        </p:txBody>
      </p:sp>
      <p:sp>
        <p:nvSpPr>
          <p:cNvPr id="30" name="Slide Number Placeholder 0"/>
          <p:cNvSpPr>
            <a:spLocks noGrp="1"/>
          </p:cNvSpPr>
          <p:nvPr>
            <p:ph type="sldNum" sz="quarter" idx="4294967295"/>
          </p:nvPr>
        </p:nvSpPr>
        <p:spPr>
          <a:xfrm>
            <a:off x="11475720" y="6492240"/>
            <a:ext cx="800000" cy="300000"/>
          </a:xfrm>
          <a:prstGeom prst="rect">
            <a:avLst/>
          </a:prstGeom>
          <a:extLst>
            <a:ext uri="{C572A759-6A51-4108-AA02-DFA0A04FC94B}">
              <ma14:wrappingTextBoxFlag xmlns:ma14="http://schemas.microsoft.com/office/mac/drawingml/2011/main" xmlns="" val="0"/>
            </a:ext>
          </a:extLst>
        </p:spPr>
        <p:txBody>
          <a:bodyPr/>
          <a:lstStyle>
            <a:lvl1pPr>
              <a:defRPr sz="730">
                <a:solidFill>
                  <a:srgbClr val="667085"/>
                </a:solidFill>
                <a:latin typeface="Arial"/>
                <a:ea typeface="Arial"/>
                <a:cs typeface="Arial"/>
              </a:defRPr>
            </a:lvl1pPr>
          </a:lstStyle>
          <a:p>
            <a:pPr algn="l"/>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74320"/>
            <a:ext cx="7132320" cy="201168"/>
          </a:xfrm>
          <a:prstGeom prst="rect">
            <a:avLst/>
          </a:prstGeom>
          <a:noFill/>
          <a:ln/>
        </p:spPr>
        <p:txBody>
          <a:bodyPr wrap="square" lIns="0" tIns="0" rIns="0" bIns="0" rtlCol="0" anchor="ctr"/>
          <a:lstStyle/>
          <a:p>
            <a:pPr marL="0" indent="0">
              <a:buNone/>
            </a:pPr>
            <a:r>
              <a:rPr lang="en-US" sz="820" b="1" dirty="0">
                <a:solidFill>
                  <a:srgbClr val="667085"/>
                </a:solidFill>
                <a:latin typeface="Arial" pitchFamily="34" charset="0"/>
                <a:ea typeface="Arial" pitchFamily="34" charset="-122"/>
                <a:cs typeface="Arial" pitchFamily="34" charset="-120"/>
              </a:rPr>
              <a:t>EXPERIMENTAL DESIGN</a:t>
            </a:r>
            <a:endParaRPr lang="en-US" sz="820" dirty="0"/>
          </a:p>
        </p:txBody>
      </p:sp>
      <p:sp>
        <p:nvSpPr>
          <p:cNvPr id="3" name="Text 1"/>
          <p:cNvSpPr/>
          <p:nvPr/>
        </p:nvSpPr>
        <p:spPr>
          <a:xfrm>
            <a:off x="502920" y="512064"/>
            <a:ext cx="11155680" cy="566928"/>
          </a:xfrm>
          <a:prstGeom prst="rect">
            <a:avLst/>
          </a:prstGeom>
          <a:noFill/>
          <a:ln/>
        </p:spPr>
        <p:txBody>
          <a:bodyPr wrap="square" lIns="0" tIns="0" rIns="0" bIns="0" rtlCol="0" anchor="ctr">
            <a:normAutofit/>
          </a:bodyPr>
          <a:lstStyle/>
          <a:p>
            <a:pPr marL="0" indent="0">
              <a:buNone/>
            </a:pPr>
            <a:r>
              <a:rPr lang="en-US" sz="2700" b="1" dirty="0">
                <a:solidFill>
                  <a:srgbClr val="101828"/>
                </a:solidFill>
                <a:latin typeface="Arial" pitchFamily="34" charset="0"/>
                <a:ea typeface="Arial" pitchFamily="34" charset="-122"/>
                <a:cs typeface="Arial" pitchFamily="34" charset="-120"/>
              </a:rPr>
              <a:t>Thiết kế train/valid/test và chống rò rỉ dữ liệu</a:t>
            </a:r>
            <a:endParaRPr lang="en-US" sz="2700" dirty="0"/>
          </a:p>
        </p:txBody>
      </p:sp>
      <p:sp>
        <p:nvSpPr>
          <p:cNvPr id="4" name="Shape 2"/>
          <p:cNvSpPr/>
          <p:nvPr/>
        </p:nvSpPr>
        <p:spPr>
          <a:xfrm>
            <a:off x="502920" y="1152144"/>
            <a:ext cx="11155680" cy="0"/>
          </a:xfrm>
          <a:prstGeom prst="line">
            <a:avLst/>
          </a:prstGeom>
          <a:noFill/>
          <a:ln w="10160">
            <a:solidFill>
              <a:srgbClr val="D0D5DD"/>
            </a:solidFill>
            <a:prstDash val="solid"/>
          </a:ln>
        </p:spPr>
      </p:sp>
      <p:sp>
        <p:nvSpPr>
          <p:cNvPr id="5" name="Shape 3"/>
          <p:cNvSpPr/>
          <p:nvPr/>
        </p:nvSpPr>
        <p:spPr>
          <a:xfrm>
            <a:off x="731520" y="1417320"/>
            <a:ext cx="1965960" cy="932688"/>
          </a:xfrm>
          <a:prstGeom prst="rect">
            <a:avLst/>
          </a:prstGeom>
          <a:solidFill>
            <a:srgbClr val="F8FAFC"/>
          </a:solidFill>
          <a:ln w="10160">
            <a:solidFill>
              <a:srgbClr val="D0D5DD"/>
            </a:solidFill>
            <a:prstDash val="solid"/>
          </a:ln>
        </p:spPr>
      </p:sp>
      <p:sp>
        <p:nvSpPr>
          <p:cNvPr id="6" name="Text 4"/>
          <p:cNvSpPr/>
          <p:nvPr/>
        </p:nvSpPr>
        <p:spPr>
          <a:xfrm>
            <a:off x="850392" y="1536192"/>
            <a:ext cx="1728216" cy="310896"/>
          </a:xfrm>
          <a:prstGeom prst="rect">
            <a:avLst/>
          </a:prstGeom>
          <a:noFill/>
          <a:ln/>
        </p:spPr>
        <p:txBody>
          <a:bodyPr wrap="square" lIns="381" tIns="381" rIns="381" bIns="381" rtlCol="0" anchor="t">
            <a:normAutofit lnSpcReduction="10000"/>
          </a:bodyPr>
          <a:lstStyle/>
          <a:p>
            <a:pPr marL="0" indent="0" algn="ctr">
              <a:buNone/>
            </a:pPr>
            <a:r>
              <a:rPr lang="en-US" sz="2200" b="1" dirty="0">
                <a:solidFill>
                  <a:srgbClr val="175CD3"/>
                </a:solidFill>
                <a:latin typeface="Arial" pitchFamily="34" charset="0"/>
                <a:ea typeface="Arial" pitchFamily="34" charset="-122"/>
                <a:cs typeface="Arial" pitchFamily="34" charset="-120"/>
              </a:rPr>
              <a:t>1904</a:t>
            </a:r>
            <a:endParaRPr lang="en-US" sz="2200" dirty="0"/>
          </a:p>
        </p:txBody>
      </p:sp>
      <p:sp>
        <p:nvSpPr>
          <p:cNvPr id="7" name="Text 5"/>
          <p:cNvSpPr/>
          <p:nvPr/>
        </p:nvSpPr>
        <p:spPr>
          <a:xfrm>
            <a:off x="850392" y="1929384"/>
            <a:ext cx="1728216" cy="164592"/>
          </a:xfrm>
          <a:prstGeom prst="rect">
            <a:avLst/>
          </a:prstGeom>
          <a:noFill/>
          <a:ln/>
        </p:spPr>
        <p:txBody>
          <a:bodyPr wrap="square" lIns="381" tIns="381" rIns="381" bIns="381" rtlCol="0" anchor="t">
            <a:normAutofit/>
          </a:bodyPr>
          <a:lstStyle/>
          <a:p>
            <a:pPr marL="0" indent="0" algn="ctr">
              <a:buNone/>
            </a:pPr>
            <a:r>
              <a:rPr lang="en-US" sz="980" b="1" dirty="0">
                <a:solidFill>
                  <a:srgbClr val="101828"/>
                </a:solidFill>
                <a:latin typeface="Arial" pitchFamily="34" charset="0"/>
                <a:ea typeface="Arial" pitchFamily="34" charset="-122"/>
                <a:cs typeface="Arial" pitchFamily="34" charset="-120"/>
              </a:rPr>
              <a:t>Train</a:t>
            </a:r>
            <a:endParaRPr lang="en-US" sz="980" dirty="0"/>
          </a:p>
        </p:txBody>
      </p:sp>
      <p:sp>
        <p:nvSpPr>
          <p:cNvPr id="8" name="Text 6"/>
          <p:cNvSpPr/>
          <p:nvPr/>
        </p:nvSpPr>
        <p:spPr>
          <a:xfrm>
            <a:off x="850392" y="2121408"/>
            <a:ext cx="1728216" cy="128016"/>
          </a:xfrm>
          <a:prstGeom prst="rect">
            <a:avLst/>
          </a:prstGeom>
          <a:noFill/>
          <a:ln/>
        </p:spPr>
        <p:txBody>
          <a:bodyPr wrap="square" lIns="381" tIns="381" rIns="381" bIns="381" rtlCol="0" anchor="t">
            <a:normAutofit/>
          </a:bodyPr>
          <a:lstStyle/>
          <a:p>
            <a:pPr marL="0" indent="0" algn="ctr">
              <a:buNone/>
            </a:pPr>
            <a:r>
              <a:rPr lang="en-US" sz="760" dirty="0">
                <a:solidFill>
                  <a:srgbClr val="667085"/>
                </a:solidFill>
                <a:latin typeface="Arial" pitchFamily="34" charset="0"/>
                <a:ea typeface="Arial" pitchFamily="34" charset="-122"/>
                <a:cs typeface="Arial" pitchFamily="34" charset="-120"/>
              </a:rPr>
              <a:t>đến 2018</a:t>
            </a:r>
            <a:endParaRPr lang="en-US" sz="760" dirty="0"/>
          </a:p>
        </p:txBody>
      </p:sp>
      <p:sp>
        <p:nvSpPr>
          <p:cNvPr id="9" name="Shape 7"/>
          <p:cNvSpPr/>
          <p:nvPr/>
        </p:nvSpPr>
        <p:spPr>
          <a:xfrm>
            <a:off x="2907792" y="1417320"/>
            <a:ext cx="1965960" cy="932688"/>
          </a:xfrm>
          <a:prstGeom prst="rect">
            <a:avLst/>
          </a:prstGeom>
          <a:solidFill>
            <a:srgbClr val="F8FAFC"/>
          </a:solidFill>
          <a:ln w="10160">
            <a:solidFill>
              <a:srgbClr val="D0D5DD"/>
            </a:solidFill>
            <a:prstDash val="solid"/>
          </a:ln>
        </p:spPr>
      </p:sp>
      <p:sp>
        <p:nvSpPr>
          <p:cNvPr id="10" name="Text 8"/>
          <p:cNvSpPr/>
          <p:nvPr/>
        </p:nvSpPr>
        <p:spPr>
          <a:xfrm>
            <a:off x="3026664" y="1536192"/>
            <a:ext cx="1728216" cy="310896"/>
          </a:xfrm>
          <a:prstGeom prst="rect">
            <a:avLst/>
          </a:prstGeom>
          <a:noFill/>
          <a:ln/>
        </p:spPr>
        <p:txBody>
          <a:bodyPr wrap="square" lIns="381" tIns="381" rIns="381" bIns="381" rtlCol="0" anchor="t">
            <a:normAutofit lnSpcReduction="10000"/>
          </a:bodyPr>
          <a:lstStyle/>
          <a:p>
            <a:pPr marL="0" indent="0" algn="ctr">
              <a:buNone/>
            </a:pPr>
            <a:r>
              <a:rPr lang="en-US" sz="2200" b="1" dirty="0">
                <a:solidFill>
                  <a:srgbClr val="E46A11"/>
                </a:solidFill>
                <a:latin typeface="Arial" pitchFamily="34" charset="0"/>
                <a:ea typeface="Arial" pitchFamily="34" charset="-122"/>
                <a:cs typeface="Arial" pitchFamily="34" charset="-120"/>
              </a:rPr>
              <a:t>680</a:t>
            </a:r>
            <a:endParaRPr lang="en-US" sz="2200" dirty="0"/>
          </a:p>
        </p:txBody>
      </p:sp>
      <p:sp>
        <p:nvSpPr>
          <p:cNvPr id="11" name="Text 9"/>
          <p:cNvSpPr/>
          <p:nvPr/>
        </p:nvSpPr>
        <p:spPr>
          <a:xfrm>
            <a:off x="3026664" y="1929384"/>
            <a:ext cx="1728216" cy="164592"/>
          </a:xfrm>
          <a:prstGeom prst="rect">
            <a:avLst/>
          </a:prstGeom>
          <a:noFill/>
          <a:ln/>
        </p:spPr>
        <p:txBody>
          <a:bodyPr wrap="square" lIns="381" tIns="381" rIns="381" bIns="381" rtlCol="0" anchor="t">
            <a:normAutofit/>
          </a:bodyPr>
          <a:lstStyle/>
          <a:p>
            <a:pPr marL="0" indent="0" algn="ctr">
              <a:buNone/>
            </a:pPr>
            <a:r>
              <a:rPr lang="en-US" sz="980" b="1" dirty="0">
                <a:solidFill>
                  <a:srgbClr val="101828"/>
                </a:solidFill>
                <a:latin typeface="Arial" pitchFamily="34" charset="0"/>
                <a:ea typeface="Arial" pitchFamily="34" charset="-122"/>
                <a:cs typeface="Arial" pitchFamily="34" charset="-120"/>
              </a:rPr>
              <a:t>Valid</a:t>
            </a:r>
            <a:endParaRPr lang="en-US" sz="980" dirty="0"/>
          </a:p>
        </p:txBody>
      </p:sp>
      <p:sp>
        <p:nvSpPr>
          <p:cNvPr id="12" name="Text 10"/>
          <p:cNvSpPr/>
          <p:nvPr/>
        </p:nvSpPr>
        <p:spPr>
          <a:xfrm>
            <a:off x="3026664" y="2121408"/>
            <a:ext cx="1728216" cy="128016"/>
          </a:xfrm>
          <a:prstGeom prst="rect">
            <a:avLst/>
          </a:prstGeom>
          <a:noFill/>
          <a:ln/>
        </p:spPr>
        <p:txBody>
          <a:bodyPr wrap="square" lIns="381" tIns="381" rIns="381" bIns="381" rtlCol="0" anchor="t">
            <a:normAutofit/>
          </a:bodyPr>
          <a:lstStyle/>
          <a:p>
            <a:pPr marL="0" indent="0" algn="ctr">
              <a:buNone/>
            </a:pPr>
            <a:r>
              <a:rPr lang="en-US" sz="760" dirty="0">
                <a:solidFill>
                  <a:srgbClr val="667085"/>
                </a:solidFill>
                <a:latin typeface="Arial" pitchFamily="34" charset="0"/>
                <a:ea typeface="Arial" pitchFamily="34" charset="-122"/>
                <a:cs typeface="Arial" pitchFamily="34" charset="-120"/>
              </a:rPr>
              <a:t>đến 2021</a:t>
            </a:r>
            <a:endParaRPr lang="en-US" sz="760" dirty="0"/>
          </a:p>
        </p:txBody>
      </p:sp>
      <p:sp>
        <p:nvSpPr>
          <p:cNvPr id="13" name="Shape 11"/>
          <p:cNvSpPr/>
          <p:nvPr/>
        </p:nvSpPr>
        <p:spPr>
          <a:xfrm>
            <a:off x="5084064" y="1417320"/>
            <a:ext cx="1965960" cy="932688"/>
          </a:xfrm>
          <a:prstGeom prst="rect">
            <a:avLst/>
          </a:prstGeom>
          <a:solidFill>
            <a:srgbClr val="F8FAFC"/>
          </a:solidFill>
          <a:ln w="10160">
            <a:solidFill>
              <a:srgbClr val="D0D5DD"/>
            </a:solidFill>
            <a:prstDash val="solid"/>
          </a:ln>
        </p:spPr>
      </p:sp>
      <p:sp>
        <p:nvSpPr>
          <p:cNvPr id="14" name="Text 12"/>
          <p:cNvSpPr/>
          <p:nvPr/>
        </p:nvSpPr>
        <p:spPr>
          <a:xfrm>
            <a:off x="5202936" y="1536192"/>
            <a:ext cx="1728216" cy="310896"/>
          </a:xfrm>
          <a:prstGeom prst="rect">
            <a:avLst/>
          </a:prstGeom>
          <a:noFill/>
          <a:ln/>
        </p:spPr>
        <p:txBody>
          <a:bodyPr wrap="square" lIns="381" tIns="381" rIns="381" bIns="381" rtlCol="0" anchor="t">
            <a:normAutofit lnSpcReduction="10000"/>
          </a:bodyPr>
          <a:lstStyle/>
          <a:p>
            <a:pPr marL="0" indent="0" algn="ctr">
              <a:buNone/>
            </a:pPr>
            <a:r>
              <a:rPr lang="en-US" sz="2200" b="1" dirty="0">
                <a:solidFill>
                  <a:srgbClr val="157347"/>
                </a:solidFill>
                <a:latin typeface="Arial" pitchFamily="34" charset="0"/>
                <a:ea typeface="Arial" pitchFamily="34" charset="-122"/>
                <a:cs typeface="Arial" pitchFamily="34" charset="-120"/>
              </a:rPr>
              <a:t>1044</a:t>
            </a:r>
            <a:endParaRPr lang="en-US" sz="2200" dirty="0"/>
          </a:p>
        </p:txBody>
      </p:sp>
      <p:sp>
        <p:nvSpPr>
          <p:cNvPr id="15" name="Text 13"/>
          <p:cNvSpPr/>
          <p:nvPr/>
        </p:nvSpPr>
        <p:spPr>
          <a:xfrm>
            <a:off x="5202936" y="1929384"/>
            <a:ext cx="1728216" cy="164592"/>
          </a:xfrm>
          <a:prstGeom prst="rect">
            <a:avLst/>
          </a:prstGeom>
          <a:noFill/>
          <a:ln/>
        </p:spPr>
        <p:txBody>
          <a:bodyPr wrap="square" lIns="381" tIns="381" rIns="381" bIns="381" rtlCol="0" anchor="t">
            <a:normAutofit/>
          </a:bodyPr>
          <a:lstStyle/>
          <a:p>
            <a:pPr marL="0" indent="0" algn="ctr">
              <a:buNone/>
            </a:pPr>
            <a:r>
              <a:rPr lang="en-US" sz="980" b="1" dirty="0">
                <a:solidFill>
                  <a:srgbClr val="101828"/>
                </a:solidFill>
                <a:latin typeface="Arial" pitchFamily="34" charset="0"/>
                <a:ea typeface="Arial" pitchFamily="34" charset="-122"/>
                <a:cs typeface="Arial" pitchFamily="34" charset="-120"/>
              </a:rPr>
              <a:t>Test</a:t>
            </a:r>
            <a:endParaRPr lang="en-US" sz="980" dirty="0"/>
          </a:p>
        </p:txBody>
      </p:sp>
      <p:sp>
        <p:nvSpPr>
          <p:cNvPr id="16" name="Text 14"/>
          <p:cNvSpPr/>
          <p:nvPr/>
        </p:nvSpPr>
        <p:spPr>
          <a:xfrm>
            <a:off x="5202936" y="2121408"/>
            <a:ext cx="1728216" cy="128016"/>
          </a:xfrm>
          <a:prstGeom prst="rect">
            <a:avLst/>
          </a:prstGeom>
          <a:noFill/>
          <a:ln/>
        </p:spPr>
        <p:txBody>
          <a:bodyPr wrap="square" lIns="381" tIns="381" rIns="381" bIns="381" rtlCol="0" anchor="t">
            <a:normAutofit/>
          </a:bodyPr>
          <a:lstStyle/>
          <a:p>
            <a:pPr marL="0" indent="0" algn="ctr">
              <a:buNone/>
            </a:pPr>
            <a:r>
              <a:rPr lang="en-US" sz="760" dirty="0">
                <a:solidFill>
                  <a:srgbClr val="667085"/>
                </a:solidFill>
                <a:latin typeface="Arial" pitchFamily="34" charset="0"/>
                <a:ea typeface="Arial" pitchFamily="34" charset="-122"/>
                <a:cs typeface="Arial" pitchFamily="34" charset="-120"/>
              </a:rPr>
              <a:t>ngoài mẫu</a:t>
            </a:r>
            <a:endParaRPr lang="en-US" sz="760" dirty="0"/>
          </a:p>
        </p:txBody>
      </p:sp>
      <p:sp>
        <p:nvSpPr>
          <p:cNvPr id="17" name="Shape 15"/>
          <p:cNvSpPr/>
          <p:nvPr/>
        </p:nvSpPr>
        <p:spPr>
          <a:xfrm>
            <a:off x="7260336" y="1417320"/>
            <a:ext cx="1965960" cy="932688"/>
          </a:xfrm>
          <a:prstGeom prst="rect">
            <a:avLst/>
          </a:prstGeom>
          <a:solidFill>
            <a:srgbClr val="F8FAFC"/>
          </a:solidFill>
          <a:ln w="10160">
            <a:solidFill>
              <a:srgbClr val="D0D5DD"/>
            </a:solidFill>
            <a:prstDash val="solid"/>
          </a:ln>
        </p:spPr>
      </p:sp>
      <p:sp>
        <p:nvSpPr>
          <p:cNvPr id="18" name="Text 16"/>
          <p:cNvSpPr/>
          <p:nvPr/>
        </p:nvSpPr>
        <p:spPr>
          <a:xfrm>
            <a:off x="7379208" y="1536192"/>
            <a:ext cx="1728216" cy="310896"/>
          </a:xfrm>
          <a:prstGeom prst="rect">
            <a:avLst/>
          </a:prstGeom>
          <a:noFill/>
          <a:ln/>
        </p:spPr>
        <p:txBody>
          <a:bodyPr wrap="square" lIns="381" tIns="381" rIns="381" bIns="381" rtlCol="0" anchor="t">
            <a:normAutofit lnSpcReduction="10000"/>
          </a:bodyPr>
          <a:lstStyle/>
          <a:p>
            <a:pPr marL="0" indent="0" algn="ctr">
              <a:buNone/>
            </a:pPr>
            <a:r>
              <a:rPr lang="en-US" sz="2200" b="1" dirty="0">
                <a:solidFill>
                  <a:srgbClr val="B42318"/>
                </a:solidFill>
                <a:latin typeface="Arial" pitchFamily="34" charset="0"/>
                <a:ea typeface="Arial" pitchFamily="34" charset="-122"/>
                <a:cs typeface="Arial" pitchFamily="34" charset="-120"/>
              </a:rPr>
              <a:t>81</a:t>
            </a:r>
            <a:endParaRPr lang="en-US" sz="2200" dirty="0"/>
          </a:p>
        </p:txBody>
      </p:sp>
      <p:sp>
        <p:nvSpPr>
          <p:cNvPr id="19" name="Text 17"/>
          <p:cNvSpPr/>
          <p:nvPr/>
        </p:nvSpPr>
        <p:spPr>
          <a:xfrm>
            <a:off x="7379208" y="1929384"/>
            <a:ext cx="1728216" cy="164592"/>
          </a:xfrm>
          <a:prstGeom prst="rect">
            <a:avLst/>
          </a:prstGeom>
          <a:noFill/>
          <a:ln/>
        </p:spPr>
        <p:txBody>
          <a:bodyPr wrap="square" lIns="381" tIns="381" rIns="381" bIns="381" rtlCol="0" anchor="t">
            <a:normAutofit/>
          </a:bodyPr>
          <a:lstStyle/>
          <a:p>
            <a:pPr marL="0" indent="0" algn="ctr">
              <a:buNone/>
            </a:pPr>
            <a:r>
              <a:rPr lang="en-US" sz="980" b="1" dirty="0">
                <a:solidFill>
                  <a:srgbClr val="101828"/>
                </a:solidFill>
                <a:latin typeface="Arial" pitchFamily="34" charset="0"/>
                <a:ea typeface="Arial" pitchFamily="34" charset="-122"/>
                <a:cs typeface="Arial" pitchFamily="34" charset="-120"/>
              </a:rPr>
              <a:t>Embargo</a:t>
            </a:r>
            <a:endParaRPr lang="en-US" sz="980" dirty="0"/>
          </a:p>
        </p:txBody>
      </p:sp>
      <p:sp>
        <p:nvSpPr>
          <p:cNvPr id="20" name="Text 18"/>
          <p:cNvSpPr/>
          <p:nvPr/>
        </p:nvSpPr>
        <p:spPr>
          <a:xfrm>
            <a:off x="7379208" y="2121408"/>
            <a:ext cx="1728216" cy="128016"/>
          </a:xfrm>
          <a:prstGeom prst="rect">
            <a:avLst/>
          </a:prstGeom>
          <a:noFill/>
          <a:ln/>
        </p:spPr>
        <p:txBody>
          <a:bodyPr wrap="square" lIns="381" tIns="381" rIns="381" bIns="381" rtlCol="0" anchor="t">
            <a:normAutofit/>
          </a:bodyPr>
          <a:lstStyle/>
          <a:p>
            <a:pPr marL="0" indent="0" algn="ctr">
              <a:buNone/>
            </a:pPr>
            <a:r>
              <a:rPr lang="en-US" sz="760" dirty="0">
                <a:solidFill>
                  <a:srgbClr val="667085"/>
                </a:solidFill>
                <a:latin typeface="Arial" pitchFamily="34" charset="0"/>
                <a:ea typeface="Arial" pitchFamily="34" charset="-122"/>
                <a:cs typeface="Arial" pitchFamily="34" charset="-120"/>
              </a:rPr>
              <a:t>60 + 21</a:t>
            </a:r>
            <a:endParaRPr lang="en-US" sz="760" dirty="0"/>
          </a:p>
        </p:txBody>
      </p:sp>
      <p:sp>
        <p:nvSpPr>
          <p:cNvPr id="21" name="Shape 19"/>
          <p:cNvSpPr/>
          <p:nvPr/>
        </p:nvSpPr>
        <p:spPr>
          <a:xfrm>
            <a:off x="9436608" y="1417320"/>
            <a:ext cx="1965960" cy="932688"/>
          </a:xfrm>
          <a:prstGeom prst="rect">
            <a:avLst/>
          </a:prstGeom>
          <a:solidFill>
            <a:srgbClr val="F8FAFC"/>
          </a:solidFill>
          <a:ln w="10160">
            <a:solidFill>
              <a:srgbClr val="D0D5DD"/>
            </a:solidFill>
            <a:prstDash val="solid"/>
          </a:ln>
        </p:spPr>
      </p:sp>
      <p:sp>
        <p:nvSpPr>
          <p:cNvPr id="22" name="Text 20"/>
          <p:cNvSpPr/>
          <p:nvPr/>
        </p:nvSpPr>
        <p:spPr>
          <a:xfrm>
            <a:off x="9555480" y="1536192"/>
            <a:ext cx="1728216" cy="310896"/>
          </a:xfrm>
          <a:prstGeom prst="rect">
            <a:avLst/>
          </a:prstGeom>
          <a:noFill/>
          <a:ln/>
        </p:spPr>
        <p:txBody>
          <a:bodyPr wrap="square" lIns="381" tIns="381" rIns="381" bIns="381" rtlCol="0" anchor="t">
            <a:normAutofit lnSpcReduction="10000"/>
          </a:bodyPr>
          <a:lstStyle/>
          <a:p>
            <a:pPr marL="0" indent="0" algn="ctr">
              <a:buNone/>
            </a:pPr>
            <a:r>
              <a:rPr lang="en-US" sz="2200" b="1" dirty="0">
                <a:solidFill>
                  <a:srgbClr val="6941C6"/>
                </a:solidFill>
                <a:latin typeface="Arial" pitchFamily="34" charset="0"/>
                <a:ea typeface="Arial" pitchFamily="34" charset="-122"/>
                <a:cs typeface="Arial" pitchFamily="34" charset="-120"/>
              </a:rPr>
              <a:t>50</a:t>
            </a:r>
            <a:endParaRPr lang="en-US" sz="2200" dirty="0"/>
          </a:p>
        </p:txBody>
      </p:sp>
      <p:sp>
        <p:nvSpPr>
          <p:cNvPr id="23" name="Text 21"/>
          <p:cNvSpPr/>
          <p:nvPr/>
        </p:nvSpPr>
        <p:spPr>
          <a:xfrm>
            <a:off x="9555480" y="1929384"/>
            <a:ext cx="1728216" cy="164592"/>
          </a:xfrm>
          <a:prstGeom prst="rect">
            <a:avLst/>
          </a:prstGeom>
          <a:noFill/>
          <a:ln/>
        </p:spPr>
        <p:txBody>
          <a:bodyPr wrap="square" lIns="381" tIns="381" rIns="381" bIns="381" rtlCol="0" anchor="t">
            <a:normAutofit/>
          </a:bodyPr>
          <a:lstStyle/>
          <a:p>
            <a:pPr marL="0" indent="0" algn="ctr">
              <a:buNone/>
            </a:pPr>
            <a:r>
              <a:rPr lang="en-US" sz="980" b="1" dirty="0">
                <a:solidFill>
                  <a:srgbClr val="101828"/>
                </a:solidFill>
                <a:latin typeface="Arial" pitchFamily="34" charset="0"/>
                <a:ea typeface="Arial" pitchFamily="34" charset="-122"/>
                <a:cs typeface="Arial" pitchFamily="34" charset="-120"/>
              </a:rPr>
              <a:t>Rebalance</a:t>
            </a:r>
            <a:endParaRPr lang="en-US" sz="980" dirty="0"/>
          </a:p>
        </p:txBody>
      </p:sp>
      <p:sp>
        <p:nvSpPr>
          <p:cNvPr id="24" name="Text 22"/>
          <p:cNvSpPr/>
          <p:nvPr/>
        </p:nvSpPr>
        <p:spPr>
          <a:xfrm>
            <a:off x="9555480" y="2121408"/>
            <a:ext cx="1728216" cy="128016"/>
          </a:xfrm>
          <a:prstGeom prst="rect">
            <a:avLst/>
          </a:prstGeom>
          <a:noFill/>
          <a:ln/>
        </p:spPr>
        <p:txBody>
          <a:bodyPr wrap="square" lIns="381" tIns="381" rIns="381" bIns="381" rtlCol="0" anchor="t">
            <a:normAutofit/>
          </a:bodyPr>
          <a:lstStyle/>
          <a:p>
            <a:pPr marL="0" indent="0" algn="ctr">
              <a:buNone/>
            </a:pPr>
            <a:r>
              <a:rPr lang="en-US" sz="760" dirty="0">
                <a:solidFill>
                  <a:srgbClr val="667085"/>
                </a:solidFill>
                <a:latin typeface="Arial" pitchFamily="34" charset="0"/>
                <a:ea typeface="Arial" pitchFamily="34" charset="-122"/>
                <a:cs typeface="Arial" pitchFamily="34" charset="-120"/>
              </a:rPr>
              <a:t>test</a:t>
            </a:r>
            <a:endParaRPr lang="en-US" sz="760" dirty="0"/>
          </a:p>
        </p:txBody>
      </p:sp>
      <p:sp>
        <p:nvSpPr>
          <p:cNvPr id="25" name="Shape 23"/>
          <p:cNvSpPr/>
          <p:nvPr/>
        </p:nvSpPr>
        <p:spPr>
          <a:xfrm>
            <a:off x="804672" y="2880360"/>
            <a:ext cx="3337560" cy="1417320"/>
          </a:xfrm>
          <a:prstGeom prst="rect">
            <a:avLst/>
          </a:prstGeom>
          <a:solidFill>
            <a:srgbClr val="EEF6FF"/>
          </a:solidFill>
          <a:ln w="12700">
            <a:solidFill>
              <a:srgbClr val="175CD3"/>
            </a:solidFill>
            <a:prstDash val="solid"/>
          </a:ln>
        </p:spPr>
      </p:sp>
      <p:sp>
        <p:nvSpPr>
          <p:cNvPr id="26" name="Text 24"/>
          <p:cNvSpPr/>
          <p:nvPr/>
        </p:nvSpPr>
        <p:spPr>
          <a:xfrm>
            <a:off x="950976" y="2999232"/>
            <a:ext cx="3044952" cy="219456"/>
          </a:xfrm>
          <a:prstGeom prst="rect">
            <a:avLst/>
          </a:prstGeom>
          <a:noFill/>
          <a:ln/>
        </p:spPr>
        <p:txBody>
          <a:bodyPr wrap="square" lIns="381" tIns="381" rIns="381" bIns="381" rtlCol="0" anchor="t">
            <a:normAutofit/>
          </a:bodyPr>
          <a:lstStyle/>
          <a:p>
            <a:pPr marL="0" indent="0">
              <a:buNone/>
            </a:pPr>
            <a:r>
              <a:rPr lang="en-US" sz="1320" b="1" dirty="0">
                <a:solidFill>
                  <a:srgbClr val="175CD3"/>
                </a:solidFill>
                <a:latin typeface="Arial" pitchFamily="34" charset="0"/>
                <a:ea typeface="Arial" pitchFamily="34" charset="-122"/>
                <a:cs typeface="Arial" pitchFamily="34" charset="-120"/>
              </a:rPr>
              <a:t>Không random split</a:t>
            </a:r>
            <a:endParaRPr lang="en-US" sz="1320" dirty="0"/>
          </a:p>
        </p:txBody>
      </p:sp>
      <p:sp>
        <p:nvSpPr>
          <p:cNvPr id="27" name="Text 25"/>
          <p:cNvSpPr/>
          <p:nvPr/>
        </p:nvSpPr>
        <p:spPr>
          <a:xfrm>
            <a:off x="950976" y="3310128"/>
            <a:ext cx="3044952" cy="896112"/>
          </a:xfrm>
          <a:prstGeom prst="rect">
            <a:avLst/>
          </a:prstGeom>
          <a:noFill/>
          <a:ln/>
        </p:spPr>
        <p:txBody>
          <a:bodyPr wrap="square" lIns="381" tIns="381" rIns="381" bIns="381" rtlCol="0" anchor="t">
            <a:normAutofit/>
          </a:bodyPr>
          <a:lstStyle/>
          <a:p>
            <a:pPr marL="0" indent="0">
              <a:buNone/>
            </a:pPr>
            <a:r>
              <a:rPr lang="en-US" sz="1180" dirty="0">
                <a:solidFill>
                  <a:srgbClr val="101828"/>
                </a:solidFill>
                <a:latin typeface="Arial" pitchFamily="34" charset="0"/>
                <a:ea typeface="Arial" pitchFamily="34" charset="-122"/>
                <a:cs typeface="Arial" pitchFamily="34" charset="-120"/>
              </a:rPr>
              <a:t>Giữ đúng trật tự thời gian của dữ liệu tài chính.</a:t>
            </a:r>
            <a:endParaRPr lang="en-US" sz="1180" dirty="0"/>
          </a:p>
        </p:txBody>
      </p:sp>
      <p:sp>
        <p:nvSpPr>
          <p:cNvPr id="28" name="Shape 26"/>
          <p:cNvSpPr/>
          <p:nvPr/>
        </p:nvSpPr>
        <p:spPr>
          <a:xfrm>
            <a:off x="4443984" y="2880360"/>
            <a:ext cx="3337560" cy="1417320"/>
          </a:xfrm>
          <a:prstGeom prst="rect">
            <a:avLst/>
          </a:prstGeom>
          <a:solidFill>
            <a:srgbClr val="F0FDF4"/>
          </a:solidFill>
          <a:ln w="12700">
            <a:solidFill>
              <a:srgbClr val="157347"/>
            </a:solidFill>
            <a:prstDash val="solid"/>
          </a:ln>
        </p:spPr>
      </p:sp>
      <p:sp>
        <p:nvSpPr>
          <p:cNvPr id="29" name="Text 27"/>
          <p:cNvSpPr/>
          <p:nvPr/>
        </p:nvSpPr>
        <p:spPr>
          <a:xfrm>
            <a:off x="4590288" y="2999232"/>
            <a:ext cx="3044952" cy="219456"/>
          </a:xfrm>
          <a:prstGeom prst="rect">
            <a:avLst/>
          </a:prstGeom>
          <a:noFill/>
          <a:ln/>
        </p:spPr>
        <p:txBody>
          <a:bodyPr wrap="square" lIns="381" tIns="381" rIns="381" bIns="381" rtlCol="0" anchor="t">
            <a:normAutofit/>
          </a:bodyPr>
          <a:lstStyle/>
          <a:p>
            <a:pPr marL="0" indent="0">
              <a:buNone/>
            </a:pPr>
            <a:r>
              <a:rPr lang="en-US" sz="1320" b="1" dirty="0">
                <a:solidFill>
                  <a:srgbClr val="157347"/>
                </a:solidFill>
                <a:latin typeface="Arial" pitchFamily="34" charset="0"/>
                <a:ea typeface="Arial" pitchFamily="34" charset="-122"/>
                <a:cs typeface="Arial" pitchFamily="34" charset="-120"/>
              </a:rPr>
              <a:t>Feature trailing</a:t>
            </a:r>
            <a:endParaRPr lang="en-US" sz="1320" dirty="0"/>
          </a:p>
        </p:txBody>
      </p:sp>
      <p:sp>
        <p:nvSpPr>
          <p:cNvPr id="30" name="Text 28"/>
          <p:cNvSpPr/>
          <p:nvPr/>
        </p:nvSpPr>
        <p:spPr>
          <a:xfrm>
            <a:off x="4590288" y="3310128"/>
            <a:ext cx="3044952" cy="896112"/>
          </a:xfrm>
          <a:prstGeom prst="rect">
            <a:avLst/>
          </a:prstGeom>
          <a:noFill/>
          <a:ln/>
        </p:spPr>
        <p:txBody>
          <a:bodyPr wrap="square" lIns="381" tIns="381" rIns="381" bIns="381" rtlCol="0" anchor="t">
            <a:normAutofit/>
          </a:bodyPr>
          <a:lstStyle/>
          <a:p>
            <a:pPr marL="0" indent="0">
              <a:buNone/>
            </a:pPr>
            <a:r>
              <a:rPr lang="en-US" sz="1180" dirty="0">
                <a:solidFill>
                  <a:srgbClr val="101828"/>
                </a:solidFill>
                <a:latin typeface="Arial" pitchFamily="34" charset="0"/>
                <a:ea typeface="Arial" pitchFamily="34" charset="-122"/>
                <a:cs typeface="Arial" pitchFamily="34" charset="-120"/>
              </a:rPr>
              <a:t>Input tại thời điểm t không chứa dữ liệu sau t.</a:t>
            </a:r>
            <a:endParaRPr lang="en-US" sz="1180" dirty="0"/>
          </a:p>
        </p:txBody>
      </p:sp>
      <p:sp>
        <p:nvSpPr>
          <p:cNvPr id="31" name="Shape 29"/>
          <p:cNvSpPr/>
          <p:nvPr/>
        </p:nvSpPr>
        <p:spPr>
          <a:xfrm>
            <a:off x="8083296" y="2880360"/>
            <a:ext cx="3337560" cy="1417320"/>
          </a:xfrm>
          <a:prstGeom prst="rect">
            <a:avLst/>
          </a:prstGeom>
          <a:solidFill>
            <a:srgbClr val="FFF7ED"/>
          </a:solidFill>
          <a:ln w="12700">
            <a:solidFill>
              <a:srgbClr val="E46A11"/>
            </a:solidFill>
            <a:prstDash val="solid"/>
          </a:ln>
        </p:spPr>
      </p:sp>
      <p:sp>
        <p:nvSpPr>
          <p:cNvPr id="32" name="Text 30"/>
          <p:cNvSpPr/>
          <p:nvPr/>
        </p:nvSpPr>
        <p:spPr>
          <a:xfrm>
            <a:off x="8229600" y="2999232"/>
            <a:ext cx="3044952" cy="219456"/>
          </a:xfrm>
          <a:prstGeom prst="rect">
            <a:avLst/>
          </a:prstGeom>
          <a:noFill/>
          <a:ln/>
        </p:spPr>
        <p:txBody>
          <a:bodyPr wrap="square" lIns="381" tIns="381" rIns="381" bIns="381" rtlCol="0" anchor="t">
            <a:normAutofit/>
          </a:bodyPr>
          <a:lstStyle/>
          <a:p>
            <a:pPr marL="0" indent="0">
              <a:buNone/>
            </a:pPr>
            <a:r>
              <a:rPr lang="en-US" sz="1320" b="1" dirty="0">
                <a:solidFill>
                  <a:srgbClr val="E46A11"/>
                </a:solidFill>
                <a:latin typeface="Arial" pitchFamily="34" charset="0"/>
                <a:ea typeface="Arial" pitchFamily="34" charset="-122"/>
                <a:cs typeface="Arial" pitchFamily="34" charset="-120"/>
              </a:rPr>
              <a:t>Không tune trên test</a:t>
            </a:r>
            <a:endParaRPr lang="en-US" sz="1320" dirty="0"/>
          </a:p>
        </p:txBody>
      </p:sp>
      <p:sp>
        <p:nvSpPr>
          <p:cNvPr id="33" name="Text 31"/>
          <p:cNvSpPr/>
          <p:nvPr/>
        </p:nvSpPr>
        <p:spPr>
          <a:xfrm>
            <a:off x="8229600" y="3310128"/>
            <a:ext cx="3044952" cy="896112"/>
          </a:xfrm>
          <a:prstGeom prst="rect">
            <a:avLst/>
          </a:prstGeom>
          <a:noFill/>
          <a:ln/>
        </p:spPr>
        <p:txBody>
          <a:bodyPr wrap="square" lIns="381" tIns="381" rIns="381" bIns="381" rtlCol="0" anchor="t">
            <a:normAutofit/>
          </a:bodyPr>
          <a:lstStyle/>
          <a:p>
            <a:pPr marL="0" indent="0">
              <a:buNone/>
            </a:pPr>
            <a:r>
              <a:rPr lang="en-US" sz="1180" dirty="0">
                <a:solidFill>
                  <a:srgbClr val="101828"/>
                </a:solidFill>
                <a:latin typeface="Arial" pitchFamily="34" charset="0"/>
                <a:ea typeface="Arial" pitchFamily="34" charset="-122"/>
                <a:cs typeface="Arial" pitchFamily="34" charset="-120"/>
              </a:rPr>
              <a:t>Mô hình fit trên train, early-stop bằng valid, test chỉ dùng đánh giá.</a:t>
            </a:r>
            <a:endParaRPr lang="en-US" sz="1180" dirty="0"/>
          </a:p>
        </p:txBody>
      </p:sp>
      <p:sp>
        <p:nvSpPr>
          <p:cNvPr id="34" name="Text 32"/>
          <p:cNvSpPr/>
          <p:nvPr/>
        </p:nvSpPr>
        <p:spPr>
          <a:xfrm>
            <a:off x="914400" y="5166360"/>
            <a:ext cx="10058400" cy="329184"/>
          </a:xfrm>
          <a:prstGeom prst="rect">
            <a:avLst/>
          </a:prstGeom>
          <a:noFill/>
          <a:ln/>
        </p:spPr>
        <p:txBody>
          <a:bodyPr wrap="square" lIns="381" tIns="381" rIns="381" bIns="381" rtlCol="0" anchor="t">
            <a:normAutofit fontScale="92500"/>
          </a:bodyPr>
          <a:lstStyle/>
          <a:p>
            <a:pPr marL="0" indent="0" algn="ctr">
              <a:buNone/>
            </a:pPr>
            <a:r>
              <a:rPr lang="en-US" sz="1650" b="1" dirty="0">
                <a:solidFill>
                  <a:srgbClr val="B42318"/>
                </a:solidFill>
                <a:latin typeface="Arial" pitchFamily="34" charset="0"/>
                <a:ea typeface="Arial" pitchFamily="34" charset="-122"/>
                <a:cs typeface="Arial" pitchFamily="34" charset="-120"/>
              </a:rPr>
              <a:t>Embargo = LOOKBACK + HORIZON = 60 + 21 = 81 phiên để giảm overlap quanh ranh giới tập dữ liệu.</a:t>
            </a:r>
            <a:endParaRPr lang="en-US" sz="1650" dirty="0"/>
          </a:p>
        </p:txBody>
      </p:sp>
      <p:sp>
        <p:nvSpPr>
          <p:cNvPr id="35" name="Text 33"/>
          <p:cNvSpPr/>
          <p:nvPr/>
        </p:nvSpPr>
        <p:spPr>
          <a:xfrm>
            <a:off x="502920" y="6236208"/>
            <a:ext cx="10881360" cy="146304"/>
          </a:xfrm>
          <a:prstGeom prst="rect">
            <a:avLst/>
          </a:prstGeom>
          <a:noFill/>
          <a:ln/>
        </p:spPr>
        <p:txBody>
          <a:bodyPr wrap="square" lIns="381" tIns="381" rIns="381" bIns="381" rtlCol="0" anchor="t">
            <a:normAutofit/>
          </a:bodyPr>
          <a:lstStyle/>
          <a:p>
            <a:pPr marL="0" indent="0">
              <a:buNone/>
            </a:pPr>
            <a:r>
              <a:rPr lang="en-US" sz="730" dirty="0">
                <a:solidFill>
                  <a:srgbClr val="667085"/>
                </a:solidFill>
                <a:latin typeface="Arial" pitchFamily="34" charset="0"/>
                <a:ea typeface="Arial" pitchFamily="34" charset="-122"/>
                <a:cs typeface="Arial" pitchFamily="34" charset="-120"/>
              </a:rPr>
              <a:t>Nguồn: ai-portfolio-research/src/splits.py; src/train.py; results/run_meta.json</a:t>
            </a:r>
            <a:endParaRPr lang="en-US" sz="730" dirty="0"/>
          </a:p>
        </p:txBody>
      </p:sp>
      <p:sp>
        <p:nvSpPr>
          <p:cNvPr id="36" name="Slide Number Placeholder 0"/>
          <p:cNvSpPr>
            <a:spLocks noGrp="1"/>
          </p:cNvSpPr>
          <p:nvPr>
            <p:ph type="sldNum" sz="quarter" idx="4294967295"/>
          </p:nvPr>
        </p:nvSpPr>
        <p:spPr>
          <a:xfrm>
            <a:off x="11475720" y="6492240"/>
            <a:ext cx="800000" cy="300000"/>
          </a:xfrm>
          <a:prstGeom prst="rect">
            <a:avLst/>
          </a:prstGeom>
          <a:extLst>
            <a:ext uri="{C572A759-6A51-4108-AA02-DFA0A04FC94B}">
              <ma14:wrappingTextBoxFlag xmlns:ma14="http://schemas.microsoft.com/office/mac/drawingml/2011/main" xmlns="" val="0"/>
            </a:ext>
          </a:extLst>
        </p:spPr>
        <p:txBody>
          <a:bodyPr/>
          <a:lstStyle>
            <a:lvl1pPr>
              <a:defRPr sz="730">
                <a:solidFill>
                  <a:srgbClr val="667085"/>
                </a:solidFill>
                <a:latin typeface="Arial"/>
                <a:ea typeface="Arial"/>
                <a:cs typeface="Arial"/>
              </a:defRPr>
            </a:lvl1pPr>
          </a:lstStyle>
          <a:p>
            <a:pPr algn="l"/>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74320"/>
            <a:ext cx="7132320" cy="201168"/>
          </a:xfrm>
          <a:prstGeom prst="rect">
            <a:avLst/>
          </a:prstGeom>
          <a:noFill/>
          <a:ln/>
        </p:spPr>
        <p:txBody>
          <a:bodyPr wrap="square" lIns="0" tIns="0" rIns="0" bIns="0" rtlCol="0" anchor="ctr"/>
          <a:lstStyle/>
          <a:p>
            <a:pPr marL="0" indent="0">
              <a:buNone/>
            </a:pPr>
            <a:r>
              <a:rPr lang="en-US" sz="820" b="1" dirty="0">
                <a:solidFill>
                  <a:srgbClr val="667085"/>
                </a:solidFill>
                <a:latin typeface="Arial" pitchFamily="34" charset="0"/>
                <a:ea typeface="Arial" pitchFamily="34" charset="-122"/>
                <a:cs typeface="Arial" pitchFamily="34" charset="-120"/>
              </a:rPr>
              <a:t>MODELING</a:t>
            </a:r>
            <a:endParaRPr lang="en-US" sz="820" dirty="0"/>
          </a:p>
        </p:txBody>
      </p:sp>
      <p:sp>
        <p:nvSpPr>
          <p:cNvPr id="3" name="Text 1"/>
          <p:cNvSpPr/>
          <p:nvPr/>
        </p:nvSpPr>
        <p:spPr>
          <a:xfrm>
            <a:off x="502920" y="512064"/>
            <a:ext cx="11155680" cy="566928"/>
          </a:xfrm>
          <a:prstGeom prst="rect">
            <a:avLst/>
          </a:prstGeom>
          <a:noFill/>
          <a:ln/>
        </p:spPr>
        <p:txBody>
          <a:bodyPr wrap="square" lIns="0" tIns="0" rIns="0" bIns="0" rtlCol="0" anchor="ctr">
            <a:normAutofit/>
          </a:bodyPr>
          <a:lstStyle/>
          <a:p>
            <a:pPr marL="0" indent="0">
              <a:buNone/>
            </a:pPr>
            <a:r>
              <a:rPr lang="en-US" sz="2700" b="1" dirty="0">
                <a:solidFill>
                  <a:srgbClr val="101828"/>
                </a:solidFill>
                <a:latin typeface="Arial" pitchFamily="34" charset="0"/>
                <a:ea typeface="Arial" pitchFamily="34" charset="-122"/>
                <a:cs typeface="Arial" pitchFamily="34" charset="-120"/>
              </a:rPr>
              <a:t>Mô hình và baseline so sánh</a:t>
            </a:r>
            <a:endParaRPr lang="en-US" sz="2700" dirty="0"/>
          </a:p>
        </p:txBody>
      </p:sp>
      <p:sp>
        <p:nvSpPr>
          <p:cNvPr id="4" name="Shape 2"/>
          <p:cNvSpPr/>
          <p:nvPr/>
        </p:nvSpPr>
        <p:spPr>
          <a:xfrm>
            <a:off x="502920" y="1152144"/>
            <a:ext cx="11155680" cy="0"/>
          </a:xfrm>
          <a:prstGeom prst="line">
            <a:avLst/>
          </a:prstGeom>
          <a:noFill/>
          <a:ln w="10160">
            <a:solidFill>
              <a:srgbClr val="D0D5DD"/>
            </a:solidFill>
            <a:prstDash val="solid"/>
          </a:ln>
        </p:spPr>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8368" y="1389888"/>
          <a:ext cx="10881360" cy="3246120"/>
        </p:xfrm>
        <a:graphic>
          <a:graphicData uri="http://schemas.openxmlformats.org/drawingml/2006/table">
            <a:tbl>
              <a:tblPr/>
              <a:tblGrid>
                <a:gridCol w="1920240">
                  <a:extLst>
                    <a:ext uri="{9D8B030D-6E8A-4147-A177-3AD203B41FA5}">
                      <a16:colId xmlns:a16="http://schemas.microsoft.com/office/drawing/2014/main" val="20000"/>
                    </a:ext>
                  </a:extLst>
                </a:gridCol>
                <a:gridCol w="438912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tblGrid>
              <a:tr h="649224">
                <a:tc>
                  <a:txBody>
                    <a:bodyPr/>
                    <a:lstStyle/>
                    <a:p>
                      <a:pPr marL="0" indent="0">
                        <a:buNone/>
                      </a:pPr>
                      <a:r>
                        <a:rPr lang="en-US" sz="1270" dirty="0">
                          <a:solidFill>
                            <a:srgbClr val="101828"/>
                          </a:solidFill>
                          <a:latin typeface="Arial" pitchFamily="34" charset="0"/>
                          <a:ea typeface="Arial" pitchFamily="34" charset="-122"/>
                          <a:cs typeface="Arial" pitchFamily="34" charset="-120"/>
                        </a:rPr>
                        <a:t>Nhóm</a:t>
                      </a:r>
                      <a:endParaRPr lang="en-US" sz="127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270" dirty="0">
                          <a:solidFill>
                            <a:srgbClr val="101828"/>
                          </a:solidFill>
                          <a:latin typeface="Arial" pitchFamily="34" charset="0"/>
                          <a:ea typeface="Arial" pitchFamily="34" charset="-122"/>
                          <a:cs typeface="Arial" pitchFamily="34" charset="-120"/>
                        </a:rPr>
                        <a:t>Mô hình / chiến lược</a:t>
                      </a:r>
                      <a:endParaRPr lang="en-US" sz="127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270" dirty="0">
                          <a:solidFill>
                            <a:srgbClr val="101828"/>
                          </a:solidFill>
                          <a:latin typeface="Arial" pitchFamily="34" charset="0"/>
                          <a:ea typeface="Arial" pitchFamily="34" charset="-122"/>
                          <a:cs typeface="Arial" pitchFamily="34" charset="-120"/>
                        </a:rPr>
                        <a:t>Vai trò</a:t>
                      </a:r>
                      <a:endParaRPr lang="en-US" sz="127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extLst>
                  <a:ext uri="{0D108BD9-81ED-4DB2-BD59-A6C34878D82A}">
                    <a16:rowId xmlns:a16="http://schemas.microsoft.com/office/drawing/2014/main" val="10000"/>
                  </a:ext>
                </a:extLst>
              </a:tr>
              <a:tr h="649224">
                <a:tc>
                  <a:txBody>
                    <a:bodyPr/>
                    <a:lstStyle/>
                    <a:p>
                      <a:pPr marL="0" indent="0">
                        <a:buNone/>
                      </a:pPr>
                      <a:r>
                        <a:rPr lang="en-US" sz="1270" dirty="0">
                          <a:solidFill>
                            <a:srgbClr val="101828"/>
                          </a:solidFill>
                          <a:latin typeface="Arial" pitchFamily="34" charset="0"/>
                          <a:ea typeface="Arial" pitchFamily="34" charset="-122"/>
                          <a:cs typeface="Arial" pitchFamily="34" charset="-120"/>
                        </a:rPr>
                        <a:t>Rule-based</a:t>
                      </a:r>
                      <a:endParaRPr lang="en-US" sz="127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270" dirty="0">
                          <a:solidFill>
                            <a:srgbClr val="101828"/>
                          </a:solidFill>
                          <a:latin typeface="Arial" pitchFamily="34" charset="0"/>
                          <a:ea typeface="Arial" pitchFamily="34" charset="-122"/>
                          <a:cs typeface="Arial" pitchFamily="34" charset="-120"/>
                        </a:rPr>
                        <a:t>EqualWeight, RiskParity, 60/40</a:t>
                      </a:r>
                      <a:endParaRPr lang="en-US" sz="127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270" dirty="0">
                          <a:solidFill>
                            <a:srgbClr val="101828"/>
                          </a:solidFill>
                          <a:latin typeface="Arial" pitchFamily="34" charset="0"/>
                          <a:ea typeface="Arial" pitchFamily="34" charset="-122"/>
                          <a:cs typeface="Arial" pitchFamily="34" charset="-120"/>
                        </a:rPr>
                        <a:t>Mốc so sánh đơn giản, dễ tái lập</a:t>
                      </a:r>
                      <a:endParaRPr lang="en-US" sz="127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extLst>
                  <a:ext uri="{0D108BD9-81ED-4DB2-BD59-A6C34878D82A}">
                    <a16:rowId xmlns:a16="http://schemas.microsoft.com/office/drawing/2014/main" val="10001"/>
                  </a:ext>
                </a:extLst>
              </a:tr>
              <a:tr h="649224">
                <a:tc>
                  <a:txBody>
                    <a:bodyPr/>
                    <a:lstStyle/>
                    <a:p>
                      <a:pPr marL="0" indent="0">
                        <a:buNone/>
                      </a:pPr>
                      <a:r>
                        <a:rPr lang="en-US" sz="1270" dirty="0">
                          <a:solidFill>
                            <a:srgbClr val="101828"/>
                          </a:solidFill>
                          <a:latin typeface="Arial" pitchFamily="34" charset="0"/>
                          <a:ea typeface="Arial" pitchFamily="34" charset="-122"/>
                          <a:cs typeface="Arial" pitchFamily="34" charset="-120"/>
                        </a:rPr>
                        <a:t>Classical finance</a:t>
                      </a:r>
                      <a:endParaRPr lang="en-US" sz="127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270" dirty="0">
                          <a:solidFill>
                            <a:srgbClr val="101828"/>
                          </a:solidFill>
                          <a:latin typeface="Arial" pitchFamily="34" charset="0"/>
                          <a:ea typeface="Arial" pitchFamily="34" charset="-122"/>
                          <a:cs typeface="Arial" pitchFamily="34" charset="-120"/>
                        </a:rPr>
                        <a:t>Linear Regression, CAPM, APT_3Factor</a:t>
                      </a:r>
                      <a:endParaRPr lang="en-US" sz="127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270" dirty="0">
                          <a:solidFill>
                            <a:srgbClr val="101828"/>
                          </a:solidFill>
                          <a:latin typeface="Arial" pitchFamily="34" charset="0"/>
                          <a:ea typeface="Arial" pitchFamily="34" charset="-122"/>
                          <a:cs typeface="Arial" pitchFamily="34" charset="-120"/>
                        </a:rPr>
                        <a:t>Prior kinh tế/tài chính, baseline mạnh</a:t>
                      </a:r>
                      <a:endParaRPr lang="en-US" sz="127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extLst>
                  <a:ext uri="{0D108BD9-81ED-4DB2-BD59-A6C34878D82A}">
                    <a16:rowId xmlns:a16="http://schemas.microsoft.com/office/drawing/2014/main" val="10002"/>
                  </a:ext>
                </a:extLst>
              </a:tr>
              <a:tr h="649224">
                <a:tc>
                  <a:txBody>
                    <a:bodyPr/>
                    <a:lstStyle/>
                    <a:p>
                      <a:pPr marL="0" indent="0">
                        <a:buNone/>
                      </a:pPr>
                      <a:r>
                        <a:rPr lang="en-US" sz="1270" dirty="0">
                          <a:solidFill>
                            <a:srgbClr val="101828"/>
                          </a:solidFill>
                          <a:latin typeface="Arial" pitchFamily="34" charset="0"/>
                          <a:ea typeface="Arial" pitchFamily="34" charset="-122"/>
                          <a:cs typeface="Arial" pitchFamily="34" charset="-120"/>
                        </a:rPr>
                        <a:t>Deep learning</a:t>
                      </a:r>
                      <a:endParaRPr lang="en-US" sz="127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270" dirty="0">
                          <a:solidFill>
                            <a:srgbClr val="101828"/>
                          </a:solidFill>
                          <a:latin typeface="Arial" pitchFamily="34" charset="0"/>
                          <a:ea typeface="Arial" pitchFamily="34" charset="-122"/>
                          <a:cs typeface="Arial" pitchFamily="34" charset="-120"/>
                        </a:rPr>
                        <a:t>MLP, CNN, LSTM, GRU, Transformer</a:t>
                      </a:r>
                      <a:endParaRPr lang="en-US" sz="127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270" dirty="0">
                          <a:solidFill>
                            <a:srgbClr val="101828"/>
                          </a:solidFill>
                          <a:latin typeface="Arial" pitchFamily="34" charset="0"/>
                          <a:ea typeface="Arial" pitchFamily="34" charset="-122"/>
                          <a:cs typeface="Arial" pitchFamily="34" charset="-120"/>
                        </a:rPr>
                        <a:t>So sánh mô hình phi tuyến phổ biến</a:t>
                      </a:r>
                      <a:endParaRPr lang="en-US" sz="127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extLst>
                  <a:ext uri="{0D108BD9-81ED-4DB2-BD59-A6C34878D82A}">
                    <a16:rowId xmlns:a16="http://schemas.microsoft.com/office/drawing/2014/main" val="10003"/>
                  </a:ext>
                </a:extLst>
              </a:tr>
              <a:tr h="649224">
                <a:tc>
                  <a:txBody>
                    <a:bodyPr/>
                    <a:lstStyle/>
                    <a:p>
                      <a:pPr marL="0" indent="0">
                        <a:buNone/>
                      </a:pPr>
                      <a:r>
                        <a:rPr lang="en-US" sz="1270" dirty="0">
                          <a:solidFill>
                            <a:srgbClr val="101828"/>
                          </a:solidFill>
                          <a:latin typeface="Arial" pitchFamily="34" charset="0"/>
                          <a:ea typeface="Arial" pitchFamily="34" charset="-122"/>
                          <a:cs typeface="Arial" pitchFamily="34" charset="-120"/>
                        </a:rPr>
                        <a:t>Proposed</a:t>
                      </a:r>
                      <a:endParaRPr lang="en-US" sz="127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270" dirty="0">
                          <a:solidFill>
                            <a:srgbClr val="101828"/>
                          </a:solidFill>
                          <a:latin typeface="Arial" pitchFamily="34" charset="0"/>
                          <a:ea typeface="Arial" pitchFamily="34" charset="-122"/>
                          <a:cs typeface="Arial" pitchFamily="34" charset="-120"/>
                        </a:rPr>
                        <a:t>PA-Transformer A, A+B, A+B+C</a:t>
                      </a:r>
                      <a:endParaRPr lang="en-US" sz="127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270" dirty="0">
                          <a:solidFill>
                            <a:srgbClr val="101828"/>
                          </a:solidFill>
                          <a:latin typeface="Arial" pitchFamily="34" charset="0"/>
                          <a:ea typeface="Arial" pitchFamily="34" charset="-122"/>
                          <a:cs typeface="Arial" pitchFamily="34" charset="-120"/>
                        </a:rPr>
                        <a:t>Mô hình đề xuất và ablation study</a:t>
                      </a:r>
                      <a:endParaRPr lang="en-US" sz="127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6" name="Shape 3"/>
          <p:cNvSpPr/>
          <p:nvPr/>
        </p:nvSpPr>
        <p:spPr>
          <a:xfrm>
            <a:off x="914400" y="5074920"/>
            <a:ext cx="10287000" cy="640080"/>
          </a:xfrm>
          <a:prstGeom prst="rect">
            <a:avLst/>
          </a:prstGeom>
          <a:solidFill>
            <a:srgbClr val="F0FDF4"/>
          </a:solidFill>
          <a:ln w="12700">
            <a:solidFill>
              <a:srgbClr val="157347"/>
            </a:solidFill>
            <a:prstDash val="solid"/>
          </a:ln>
        </p:spPr>
      </p:sp>
      <p:sp>
        <p:nvSpPr>
          <p:cNvPr id="7" name="Text 4"/>
          <p:cNvSpPr/>
          <p:nvPr/>
        </p:nvSpPr>
        <p:spPr>
          <a:xfrm>
            <a:off x="1060704" y="5193792"/>
            <a:ext cx="9994392" cy="219456"/>
          </a:xfrm>
          <a:prstGeom prst="rect">
            <a:avLst/>
          </a:prstGeom>
          <a:noFill/>
          <a:ln/>
        </p:spPr>
        <p:txBody>
          <a:bodyPr wrap="square" lIns="381" tIns="381" rIns="381" bIns="381" rtlCol="0" anchor="t">
            <a:normAutofit/>
          </a:bodyPr>
          <a:lstStyle/>
          <a:p>
            <a:pPr marL="0" indent="0">
              <a:buNone/>
            </a:pPr>
            <a:r>
              <a:rPr lang="en-US" sz="1320" b="1" dirty="0">
                <a:solidFill>
                  <a:srgbClr val="157347"/>
                </a:solidFill>
                <a:latin typeface="Arial" pitchFamily="34" charset="0"/>
                <a:ea typeface="Arial" pitchFamily="34" charset="-122"/>
                <a:cs typeface="Arial" pitchFamily="34" charset="-120"/>
              </a:rPr>
              <a:t>Nguyên tắc đánh giá</a:t>
            </a:r>
            <a:endParaRPr lang="en-US" sz="1320" dirty="0"/>
          </a:p>
        </p:txBody>
      </p:sp>
      <p:sp>
        <p:nvSpPr>
          <p:cNvPr id="8" name="Text 5"/>
          <p:cNvSpPr/>
          <p:nvPr/>
        </p:nvSpPr>
        <p:spPr>
          <a:xfrm>
            <a:off x="1060704" y="5504688"/>
            <a:ext cx="9994392" cy="118872"/>
          </a:xfrm>
          <a:prstGeom prst="rect">
            <a:avLst/>
          </a:prstGeom>
          <a:noFill/>
          <a:ln/>
        </p:spPr>
        <p:txBody>
          <a:bodyPr wrap="square" lIns="381" tIns="381" rIns="381" bIns="381" rtlCol="0" anchor="t">
            <a:normAutofit fontScale="77500" lnSpcReduction="20000"/>
          </a:bodyPr>
          <a:lstStyle/>
          <a:p>
            <a:pPr marL="0" indent="0">
              <a:buNone/>
            </a:pPr>
            <a:r>
              <a:rPr lang="en-US" sz="1180" dirty="0">
                <a:solidFill>
                  <a:srgbClr val="101828"/>
                </a:solidFill>
                <a:latin typeface="Arial" pitchFamily="34" charset="0"/>
                <a:ea typeface="Arial" pitchFamily="34" charset="-122"/>
                <a:cs typeface="Arial" pitchFamily="34" charset="-120"/>
              </a:rPr>
              <a:t>Tất cả mô hình dùng cùng tập test và cùng backtest engine để bảo đảm so sánh công bằng.</a:t>
            </a:r>
            <a:endParaRPr lang="en-US" sz="1180" dirty="0"/>
          </a:p>
        </p:txBody>
      </p:sp>
      <p:sp>
        <p:nvSpPr>
          <p:cNvPr id="25" name="Slide Number Placeholder 0"/>
          <p:cNvSpPr>
            <a:spLocks noGrp="1"/>
          </p:cNvSpPr>
          <p:nvPr>
            <p:ph type="sldNum" sz="quarter" idx="4294967295"/>
          </p:nvPr>
        </p:nvSpPr>
        <p:spPr>
          <a:xfrm>
            <a:off x="11475720" y="6492240"/>
            <a:ext cx="800000" cy="300000"/>
          </a:xfrm>
          <a:prstGeom prst="rect">
            <a:avLst/>
          </a:prstGeom>
          <a:extLst>
            <a:ext uri="{C572A759-6A51-4108-AA02-DFA0A04FC94B}">
              <ma14:wrappingTextBoxFlag xmlns:ma14="http://schemas.microsoft.com/office/mac/drawingml/2011/main" xmlns="" val="0"/>
            </a:ext>
          </a:extLst>
        </p:spPr>
        <p:txBody>
          <a:bodyPr/>
          <a:lstStyle>
            <a:lvl1pPr>
              <a:defRPr sz="730">
                <a:solidFill>
                  <a:srgbClr val="667085"/>
                </a:solidFill>
                <a:latin typeface="Arial"/>
                <a:ea typeface="Arial"/>
                <a:cs typeface="Arial"/>
              </a:defRPr>
            </a:lvl1pPr>
          </a:lstStyle>
          <a:p>
            <a:pPr algn="l"/>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74320"/>
            <a:ext cx="7132320" cy="201168"/>
          </a:xfrm>
          <a:prstGeom prst="rect">
            <a:avLst/>
          </a:prstGeom>
          <a:noFill/>
          <a:ln/>
        </p:spPr>
        <p:txBody>
          <a:bodyPr wrap="square" lIns="0" tIns="0" rIns="0" bIns="0" rtlCol="0" anchor="ctr"/>
          <a:lstStyle/>
          <a:p>
            <a:pPr marL="0" indent="0">
              <a:buNone/>
            </a:pPr>
            <a:r>
              <a:rPr lang="en-US" sz="820" b="1" dirty="0">
                <a:solidFill>
                  <a:srgbClr val="667085"/>
                </a:solidFill>
                <a:latin typeface="Arial" pitchFamily="34" charset="0"/>
                <a:ea typeface="Arial" pitchFamily="34" charset="-122"/>
                <a:cs typeface="Arial" pitchFamily="34" charset="-120"/>
              </a:rPr>
              <a:t>PROPOSED MODEL</a:t>
            </a:r>
            <a:endParaRPr lang="en-US" sz="820" dirty="0"/>
          </a:p>
        </p:txBody>
      </p:sp>
      <p:sp>
        <p:nvSpPr>
          <p:cNvPr id="3" name="Text 1"/>
          <p:cNvSpPr/>
          <p:nvPr/>
        </p:nvSpPr>
        <p:spPr>
          <a:xfrm>
            <a:off x="502920" y="512064"/>
            <a:ext cx="11155680" cy="566928"/>
          </a:xfrm>
          <a:prstGeom prst="rect">
            <a:avLst/>
          </a:prstGeom>
          <a:noFill/>
          <a:ln/>
        </p:spPr>
        <p:txBody>
          <a:bodyPr wrap="square" lIns="0" tIns="0" rIns="0" bIns="0" rtlCol="0" anchor="ctr">
            <a:normAutofit/>
          </a:bodyPr>
          <a:lstStyle/>
          <a:p>
            <a:pPr marL="0" indent="0">
              <a:buNone/>
            </a:pPr>
            <a:r>
              <a:rPr lang="en-US" sz="2700" b="1" dirty="0">
                <a:solidFill>
                  <a:srgbClr val="101828"/>
                </a:solidFill>
                <a:latin typeface="Arial" pitchFamily="34" charset="0"/>
                <a:ea typeface="Arial" pitchFamily="34" charset="-122"/>
                <a:cs typeface="Arial" pitchFamily="34" charset="-120"/>
              </a:rPr>
              <a:t>Mô hình đề xuất PA-Transformer</a:t>
            </a:r>
            <a:endParaRPr lang="en-US" sz="2700" dirty="0"/>
          </a:p>
        </p:txBody>
      </p:sp>
      <p:sp>
        <p:nvSpPr>
          <p:cNvPr id="4" name="Shape 2"/>
          <p:cNvSpPr/>
          <p:nvPr/>
        </p:nvSpPr>
        <p:spPr>
          <a:xfrm>
            <a:off x="502920" y="1152144"/>
            <a:ext cx="11155680" cy="0"/>
          </a:xfrm>
          <a:prstGeom prst="line">
            <a:avLst/>
          </a:prstGeom>
          <a:noFill/>
          <a:ln w="10160">
            <a:solidFill>
              <a:srgbClr val="D0D5DD"/>
            </a:solidFill>
            <a:prstDash val="solid"/>
          </a:ln>
        </p:spPr>
      </p:sp>
      <p:sp>
        <p:nvSpPr>
          <p:cNvPr id="5" name="Shape 3"/>
          <p:cNvSpPr/>
          <p:nvPr/>
        </p:nvSpPr>
        <p:spPr>
          <a:xfrm>
            <a:off x="713232" y="1417320"/>
            <a:ext cx="3246120" cy="2148840"/>
          </a:xfrm>
          <a:prstGeom prst="rect">
            <a:avLst/>
          </a:prstGeom>
          <a:solidFill>
            <a:srgbClr val="EEF6FF"/>
          </a:solidFill>
          <a:ln w="12700">
            <a:solidFill>
              <a:srgbClr val="175CD3"/>
            </a:solidFill>
            <a:prstDash val="solid"/>
          </a:ln>
        </p:spPr>
      </p:sp>
      <p:sp>
        <p:nvSpPr>
          <p:cNvPr id="6" name="Text 4"/>
          <p:cNvSpPr/>
          <p:nvPr/>
        </p:nvSpPr>
        <p:spPr>
          <a:xfrm>
            <a:off x="859536" y="1536192"/>
            <a:ext cx="2953512" cy="219456"/>
          </a:xfrm>
          <a:prstGeom prst="rect">
            <a:avLst/>
          </a:prstGeom>
          <a:noFill/>
          <a:ln/>
        </p:spPr>
        <p:txBody>
          <a:bodyPr wrap="square" lIns="381" tIns="381" rIns="381" bIns="381" rtlCol="0" anchor="t">
            <a:normAutofit/>
          </a:bodyPr>
          <a:lstStyle/>
          <a:p>
            <a:pPr marL="0" indent="0">
              <a:buNone/>
            </a:pPr>
            <a:r>
              <a:rPr lang="en-US" sz="1320" b="1" dirty="0">
                <a:solidFill>
                  <a:srgbClr val="175CD3"/>
                </a:solidFill>
                <a:latin typeface="Arial" pitchFamily="34" charset="0"/>
                <a:ea typeface="Arial" pitchFamily="34" charset="-122"/>
                <a:cs typeface="Arial" pitchFamily="34" charset="-120"/>
              </a:rPr>
              <a:t>A. Temporal self-attention</a:t>
            </a:r>
            <a:endParaRPr lang="en-US" sz="1320" dirty="0"/>
          </a:p>
        </p:txBody>
      </p:sp>
      <p:sp>
        <p:nvSpPr>
          <p:cNvPr id="7" name="Text 5"/>
          <p:cNvSpPr/>
          <p:nvPr/>
        </p:nvSpPr>
        <p:spPr>
          <a:xfrm>
            <a:off x="859536" y="1847088"/>
            <a:ext cx="2953512" cy="1627632"/>
          </a:xfrm>
          <a:prstGeom prst="rect">
            <a:avLst/>
          </a:prstGeom>
          <a:noFill/>
          <a:ln/>
        </p:spPr>
        <p:txBody>
          <a:bodyPr wrap="square" lIns="381" tIns="381" rIns="381" bIns="381" rtlCol="0" anchor="t">
            <a:normAutofit/>
          </a:bodyPr>
          <a:lstStyle/>
          <a:p>
            <a:pPr marL="0" indent="0">
              <a:buNone/>
            </a:pPr>
            <a:r>
              <a:rPr lang="en-US" sz="1180" dirty="0">
                <a:solidFill>
                  <a:srgbClr val="101828"/>
                </a:solidFill>
                <a:latin typeface="Arial" pitchFamily="34" charset="0"/>
                <a:ea typeface="Arial" pitchFamily="34" charset="-122"/>
                <a:cs typeface="Arial" pitchFamily="34" charset="-120"/>
              </a:rPr>
              <a:t>Học động thái theo thời gian trong cửa sổ 60 phiên của từng tài sản.</a:t>
            </a:r>
            <a:endParaRPr lang="en-US" sz="1180" dirty="0"/>
          </a:p>
        </p:txBody>
      </p:sp>
      <p:sp>
        <p:nvSpPr>
          <p:cNvPr id="8" name="Shape 6"/>
          <p:cNvSpPr/>
          <p:nvPr/>
        </p:nvSpPr>
        <p:spPr>
          <a:xfrm>
            <a:off x="4462272" y="1417320"/>
            <a:ext cx="3246120" cy="2148840"/>
          </a:xfrm>
          <a:prstGeom prst="rect">
            <a:avLst/>
          </a:prstGeom>
          <a:solidFill>
            <a:srgbClr val="F4F3FF"/>
          </a:solidFill>
          <a:ln w="12700">
            <a:solidFill>
              <a:srgbClr val="6941C6"/>
            </a:solidFill>
            <a:prstDash val="solid"/>
          </a:ln>
        </p:spPr>
      </p:sp>
      <p:sp>
        <p:nvSpPr>
          <p:cNvPr id="9" name="Text 7"/>
          <p:cNvSpPr/>
          <p:nvPr/>
        </p:nvSpPr>
        <p:spPr>
          <a:xfrm>
            <a:off x="4608576" y="1536192"/>
            <a:ext cx="2953512" cy="219456"/>
          </a:xfrm>
          <a:prstGeom prst="rect">
            <a:avLst/>
          </a:prstGeom>
          <a:noFill/>
          <a:ln/>
        </p:spPr>
        <p:txBody>
          <a:bodyPr wrap="square" lIns="381" tIns="381" rIns="381" bIns="381" rtlCol="0" anchor="t">
            <a:normAutofit/>
          </a:bodyPr>
          <a:lstStyle/>
          <a:p>
            <a:pPr marL="0" indent="0">
              <a:buNone/>
            </a:pPr>
            <a:r>
              <a:rPr lang="en-US" sz="1320" b="1" dirty="0">
                <a:solidFill>
                  <a:srgbClr val="6941C6"/>
                </a:solidFill>
                <a:latin typeface="Arial" pitchFamily="34" charset="0"/>
                <a:ea typeface="Arial" pitchFamily="34" charset="-122"/>
                <a:cs typeface="Arial" pitchFamily="34" charset="-120"/>
              </a:rPr>
              <a:t>B. Cross-asset attention</a:t>
            </a:r>
            <a:endParaRPr lang="en-US" sz="1320" dirty="0"/>
          </a:p>
        </p:txBody>
      </p:sp>
      <p:sp>
        <p:nvSpPr>
          <p:cNvPr id="10" name="Text 8"/>
          <p:cNvSpPr/>
          <p:nvPr/>
        </p:nvSpPr>
        <p:spPr>
          <a:xfrm>
            <a:off x="4608576" y="1847088"/>
            <a:ext cx="2953512" cy="1627632"/>
          </a:xfrm>
          <a:prstGeom prst="rect">
            <a:avLst/>
          </a:prstGeom>
          <a:noFill/>
          <a:ln/>
        </p:spPr>
        <p:txBody>
          <a:bodyPr wrap="square" lIns="381" tIns="381" rIns="381" bIns="381" rtlCol="0" anchor="t">
            <a:normAutofit/>
          </a:bodyPr>
          <a:lstStyle/>
          <a:p>
            <a:pPr marL="0" indent="0">
              <a:buNone/>
            </a:pPr>
            <a:r>
              <a:rPr lang="en-US" sz="1180" dirty="0">
                <a:solidFill>
                  <a:srgbClr val="101828"/>
                </a:solidFill>
                <a:latin typeface="Arial" pitchFamily="34" charset="0"/>
                <a:ea typeface="Arial" pitchFamily="34" charset="-122"/>
                <a:cs typeface="Arial" pitchFamily="34" charset="-120"/>
              </a:rPr>
              <a:t>Học quan hệ giữa các tài sản: tương quan, regime, đồng biến/đối biến.</a:t>
            </a:r>
            <a:endParaRPr lang="en-US" sz="1180" dirty="0"/>
          </a:p>
        </p:txBody>
      </p:sp>
      <p:sp>
        <p:nvSpPr>
          <p:cNvPr id="11" name="Shape 9"/>
          <p:cNvSpPr/>
          <p:nvPr/>
        </p:nvSpPr>
        <p:spPr>
          <a:xfrm>
            <a:off x="8211312" y="1417320"/>
            <a:ext cx="3246120" cy="2148840"/>
          </a:xfrm>
          <a:prstGeom prst="rect">
            <a:avLst/>
          </a:prstGeom>
          <a:solidFill>
            <a:srgbClr val="F0FDF4"/>
          </a:solidFill>
          <a:ln w="12700">
            <a:solidFill>
              <a:srgbClr val="157347"/>
            </a:solidFill>
            <a:prstDash val="solid"/>
          </a:ln>
        </p:spPr>
      </p:sp>
      <p:sp>
        <p:nvSpPr>
          <p:cNvPr id="12" name="Text 10"/>
          <p:cNvSpPr/>
          <p:nvPr/>
        </p:nvSpPr>
        <p:spPr>
          <a:xfrm>
            <a:off x="8357616" y="1536192"/>
            <a:ext cx="2953512" cy="219456"/>
          </a:xfrm>
          <a:prstGeom prst="rect">
            <a:avLst/>
          </a:prstGeom>
          <a:noFill/>
          <a:ln/>
        </p:spPr>
        <p:txBody>
          <a:bodyPr wrap="square" lIns="381" tIns="381" rIns="381" bIns="381" rtlCol="0" anchor="t">
            <a:normAutofit/>
          </a:bodyPr>
          <a:lstStyle/>
          <a:p>
            <a:pPr marL="0" indent="0">
              <a:buNone/>
            </a:pPr>
            <a:r>
              <a:rPr lang="en-US" sz="1320" b="1" dirty="0">
                <a:solidFill>
                  <a:srgbClr val="157347"/>
                </a:solidFill>
                <a:latin typeface="Arial" pitchFamily="34" charset="0"/>
                <a:ea typeface="Arial" pitchFamily="34" charset="-122"/>
                <a:cs typeface="Arial" pitchFamily="34" charset="-120"/>
              </a:rPr>
              <a:t>C. Sharpe-aware loss</a:t>
            </a:r>
            <a:endParaRPr lang="en-US" sz="1320" dirty="0"/>
          </a:p>
        </p:txBody>
      </p:sp>
      <p:sp>
        <p:nvSpPr>
          <p:cNvPr id="13" name="Text 11"/>
          <p:cNvSpPr/>
          <p:nvPr/>
        </p:nvSpPr>
        <p:spPr>
          <a:xfrm>
            <a:off x="8357616" y="1847088"/>
            <a:ext cx="2953512" cy="1627632"/>
          </a:xfrm>
          <a:prstGeom prst="rect">
            <a:avLst/>
          </a:prstGeom>
          <a:noFill/>
          <a:ln/>
        </p:spPr>
        <p:txBody>
          <a:bodyPr wrap="square" lIns="381" tIns="381" rIns="381" bIns="381" rtlCol="0" anchor="t">
            <a:normAutofit/>
          </a:bodyPr>
          <a:lstStyle/>
          <a:p>
            <a:pPr marL="0" indent="0">
              <a:buNone/>
            </a:pPr>
            <a:r>
              <a:rPr lang="en-US" sz="1180" dirty="0">
                <a:solidFill>
                  <a:srgbClr val="101828"/>
                </a:solidFill>
                <a:latin typeface="Arial" pitchFamily="34" charset="0"/>
                <a:ea typeface="Arial" pitchFamily="34" charset="-122"/>
                <a:cs typeface="Arial" pitchFamily="34" charset="-120"/>
              </a:rPr>
              <a:t>Gắn hàm mất mát với mục tiêu hiệu suất danh mục, không chỉ MSE.</a:t>
            </a:r>
            <a:endParaRPr lang="en-US" sz="1180" dirty="0"/>
          </a:p>
        </p:txBody>
      </p:sp>
      <p:sp>
        <p:nvSpPr>
          <p:cNvPr id="14" name="Shape 12"/>
          <p:cNvSpPr/>
          <p:nvPr/>
        </p:nvSpPr>
        <p:spPr>
          <a:xfrm>
            <a:off x="914400" y="4343400"/>
            <a:ext cx="10012680" cy="749808"/>
          </a:xfrm>
          <a:prstGeom prst="rect">
            <a:avLst/>
          </a:prstGeom>
          <a:solidFill>
            <a:srgbClr val="F8FAFC"/>
          </a:solidFill>
          <a:ln w="10160">
            <a:solidFill>
              <a:srgbClr val="D0D5DD"/>
            </a:solidFill>
            <a:prstDash val="solid"/>
          </a:ln>
        </p:spPr>
      </p:sp>
      <p:sp>
        <p:nvSpPr>
          <p:cNvPr id="15" name="Text 13"/>
          <p:cNvSpPr/>
          <p:nvPr/>
        </p:nvSpPr>
        <p:spPr>
          <a:xfrm>
            <a:off x="1024128" y="4572000"/>
            <a:ext cx="9784080" cy="237744"/>
          </a:xfrm>
          <a:prstGeom prst="rect">
            <a:avLst/>
          </a:prstGeom>
          <a:noFill/>
          <a:ln/>
        </p:spPr>
        <p:txBody>
          <a:bodyPr wrap="square" lIns="381" tIns="381" rIns="381" bIns="381" rtlCol="0" anchor="t">
            <a:normAutofit fontScale="92500"/>
          </a:bodyPr>
          <a:lstStyle/>
          <a:p>
            <a:pPr marL="0" indent="0" algn="ctr">
              <a:buNone/>
            </a:pPr>
            <a:r>
              <a:rPr lang="en-US" sz="1580" b="1" dirty="0">
                <a:solidFill>
                  <a:srgbClr val="101828"/>
                </a:solidFill>
                <a:latin typeface="Arial" pitchFamily="34" charset="0"/>
                <a:ea typeface="Arial" pitchFamily="34" charset="-122"/>
                <a:cs typeface="Arial" pitchFamily="34" charset="-120"/>
              </a:rPr>
              <a:t>Input [60 × 14 × 7]  →  PA-Transformer  →  mu_hat [14]  →  Markowitz Max-Sharpe  →  trọng số danh mục</a:t>
            </a:r>
            <a:endParaRPr lang="en-US" sz="1580" dirty="0"/>
          </a:p>
        </p:txBody>
      </p:sp>
      <p:sp>
        <p:nvSpPr>
          <p:cNvPr id="16" name="Text 14"/>
          <p:cNvSpPr/>
          <p:nvPr/>
        </p:nvSpPr>
        <p:spPr>
          <a:xfrm>
            <a:off x="502920" y="6236208"/>
            <a:ext cx="10881360" cy="146304"/>
          </a:xfrm>
          <a:prstGeom prst="rect">
            <a:avLst/>
          </a:prstGeom>
          <a:noFill/>
          <a:ln/>
        </p:spPr>
        <p:txBody>
          <a:bodyPr wrap="square" lIns="381" tIns="381" rIns="381" bIns="381" rtlCol="0" anchor="t">
            <a:normAutofit/>
          </a:bodyPr>
          <a:lstStyle/>
          <a:p>
            <a:pPr marL="0" indent="0">
              <a:buNone/>
            </a:pPr>
            <a:r>
              <a:rPr lang="en-US" sz="730" dirty="0">
                <a:solidFill>
                  <a:srgbClr val="667085"/>
                </a:solidFill>
                <a:latin typeface="Arial" pitchFamily="34" charset="0"/>
                <a:ea typeface="Arial" pitchFamily="34" charset="-122"/>
                <a:cs typeface="Arial" pitchFamily="34" charset="-120"/>
              </a:rPr>
              <a:t>Nguồn: ai-portfolio-research/src/models/proposed.py; src/ablation.py</a:t>
            </a:r>
            <a:endParaRPr lang="en-US" sz="730" dirty="0"/>
          </a:p>
        </p:txBody>
      </p:sp>
      <p:sp>
        <p:nvSpPr>
          <p:cNvPr id="25" name="Slide Number Placeholder 0"/>
          <p:cNvSpPr>
            <a:spLocks noGrp="1"/>
          </p:cNvSpPr>
          <p:nvPr>
            <p:ph type="sldNum" sz="quarter" idx="4294967295"/>
          </p:nvPr>
        </p:nvSpPr>
        <p:spPr>
          <a:xfrm>
            <a:off x="11475720" y="6492240"/>
            <a:ext cx="800000" cy="300000"/>
          </a:xfrm>
          <a:prstGeom prst="rect">
            <a:avLst/>
          </a:prstGeom>
          <a:extLst>
            <a:ext uri="{C572A759-6A51-4108-AA02-DFA0A04FC94B}">
              <ma14:wrappingTextBoxFlag xmlns:ma14="http://schemas.microsoft.com/office/mac/drawingml/2011/main" xmlns="" val="0"/>
            </a:ext>
          </a:extLst>
        </p:spPr>
        <p:txBody>
          <a:bodyPr/>
          <a:lstStyle>
            <a:lvl1pPr>
              <a:defRPr sz="730">
                <a:solidFill>
                  <a:srgbClr val="667085"/>
                </a:solidFill>
                <a:latin typeface="Arial"/>
                <a:ea typeface="Arial"/>
                <a:cs typeface="Arial"/>
              </a:defRPr>
            </a:lvl1pPr>
          </a:lstStyle>
          <a:p>
            <a:pPr algn="l"/>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74320"/>
            <a:ext cx="7132320" cy="201168"/>
          </a:xfrm>
          <a:prstGeom prst="rect">
            <a:avLst/>
          </a:prstGeom>
          <a:noFill/>
          <a:ln/>
        </p:spPr>
        <p:txBody>
          <a:bodyPr wrap="square" lIns="0" tIns="0" rIns="0" bIns="0" rtlCol="0" anchor="ctr"/>
          <a:lstStyle/>
          <a:p>
            <a:pPr marL="0" indent="0">
              <a:buNone/>
            </a:pPr>
            <a:r>
              <a:rPr lang="en-US" sz="820" b="1" dirty="0">
                <a:solidFill>
                  <a:srgbClr val="667085"/>
                </a:solidFill>
                <a:latin typeface="Arial" pitchFamily="34" charset="0"/>
                <a:ea typeface="Arial" pitchFamily="34" charset="-122"/>
                <a:cs typeface="Arial" pitchFamily="34" charset="-120"/>
              </a:rPr>
              <a:t>GEMINI + CHATGPT/CODEX</a:t>
            </a:r>
            <a:endParaRPr lang="en-US" sz="820" dirty="0"/>
          </a:p>
        </p:txBody>
      </p:sp>
      <p:sp>
        <p:nvSpPr>
          <p:cNvPr id="3" name="Text 1"/>
          <p:cNvSpPr/>
          <p:nvPr/>
        </p:nvSpPr>
        <p:spPr>
          <a:xfrm>
            <a:off x="502920" y="512064"/>
            <a:ext cx="11155680" cy="566928"/>
          </a:xfrm>
          <a:prstGeom prst="rect">
            <a:avLst/>
          </a:prstGeom>
          <a:noFill/>
          <a:ln/>
        </p:spPr>
        <p:txBody>
          <a:bodyPr wrap="square" lIns="0" tIns="0" rIns="0" bIns="0" rtlCol="0" anchor="ctr">
            <a:normAutofit/>
          </a:bodyPr>
          <a:lstStyle/>
          <a:p>
            <a:pPr marL="0" indent="0">
              <a:buNone/>
            </a:pPr>
            <a:r>
              <a:rPr lang="en-US" sz="2700" b="1" dirty="0">
                <a:solidFill>
                  <a:srgbClr val="101828"/>
                </a:solidFill>
                <a:latin typeface="Arial" pitchFamily="34" charset="0"/>
                <a:ea typeface="Arial" pitchFamily="34" charset="-122"/>
                <a:cs typeface="Arial" pitchFamily="34" charset="-120"/>
              </a:rPr>
              <a:t>AI tích hợp trong hệ thống</a:t>
            </a:r>
            <a:endParaRPr lang="en-US" sz="2700" dirty="0"/>
          </a:p>
        </p:txBody>
      </p:sp>
      <p:sp>
        <p:nvSpPr>
          <p:cNvPr id="4" name="Shape 2"/>
          <p:cNvSpPr/>
          <p:nvPr/>
        </p:nvSpPr>
        <p:spPr>
          <a:xfrm>
            <a:off x="502920" y="1152144"/>
            <a:ext cx="11155680" cy="0"/>
          </a:xfrm>
          <a:prstGeom prst="line">
            <a:avLst/>
          </a:prstGeom>
          <a:noFill/>
          <a:ln w="10160">
            <a:solidFill>
              <a:srgbClr val="D0D5DD"/>
            </a:solidFill>
            <a:prstDash val="solid"/>
          </a:ln>
        </p:spPr>
      </p:sp>
      <p:sp>
        <p:nvSpPr>
          <p:cNvPr id="5" name="Shape 3"/>
          <p:cNvSpPr/>
          <p:nvPr/>
        </p:nvSpPr>
        <p:spPr>
          <a:xfrm>
            <a:off x="685800" y="1417320"/>
            <a:ext cx="3429000" cy="3246120"/>
          </a:xfrm>
          <a:prstGeom prst="rect">
            <a:avLst/>
          </a:prstGeom>
          <a:solidFill>
            <a:srgbClr val="EEF6FF"/>
          </a:solidFill>
          <a:ln w="12700">
            <a:solidFill>
              <a:srgbClr val="175CD3"/>
            </a:solidFill>
            <a:prstDash val="solid"/>
          </a:ln>
        </p:spPr>
      </p:sp>
      <p:sp>
        <p:nvSpPr>
          <p:cNvPr id="6" name="Text 4"/>
          <p:cNvSpPr/>
          <p:nvPr/>
        </p:nvSpPr>
        <p:spPr>
          <a:xfrm>
            <a:off x="832104" y="1536192"/>
            <a:ext cx="3136392" cy="219456"/>
          </a:xfrm>
          <a:prstGeom prst="rect">
            <a:avLst/>
          </a:prstGeom>
          <a:noFill/>
          <a:ln/>
        </p:spPr>
        <p:txBody>
          <a:bodyPr wrap="square" lIns="381" tIns="381" rIns="381" bIns="381" rtlCol="0" anchor="t">
            <a:normAutofit/>
          </a:bodyPr>
          <a:lstStyle/>
          <a:p>
            <a:pPr marL="0" indent="0">
              <a:buNone/>
            </a:pPr>
            <a:r>
              <a:rPr lang="en-US" sz="1320" b="1" dirty="0">
                <a:solidFill>
                  <a:srgbClr val="175CD3"/>
                </a:solidFill>
                <a:latin typeface="Arial" pitchFamily="34" charset="0"/>
                <a:ea typeface="Arial" pitchFamily="34" charset="-122"/>
                <a:cs typeface="Arial" pitchFamily="34" charset="-120"/>
              </a:rPr>
              <a:t>Gemini trong runtime</a:t>
            </a:r>
            <a:endParaRPr lang="en-US" sz="1320" dirty="0"/>
          </a:p>
        </p:txBody>
      </p:sp>
      <p:sp>
        <p:nvSpPr>
          <p:cNvPr id="7" name="Text 5"/>
          <p:cNvSpPr/>
          <p:nvPr/>
        </p:nvSpPr>
        <p:spPr>
          <a:xfrm>
            <a:off x="832104" y="1847088"/>
            <a:ext cx="3136392" cy="2724912"/>
          </a:xfrm>
          <a:prstGeom prst="rect">
            <a:avLst/>
          </a:prstGeom>
          <a:noFill/>
          <a:ln/>
        </p:spPr>
        <p:txBody>
          <a:bodyPr wrap="square" lIns="381" tIns="381" rIns="381" bIns="381" rtlCol="0" anchor="t">
            <a:normAutofit/>
          </a:bodyPr>
          <a:lstStyle/>
          <a:p>
            <a:pPr marL="0" indent="0">
              <a:buNone/>
            </a:pPr>
            <a:r>
              <a:rPr lang="en-US" sz="1180" dirty="0">
                <a:solidFill>
                  <a:srgbClr val="101828"/>
                </a:solidFill>
                <a:latin typeface="Arial" pitchFamily="34" charset="0"/>
                <a:ea typeface="Arial" pitchFamily="34" charset="-122"/>
                <a:cs typeface="Arial" pitchFamily="34" charset="-120"/>
              </a:rPr>
              <a:t>Supabase Edge Functions gọi Lovable AI Gateway với các model google/gemini-3-flash-preview và google/gemini-2.5-pro.</a:t>
            </a:r>
            <a:endParaRPr lang="en-US" sz="1180" dirty="0"/>
          </a:p>
        </p:txBody>
      </p:sp>
      <p:sp>
        <p:nvSpPr>
          <p:cNvPr id="8" name="Shape 6"/>
          <p:cNvSpPr/>
          <p:nvPr/>
        </p:nvSpPr>
        <p:spPr>
          <a:xfrm>
            <a:off x="4389120" y="1417320"/>
            <a:ext cx="3429000" cy="3246120"/>
          </a:xfrm>
          <a:prstGeom prst="rect">
            <a:avLst/>
          </a:prstGeom>
          <a:solidFill>
            <a:srgbClr val="F4F3FF"/>
          </a:solidFill>
          <a:ln w="12700">
            <a:solidFill>
              <a:srgbClr val="6941C6"/>
            </a:solidFill>
            <a:prstDash val="solid"/>
          </a:ln>
        </p:spPr>
      </p:sp>
      <p:sp>
        <p:nvSpPr>
          <p:cNvPr id="9" name="Text 7"/>
          <p:cNvSpPr/>
          <p:nvPr/>
        </p:nvSpPr>
        <p:spPr>
          <a:xfrm>
            <a:off x="4535424" y="1536192"/>
            <a:ext cx="3136392" cy="219456"/>
          </a:xfrm>
          <a:prstGeom prst="rect">
            <a:avLst/>
          </a:prstGeom>
          <a:noFill/>
          <a:ln/>
        </p:spPr>
        <p:txBody>
          <a:bodyPr wrap="square" lIns="381" tIns="381" rIns="381" bIns="381" rtlCol="0" anchor="t">
            <a:normAutofit/>
          </a:bodyPr>
          <a:lstStyle/>
          <a:p>
            <a:pPr marL="0" indent="0">
              <a:buNone/>
            </a:pPr>
            <a:r>
              <a:rPr lang="en-US" sz="1320" b="1" dirty="0">
                <a:solidFill>
                  <a:srgbClr val="6941C6"/>
                </a:solidFill>
                <a:latin typeface="Arial" pitchFamily="34" charset="0"/>
                <a:ea typeface="Arial" pitchFamily="34" charset="-122"/>
                <a:cs typeface="Arial" pitchFamily="34" charset="-120"/>
              </a:rPr>
              <a:t>ChatGPT/Codex trong quy trình</a:t>
            </a:r>
            <a:endParaRPr lang="en-US" sz="1320" dirty="0"/>
          </a:p>
        </p:txBody>
      </p:sp>
      <p:sp>
        <p:nvSpPr>
          <p:cNvPr id="10" name="Text 8"/>
          <p:cNvSpPr/>
          <p:nvPr/>
        </p:nvSpPr>
        <p:spPr>
          <a:xfrm>
            <a:off x="4535424" y="1847088"/>
            <a:ext cx="3136392" cy="2724912"/>
          </a:xfrm>
          <a:prstGeom prst="rect">
            <a:avLst/>
          </a:prstGeom>
          <a:noFill/>
          <a:ln/>
        </p:spPr>
        <p:txBody>
          <a:bodyPr wrap="square" lIns="381" tIns="381" rIns="381" bIns="381" rtlCol="0" anchor="t">
            <a:normAutofit/>
          </a:bodyPr>
          <a:lstStyle/>
          <a:p>
            <a:pPr marL="0" indent="0">
              <a:buNone/>
            </a:pPr>
            <a:r>
              <a:rPr lang="en-US" sz="1180" dirty="0">
                <a:solidFill>
                  <a:srgbClr val="101828"/>
                </a:solidFill>
                <a:latin typeface="Arial" pitchFamily="34" charset="0"/>
                <a:ea typeface="Arial" pitchFamily="34" charset="-122"/>
                <a:cs typeface="Arial" pitchFamily="34" charset="-120"/>
              </a:rPr>
              <a:t>Dùng để hỗ trợ phát triển, rà rubric, tạo tài liệu chứng minh, bộ vấn đáp và slide báo cáo. Trong code hiện tại chưa có Edge Function gọi trực tiếp OpenAI API.</a:t>
            </a:r>
            <a:endParaRPr lang="en-US" sz="1180" dirty="0"/>
          </a:p>
        </p:txBody>
      </p:sp>
      <p:sp>
        <p:nvSpPr>
          <p:cNvPr id="11" name="Shape 9"/>
          <p:cNvSpPr/>
          <p:nvPr/>
        </p:nvSpPr>
        <p:spPr>
          <a:xfrm>
            <a:off x="8092440" y="1417320"/>
            <a:ext cx="3429000" cy="3246120"/>
          </a:xfrm>
          <a:prstGeom prst="rect">
            <a:avLst/>
          </a:prstGeom>
          <a:solidFill>
            <a:srgbClr val="F0FDF4"/>
          </a:solidFill>
          <a:ln w="12700">
            <a:solidFill>
              <a:srgbClr val="157347"/>
            </a:solidFill>
            <a:prstDash val="solid"/>
          </a:ln>
        </p:spPr>
      </p:sp>
      <p:sp>
        <p:nvSpPr>
          <p:cNvPr id="12" name="Text 10"/>
          <p:cNvSpPr/>
          <p:nvPr/>
        </p:nvSpPr>
        <p:spPr>
          <a:xfrm>
            <a:off x="8238744" y="1536192"/>
            <a:ext cx="3136392" cy="219456"/>
          </a:xfrm>
          <a:prstGeom prst="rect">
            <a:avLst/>
          </a:prstGeom>
          <a:noFill/>
          <a:ln/>
        </p:spPr>
        <p:txBody>
          <a:bodyPr wrap="square" lIns="381" tIns="381" rIns="381" bIns="381" rtlCol="0" anchor="t">
            <a:normAutofit/>
          </a:bodyPr>
          <a:lstStyle/>
          <a:p>
            <a:pPr marL="0" indent="0">
              <a:buNone/>
            </a:pPr>
            <a:r>
              <a:rPr lang="en-US" sz="1320" b="1" dirty="0">
                <a:solidFill>
                  <a:srgbClr val="157347"/>
                </a:solidFill>
                <a:latin typeface="Arial" pitchFamily="34" charset="0"/>
                <a:ea typeface="Arial" pitchFamily="34" charset="-122"/>
                <a:cs typeface="Arial" pitchFamily="34" charset="-120"/>
              </a:rPr>
              <a:t>AI agents và chatbot</a:t>
            </a:r>
            <a:endParaRPr lang="en-US" sz="1320" dirty="0"/>
          </a:p>
        </p:txBody>
      </p:sp>
      <p:sp>
        <p:nvSpPr>
          <p:cNvPr id="13" name="Text 11"/>
          <p:cNvSpPr/>
          <p:nvPr/>
        </p:nvSpPr>
        <p:spPr>
          <a:xfrm>
            <a:off x="8238744" y="1847088"/>
            <a:ext cx="3136392" cy="2724912"/>
          </a:xfrm>
          <a:prstGeom prst="rect">
            <a:avLst/>
          </a:prstGeom>
          <a:noFill/>
          <a:ln/>
        </p:spPr>
        <p:txBody>
          <a:bodyPr wrap="square" lIns="381" tIns="381" rIns="381" bIns="381" rtlCol="0" anchor="t">
            <a:normAutofit/>
          </a:bodyPr>
          <a:lstStyle/>
          <a:p>
            <a:pPr marL="0" indent="0">
              <a:buNone/>
            </a:pPr>
            <a:r>
              <a:rPr lang="en-US" sz="1180" dirty="0">
                <a:solidFill>
                  <a:srgbClr val="101828"/>
                </a:solidFill>
                <a:latin typeface="Arial" pitchFamily="34" charset="0"/>
                <a:ea typeface="Arial" pitchFamily="34" charset="-122"/>
                <a:cs typeface="Arial" pitchFamily="34" charset="-120"/>
              </a:rPr>
              <a:t>Crystal AI, AI Insights, Equity Research Agents, sentiment analysis, moderation và AI extraction tạo thành lớp phân tích thông minh.</a:t>
            </a:r>
            <a:endParaRPr lang="en-US" sz="1180" dirty="0"/>
          </a:p>
        </p:txBody>
      </p:sp>
      <p:sp>
        <p:nvSpPr>
          <p:cNvPr id="14" name="Text 12"/>
          <p:cNvSpPr/>
          <p:nvPr/>
        </p:nvSpPr>
        <p:spPr>
          <a:xfrm>
            <a:off x="868680" y="5349240"/>
            <a:ext cx="10149840" cy="365760"/>
          </a:xfrm>
          <a:prstGeom prst="rect">
            <a:avLst/>
          </a:prstGeom>
          <a:noFill/>
          <a:ln/>
        </p:spPr>
        <p:txBody>
          <a:bodyPr wrap="square" lIns="381" tIns="381" rIns="381" bIns="381" rtlCol="0" anchor="t">
            <a:normAutofit fontScale="85000" lnSpcReduction="20000"/>
          </a:bodyPr>
          <a:lstStyle/>
          <a:p>
            <a:pPr marL="0" indent="0" algn="ctr">
              <a:buNone/>
            </a:pPr>
            <a:r>
              <a:rPr lang="en-US" sz="1620" b="1" dirty="0">
                <a:solidFill>
                  <a:srgbClr val="E46A11"/>
                </a:solidFill>
                <a:latin typeface="Arial" pitchFamily="34" charset="0"/>
                <a:ea typeface="Arial" pitchFamily="34" charset="-122"/>
                <a:cs typeface="Arial" pitchFamily="34" charset="-120"/>
              </a:rPr>
              <a:t>Cách trình bày với giáo sư: nêu đúng vai trò kỹ thuật của từng AI, tránh nói quá rằng mọi phần đều chạy OpenAI runtime.</a:t>
            </a:r>
            <a:endParaRPr lang="en-US" sz="1620" dirty="0"/>
          </a:p>
        </p:txBody>
      </p:sp>
      <p:sp>
        <p:nvSpPr>
          <p:cNvPr id="15" name="Text 13"/>
          <p:cNvSpPr/>
          <p:nvPr/>
        </p:nvSpPr>
        <p:spPr>
          <a:xfrm>
            <a:off x="502920" y="6236208"/>
            <a:ext cx="10881360" cy="146304"/>
          </a:xfrm>
          <a:prstGeom prst="rect">
            <a:avLst/>
          </a:prstGeom>
          <a:noFill/>
          <a:ln/>
        </p:spPr>
        <p:txBody>
          <a:bodyPr wrap="square" lIns="381" tIns="381" rIns="381" bIns="381" rtlCol="0" anchor="t">
            <a:normAutofit/>
          </a:bodyPr>
          <a:lstStyle/>
          <a:p>
            <a:pPr marL="0" indent="0">
              <a:buNone/>
            </a:pPr>
            <a:r>
              <a:rPr lang="en-US" sz="730" dirty="0">
                <a:solidFill>
                  <a:srgbClr val="667085"/>
                </a:solidFill>
                <a:latin typeface="Arial" pitchFamily="34" charset="0"/>
                <a:ea typeface="Arial" pitchFamily="34" charset="-122"/>
                <a:cs typeface="Arial" pitchFamily="34" charset="-120"/>
              </a:rPr>
              <a:t>Nguồn: supabase/functions/*/index.ts; src/pages/platform/AIInsights.tsx; src/components/platform/stocks/EquityResearchAgents.tsx</a:t>
            </a:r>
            <a:endParaRPr lang="en-US" sz="730" dirty="0"/>
          </a:p>
        </p:txBody>
      </p:sp>
      <p:sp>
        <p:nvSpPr>
          <p:cNvPr id="25" name="Slide Number Placeholder 0"/>
          <p:cNvSpPr>
            <a:spLocks noGrp="1"/>
          </p:cNvSpPr>
          <p:nvPr>
            <p:ph type="sldNum" sz="quarter" idx="4294967295"/>
          </p:nvPr>
        </p:nvSpPr>
        <p:spPr>
          <a:xfrm>
            <a:off x="11475720" y="6492240"/>
            <a:ext cx="800000" cy="300000"/>
          </a:xfrm>
          <a:prstGeom prst="rect">
            <a:avLst/>
          </a:prstGeom>
          <a:extLst>
            <a:ext uri="{C572A759-6A51-4108-AA02-DFA0A04FC94B}">
              <ma14:wrappingTextBoxFlag xmlns:ma14="http://schemas.microsoft.com/office/mac/drawingml/2011/main" xmlns="" val="0"/>
            </a:ext>
          </a:extLst>
        </p:spPr>
        <p:txBody>
          <a:bodyPr/>
          <a:lstStyle>
            <a:lvl1pPr>
              <a:defRPr sz="730">
                <a:solidFill>
                  <a:srgbClr val="667085"/>
                </a:solidFill>
                <a:latin typeface="Arial"/>
                <a:ea typeface="Arial"/>
                <a:cs typeface="Arial"/>
              </a:defRPr>
            </a:lvl1pPr>
          </a:lstStyle>
          <a:p>
            <a:pPr algn="l"/>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74320"/>
            <a:ext cx="7132320" cy="201168"/>
          </a:xfrm>
          <a:prstGeom prst="rect">
            <a:avLst/>
          </a:prstGeom>
          <a:noFill/>
          <a:ln/>
        </p:spPr>
        <p:txBody>
          <a:bodyPr wrap="square" lIns="0" tIns="0" rIns="0" bIns="0" rtlCol="0" anchor="ctr"/>
          <a:lstStyle/>
          <a:p>
            <a:pPr marL="0" indent="0">
              <a:buNone/>
            </a:pPr>
            <a:r>
              <a:rPr lang="en-US" sz="820" b="1" dirty="0">
                <a:solidFill>
                  <a:srgbClr val="667085"/>
                </a:solidFill>
                <a:latin typeface="Arial" pitchFamily="34" charset="0"/>
                <a:ea typeface="Arial" pitchFamily="34" charset="-122"/>
                <a:cs typeface="Arial" pitchFamily="34" charset="-120"/>
              </a:rPr>
              <a:t>AI BACKEND</a:t>
            </a:r>
            <a:endParaRPr lang="en-US" sz="820" dirty="0"/>
          </a:p>
        </p:txBody>
      </p:sp>
      <p:sp>
        <p:nvSpPr>
          <p:cNvPr id="3" name="Text 1"/>
          <p:cNvSpPr/>
          <p:nvPr/>
        </p:nvSpPr>
        <p:spPr>
          <a:xfrm>
            <a:off x="502920" y="512064"/>
            <a:ext cx="11155680" cy="566928"/>
          </a:xfrm>
          <a:prstGeom prst="rect">
            <a:avLst/>
          </a:prstGeom>
          <a:noFill/>
          <a:ln/>
        </p:spPr>
        <p:txBody>
          <a:bodyPr wrap="square" lIns="0" tIns="0" rIns="0" bIns="0" rtlCol="0" anchor="ctr">
            <a:normAutofit/>
          </a:bodyPr>
          <a:lstStyle/>
          <a:p>
            <a:pPr marL="0" indent="0">
              <a:buNone/>
            </a:pPr>
            <a:r>
              <a:rPr lang="en-US" sz="2700" b="1" dirty="0">
                <a:solidFill>
                  <a:srgbClr val="101828"/>
                </a:solidFill>
                <a:latin typeface="Arial" pitchFamily="34" charset="0"/>
                <a:ea typeface="Arial" pitchFamily="34" charset="-122"/>
                <a:cs typeface="Arial" pitchFamily="34" charset="-120"/>
              </a:rPr>
              <a:t>Bằng chứng Gemini trong Supabase Edge Functions</a:t>
            </a:r>
            <a:endParaRPr lang="en-US" sz="2700" dirty="0"/>
          </a:p>
        </p:txBody>
      </p:sp>
      <p:sp>
        <p:nvSpPr>
          <p:cNvPr id="4" name="Shape 2"/>
          <p:cNvSpPr/>
          <p:nvPr/>
        </p:nvSpPr>
        <p:spPr>
          <a:xfrm>
            <a:off x="502920" y="1152144"/>
            <a:ext cx="11155680" cy="0"/>
          </a:xfrm>
          <a:prstGeom prst="line">
            <a:avLst/>
          </a:prstGeom>
          <a:noFill/>
          <a:ln w="10160">
            <a:solidFill>
              <a:srgbClr val="D0D5DD"/>
            </a:solidFill>
            <a:prstDash val="solid"/>
          </a:ln>
        </p:spPr>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58368" y="1353312"/>
          <a:ext cx="10881360" cy="4343400"/>
        </p:xfrm>
        <a:graphic>
          <a:graphicData uri="http://schemas.openxmlformats.org/drawingml/2006/table">
            <a:tbl>
              <a:tblPr/>
              <a:tblGrid>
                <a:gridCol w="2377440">
                  <a:extLst>
                    <a:ext uri="{9D8B030D-6E8A-4147-A177-3AD203B41FA5}">
                      <a16:colId xmlns:a16="http://schemas.microsoft.com/office/drawing/2014/main" val="20000"/>
                    </a:ext>
                  </a:extLst>
                </a:gridCol>
                <a:gridCol w="2971800">
                  <a:extLst>
                    <a:ext uri="{9D8B030D-6E8A-4147-A177-3AD203B41FA5}">
                      <a16:colId xmlns:a16="http://schemas.microsoft.com/office/drawing/2014/main" val="20001"/>
                    </a:ext>
                  </a:extLst>
                </a:gridCol>
                <a:gridCol w="5532120">
                  <a:extLst>
                    <a:ext uri="{9D8B030D-6E8A-4147-A177-3AD203B41FA5}">
                      <a16:colId xmlns:a16="http://schemas.microsoft.com/office/drawing/2014/main" val="20002"/>
                    </a:ext>
                  </a:extLst>
                </a:gridCol>
              </a:tblGrid>
              <a:tr h="620486">
                <a:tc>
                  <a:txBody>
                    <a:bodyPr/>
                    <a:lstStyle/>
                    <a:p>
                      <a:pPr marL="0" indent="0">
                        <a:buNone/>
                      </a:pPr>
                      <a:r>
                        <a:rPr lang="en-US" sz="1140" dirty="0">
                          <a:solidFill>
                            <a:srgbClr val="101828"/>
                          </a:solidFill>
                          <a:latin typeface="Arial" pitchFamily="34" charset="0"/>
                          <a:ea typeface="Arial" pitchFamily="34" charset="-122"/>
                          <a:cs typeface="Arial" pitchFamily="34" charset="-120"/>
                        </a:rPr>
                        <a:t>Edge Function</a:t>
                      </a:r>
                      <a:endParaRPr lang="en-US" sz="114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140" dirty="0">
                          <a:solidFill>
                            <a:srgbClr val="101828"/>
                          </a:solidFill>
                          <a:latin typeface="Arial" pitchFamily="34" charset="0"/>
                          <a:ea typeface="Arial" pitchFamily="34" charset="-122"/>
                          <a:cs typeface="Arial" pitchFamily="34" charset="-120"/>
                        </a:rPr>
                        <a:t>Model / Endpoint</a:t>
                      </a:r>
                      <a:endParaRPr lang="en-US" sz="114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140" dirty="0">
                          <a:solidFill>
                            <a:srgbClr val="101828"/>
                          </a:solidFill>
                          <a:latin typeface="Arial" pitchFamily="34" charset="0"/>
                          <a:ea typeface="Arial" pitchFamily="34" charset="-122"/>
                          <a:cs typeface="Arial" pitchFamily="34" charset="-120"/>
                        </a:rPr>
                        <a:t>Vai trò</a:t>
                      </a:r>
                      <a:endParaRPr lang="en-US" sz="114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extLst>
                  <a:ext uri="{0D108BD9-81ED-4DB2-BD59-A6C34878D82A}">
                    <a16:rowId xmlns:a16="http://schemas.microsoft.com/office/drawing/2014/main" val="10000"/>
                  </a:ext>
                </a:extLst>
              </a:tr>
              <a:tr h="620486">
                <a:tc>
                  <a:txBody>
                    <a:bodyPr/>
                    <a:lstStyle/>
                    <a:p>
                      <a:pPr marL="0" indent="0">
                        <a:buNone/>
                      </a:pPr>
                      <a:r>
                        <a:rPr lang="en-US" sz="1140" dirty="0">
                          <a:solidFill>
                            <a:srgbClr val="101828"/>
                          </a:solidFill>
                          <a:latin typeface="Arial" pitchFamily="34" charset="0"/>
                          <a:ea typeface="Arial" pitchFamily="34" charset="-122"/>
                          <a:cs typeface="Arial" pitchFamily="34" charset="-120"/>
                        </a:rPr>
                        <a:t>chatbot-ai</a:t>
                      </a:r>
                      <a:endParaRPr lang="en-US" sz="114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140" dirty="0">
                          <a:solidFill>
                            <a:srgbClr val="101828"/>
                          </a:solidFill>
                          <a:latin typeface="Arial" pitchFamily="34" charset="0"/>
                          <a:ea typeface="Arial" pitchFamily="34" charset="-122"/>
                          <a:cs typeface="Arial" pitchFamily="34" charset="-120"/>
                        </a:rPr>
                        <a:t>google/gemini-3-flash-preview</a:t>
                      </a:r>
                      <a:endParaRPr lang="en-US" sz="114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140" dirty="0">
                          <a:solidFill>
                            <a:srgbClr val="101828"/>
                          </a:solidFill>
                          <a:latin typeface="Arial" pitchFamily="34" charset="0"/>
                          <a:ea typeface="Arial" pitchFamily="34" charset="-122"/>
                          <a:cs typeface="Arial" pitchFamily="34" charset="-120"/>
                        </a:rPr>
                        <a:t>Crystal AI streaming, Q&amp;A, news/community context</a:t>
                      </a:r>
                      <a:endParaRPr lang="en-US" sz="114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extLst>
                  <a:ext uri="{0D108BD9-81ED-4DB2-BD59-A6C34878D82A}">
                    <a16:rowId xmlns:a16="http://schemas.microsoft.com/office/drawing/2014/main" val="10001"/>
                  </a:ext>
                </a:extLst>
              </a:tr>
              <a:tr h="620486">
                <a:tc>
                  <a:txBody>
                    <a:bodyPr/>
                    <a:lstStyle/>
                    <a:p>
                      <a:pPr marL="0" indent="0">
                        <a:buNone/>
                      </a:pPr>
                      <a:r>
                        <a:rPr lang="en-US" sz="1140" dirty="0">
                          <a:solidFill>
                            <a:srgbClr val="101828"/>
                          </a:solidFill>
                          <a:latin typeface="Arial" pitchFamily="34" charset="0"/>
                          <a:ea typeface="Arial" pitchFamily="34" charset="-122"/>
                          <a:cs typeface="Arial" pitchFamily="34" charset="-120"/>
                        </a:rPr>
                        <a:t>ai-market-analysis</a:t>
                      </a:r>
                      <a:endParaRPr lang="en-US" sz="114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140" dirty="0">
                          <a:solidFill>
                            <a:srgbClr val="101828"/>
                          </a:solidFill>
                          <a:latin typeface="Arial" pitchFamily="34" charset="0"/>
                          <a:ea typeface="Arial" pitchFamily="34" charset="-122"/>
                          <a:cs typeface="Arial" pitchFamily="34" charset="-120"/>
                        </a:rPr>
                        <a:t>google/gemini-3-flash-preview</a:t>
                      </a:r>
                      <a:endParaRPr lang="en-US" sz="114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140" dirty="0">
                          <a:solidFill>
                            <a:srgbClr val="101828"/>
                          </a:solidFill>
                          <a:latin typeface="Arial" pitchFamily="34" charset="0"/>
                          <a:ea typeface="Arial" pitchFamily="34" charset="-122"/>
                          <a:cs typeface="Arial" pitchFamily="34" charset="-120"/>
                        </a:rPr>
                        <a:t>Phân tích thị trường theo tin tức</a:t>
                      </a:r>
                      <a:endParaRPr lang="en-US" sz="114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extLst>
                  <a:ext uri="{0D108BD9-81ED-4DB2-BD59-A6C34878D82A}">
                    <a16:rowId xmlns:a16="http://schemas.microsoft.com/office/drawing/2014/main" val="10002"/>
                  </a:ext>
                </a:extLst>
              </a:tr>
              <a:tr h="620486">
                <a:tc>
                  <a:txBody>
                    <a:bodyPr/>
                    <a:lstStyle/>
                    <a:p>
                      <a:pPr marL="0" indent="0">
                        <a:buNone/>
                      </a:pPr>
                      <a:r>
                        <a:rPr lang="en-US" sz="1140" dirty="0">
                          <a:solidFill>
                            <a:srgbClr val="101828"/>
                          </a:solidFill>
                          <a:latin typeface="Arial" pitchFamily="34" charset="0"/>
                          <a:ea typeface="Arial" pitchFamily="34" charset="-122"/>
                          <a:cs typeface="Arial" pitchFamily="34" charset="-120"/>
                        </a:rPr>
                        <a:t>ai-extract-financials</a:t>
                      </a:r>
                      <a:endParaRPr lang="en-US" sz="114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140" dirty="0">
                          <a:solidFill>
                            <a:srgbClr val="101828"/>
                          </a:solidFill>
                          <a:latin typeface="Arial" pitchFamily="34" charset="0"/>
                          <a:ea typeface="Arial" pitchFamily="34" charset="-122"/>
                          <a:cs typeface="Arial" pitchFamily="34" charset="-120"/>
                        </a:rPr>
                        <a:t>google/gemini-2.5-pro</a:t>
                      </a:r>
                      <a:endParaRPr lang="en-US" sz="114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140" dirty="0">
                          <a:solidFill>
                            <a:srgbClr val="101828"/>
                          </a:solidFill>
                          <a:latin typeface="Arial" pitchFamily="34" charset="0"/>
                          <a:ea typeface="Arial" pitchFamily="34" charset="-122"/>
                          <a:cs typeface="Arial" pitchFamily="34" charset="-120"/>
                        </a:rPr>
                        <a:t>Trích xuất chỉ số tài chính từ file</a:t>
                      </a:r>
                      <a:endParaRPr lang="en-US" sz="114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extLst>
                  <a:ext uri="{0D108BD9-81ED-4DB2-BD59-A6C34878D82A}">
                    <a16:rowId xmlns:a16="http://schemas.microsoft.com/office/drawing/2014/main" val="10003"/>
                  </a:ext>
                </a:extLst>
              </a:tr>
              <a:tr h="620486">
                <a:tc>
                  <a:txBody>
                    <a:bodyPr/>
                    <a:lstStyle/>
                    <a:p>
                      <a:pPr marL="0" indent="0">
                        <a:buNone/>
                      </a:pPr>
                      <a:r>
                        <a:rPr lang="en-US" sz="1140" dirty="0">
                          <a:solidFill>
                            <a:srgbClr val="101828"/>
                          </a:solidFill>
                          <a:latin typeface="Arial" pitchFamily="34" charset="0"/>
                          <a:ea typeface="Arial" pitchFamily="34" charset="-122"/>
                          <a:cs typeface="Arial" pitchFamily="34" charset="-120"/>
                        </a:rPr>
                        <a:t>sentiment-analysis</a:t>
                      </a:r>
                      <a:endParaRPr lang="en-US" sz="114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140" dirty="0">
                          <a:solidFill>
                            <a:srgbClr val="101828"/>
                          </a:solidFill>
                          <a:latin typeface="Arial" pitchFamily="34" charset="0"/>
                          <a:ea typeface="Arial" pitchFamily="34" charset="-122"/>
                          <a:cs typeface="Arial" pitchFamily="34" charset="-120"/>
                        </a:rPr>
                        <a:t>google/gemini-3-flash-preview</a:t>
                      </a:r>
                      <a:endParaRPr lang="en-US" sz="114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140" dirty="0">
                          <a:solidFill>
                            <a:srgbClr val="101828"/>
                          </a:solidFill>
                          <a:latin typeface="Arial" pitchFamily="34" charset="0"/>
                          <a:ea typeface="Arial" pitchFamily="34" charset="-122"/>
                          <a:cs typeface="Arial" pitchFamily="34" charset="-120"/>
                        </a:rPr>
                        <a:t>Phân tích sentiment</a:t>
                      </a:r>
                      <a:endParaRPr lang="en-US" sz="114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extLst>
                  <a:ext uri="{0D108BD9-81ED-4DB2-BD59-A6C34878D82A}">
                    <a16:rowId xmlns:a16="http://schemas.microsoft.com/office/drawing/2014/main" val="10004"/>
                  </a:ext>
                </a:extLst>
              </a:tr>
              <a:tr h="620486">
                <a:tc>
                  <a:txBody>
                    <a:bodyPr/>
                    <a:lstStyle/>
                    <a:p>
                      <a:pPr marL="0" indent="0">
                        <a:buNone/>
                      </a:pPr>
                      <a:r>
                        <a:rPr lang="en-US" sz="1140" dirty="0">
                          <a:solidFill>
                            <a:srgbClr val="101828"/>
                          </a:solidFill>
                          <a:latin typeface="Arial" pitchFamily="34" charset="0"/>
                          <a:ea typeface="Arial" pitchFamily="34" charset="-122"/>
                          <a:cs typeface="Arial" pitchFamily="34" charset="-120"/>
                        </a:rPr>
                        <a:t>moderate-content</a:t>
                      </a:r>
                      <a:endParaRPr lang="en-US" sz="114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140" dirty="0">
                          <a:solidFill>
                            <a:srgbClr val="101828"/>
                          </a:solidFill>
                          <a:latin typeface="Arial" pitchFamily="34" charset="0"/>
                          <a:ea typeface="Arial" pitchFamily="34" charset="-122"/>
                          <a:cs typeface="Arial" pitchFamily="34" charset="-120"/>
                        </a:rPr>
                        <a:t>google/gemini-3-flash-preview</a:t>
                      </a:r>
                      <a:endParaRPr lang="en-US" sz="114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140" dirty="0">
                          <a:solidFill>
                            <a:srgbClr val="101828"/>
                          </a:solidFill>
                          <a:latin typeface="Arial" pitchFamily="34" charset="0"/>
                          <a:ea typeface="Arial" pitchFamily="34" charset="-122"/>
                          <a:cs typeface="Arial" pitchFamily="34" charset="-120"/>
                        </a:rPr>
                        <a:t>Kiểm duyệt nội dung cộng đồng</a:t>
                      </a:r>
                      <a:endParaRPr lang="en-US" sz="114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extLst>
                  <a:ext uri="{0D108BD9-81ED-4DB2-BD59-A6C34878D82A}">
                    <a16:rowId xmlns:a16="http://schemas.microsoft.com/office/drawing/2014/main" val="10005"/>
                  </a:ext>
                </a:extLst>
              </a:tr>
              <a:tr h="620486">
                <a:tc>
                  <a:txBody>
                    <a:bodyPr/>
                    <a:lstStyle/>
                    <a:p>
                      <a:pPr marL="0" indent="0">
                        <a:buNone/>
                      </a:pPr>
                      <a:r>
                        <a:rPr lang="en-US" sz="1140" dirty="0">
                          <a:solidFill>
                            <a:srgbClr val="101828"/>
                          </a:solidFill>
                          <a:latin typeface="Arial" pitchFamily="34" charset="0"/>
                          <a:ea typeface="Arial" pitchFamily="34" charset="-122"/>
                          <a:cs typeface="Arial" pitchFamily="34" charset="-120"/>
                        </a:rPr>
                        <a:t>equity-research-ai</a:t>
                      </a:r>
                      <a:endParaRPr lang="en-US" sz="114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140" dirty="0">
                          <a:solidFill>
                            <a:srgbClr val="101828"/>
                          </a:solidFill>
                          <a:latin typeface="Arial" pitchFamily="34" charset="0"/>
                          <a:ea typeface="Arial" pitchFamily="34" charset="-122"/>
                          <a:cs typeface="Arial" pitchFamily="34" charset="-120"/>
                        </a:rPr>
                        <a:t>google/gemini-3-flash-preview</a:t>
                      </a:r>
                      <a:endParaRPr lang="en-US" sz="114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140" dirty="0">
                          <a:solidFill>
                            <a:srgbClr val="101828"/>
                          </a:solidFill>
                          <a:latin typeface="Arial" pitchFamily="34" charset="0"/>
                          <a:ea typeface="Arial" pitchFamily="34" charset="-122"/>
                          <a:cs typeface="Arial" pitchFamily="34" charset="-120"/>
                        </a:rPr>
                        <a:t>Multi-agent equity research</a:t>
                      </a:r>
                      <a:endParaRPr lang="en-US" sz="114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6" name="Text 3"/>
          <p:cNvSpPr/>
          <p:nvPr/>
        </p:nvSpPr>
        <p:spPr>
          <a:xfrm>
            <a:off x="502920" y="6236208"/>
            <a:ext cx="10881360" cy="146304"/>
          </a:xfrm>
          <a:prstGeom prst="rect">
            <a:avLst/>
          </a:prstGeom>
          <a:noFill/>
          <a:ln/>
        </p:spPr>
        <p:txBody>
          <a:bodyPr wrap="square" lIns="381" tIns="381" rIns="381" bIns="381" rtlCol="0" anchor="t">
            <a:normAutofit/>
          </a:bodyPr>
          <a:lstStyle/>
          <a:p>
            <a:pPr marL="0" indent="0">
              <a:buNone/>
            </a:pPr>
            <a:r>
              <a:rPr lang="en-US" sz="730" dirty="0">
                <a:solidFill>
                  <a:srgbClr val="667085"/>
                </a:solidFill>
                <a:latin typeface="Arial" pitchFamily="34" charset="0"/>
                <a:ea typeface="Arial" pitchFamily="34" charset="-122"/>
                <a:cs typeface="Arial" pitchFamily="34" charset="-120"/>
              </a:rPr>
              <a:t>Nguồn: rg "google/gemini|ai.gateway" supabase/functions</a:t>
            </a:r>
            <a:endParaRPr lang="en-US" sz="730" dirty="0"/>
          </a:p>
        </p:txBody>
      </p:sp>
      <p:sp>
        <p:nvSpPr>
          <p:cNvPr id="25" name="Slide Number Placeholder 0"/>
          <p:cNvSpPr>
            <a:spLocks noGrp="1"/>
          </p:cNvSpPr>
          <p:nvPr>
            <p:ph type="sldNum" sz="quarter" idx="4294967295"/>
          </p:nvPr>
        </p:nvSpPr>
        <p:spPr>
          <a:xfrm>
            <a:off x="11475720" y="6492240"/>
            <a:ext cx="800000" cy="300000"/>
          </a:xfrm>
          <a:prstGeom prst="rect">
            <a:avLst/>
          </a:prstGeom>
          <a:extLst>
            <a:ext uri="{C572A759-6A51-4108-AA02-DFA0A04FC94B}">
              <ma14:wrappingTextBoxFlag xmlns:ma14="http://schemas.microsoft.com/office/mac/drawingml/2011/main" xmlns="" val="0"/>
            </a:ext>
          </a:extLst>
        </p:spPr>
        <p:txBody>
          <a:bodyPr/>
          <a:lstStyle>
            <a:lvl1pPr>
              <a:defRPr sz="730">
                <a:solidFill>
                  <a:srgbClr val="667085"/>
                </a:solidFill>
                <a:latin typeface="Arial"/>
                <a:ea typeface="Arial"/>
                <a:cs typeface="Arial"/>
              </a:defRPr>
            </a:lvl1pPr>
          </a:lstStyle>
          <a:p>
            <a:pPr algn="l"/>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74320"/>
            <a:ext cx="7132320" cy="201168"/>
          </a:xfrm>
          <a:prstGeom prst="rect">
            <a:avLst/>
          </a:prstGeom>
          <a:noFill/>
          <a:ln/>
        </p:spPr>
        <p:txBody>
          <a:bodyPr wrap="square" lIns="0" tIns="0" rIns="0" bIns="0" rtlCol="0" anchor="ctr"/>
          <a:lstStyle/>
          <a:p>
            <a:pPr marL="0" indent="0">
              <a:buNone/>
            </a:pPr>
            <a:r>
              <a:rPr lang="en-US" sz="820" b="1" dirty="0">
                <a:solidFill>
                  <a:srgbClr val="667085"/>
                </a:solidFill>
                <a:latin typeface="Arial" pitchFamily="34" charset="0"/>
                <a:ea typeface="Arial" pitchFamily="34" charset="-122"/>
                <a:cs typeface="Arial" pitchFamily="34" charset="-120"/>
              </a:rPr>
              <a:t>AUTOMATION</a:t>
            </a:r>
            <a:endParaRPr lang="en-US" sz="820" dirty="0"/>
          </a:p>
        </p:txBody>
      </p:sp>
      <p:sp>
        <p:nvSpPr>
          <p:cNvPr id="3" name="Text 1"/>
          <p:cNvSpPr/>
          <p:nvPr/>
        </p:nvSpPr>
        <p:spPr>
          <a:xfrm>
            <a:off x="502920" y="512064"/>
            <a:ext cx="11155680" cy="566928"/>
          </a:xfrm>
          <a:prstGeom prst="rect">
            <a:avLst/>
          </a:prstGeom>
          <a:noFill/>
          <a:ln/>
        </p:spPr>
        <p:txBody>
          <a:bodyPr wrap="square" lIns="0" tIns="0" rIns="0" bIns="0" rtlCol="0" anchor="ctr">
            <a:normAutofit/>
          </a:bodyPr>
          <a:lstStyle/>
          <a:p>
            <a:pPr marL="0" indent="0">
              <a:buNone/>
            </a:pPr>
            <a:r>
              <a:rPr lang="en-US" sz="2700" b="1" dirty="0">
                <a:solidFill>
                  <a:srgbClr val="101828"/>
                </a:solidFill>
                <a:latin typeface="Arial" pitchFamily="34" charset="0"/>
                <a:ea typeface="Arial" pitchFamily="34" charset="-122"/>
                <a:cs typeface="Arial" pitchFamily="34" charset="-120"/>
              </a:rPr>
              <a:t>Quy trình tự động hóa n8n</a:t>
            </a:r>
            <a:endParaRPr lang="en-US" sz="2700" dirty="0"/>
          </a:p>
        </p:txBody>
      </p:sp>
      <p:sp>
        <p:nvSpPr>
          <p:cNvPr id="4" name="Shape 2"/>
          <p:cNvSpPr/>
          <p:nvPr/>
        </p:nvSpPr>
        <p:spPr>
          <a:xfrm>
            <a:off x="502920" y="1152144"/>
            <a:ext cx="11155680" cy="0"/>
          </a:xfrm>
          <a:prstGeom prst="line">
            <a:avLst/>
          </a:prstGeom>
          <a:noFill/>
          <a:ln w="10160">
            <a:solidFill>
              <a:srgbClr val="D0D5DD"/>
            </a:solidFill>
            <a:prstDash val="solid"/>
          </a:ln>
        </p:spPr>
      </p:sp>
      <p:sp>
        <p:nvSpPr>
          <p:cNvPr id="5" name="Text 3"/>
          <p:cNvSpPr/>
          <p:nvPr/>
        </p:nvSpPr>
        <p:spPr>
          <a:xfrm>
            <a:off x="713232" y="1353312"/>
            <a:ext cx="10652760" cy="384048"/>
          </a:xfrm>
          <a:prstGeom prst="rect">
            <a:avLst/>
          </a:prstGeom>
          <a:noFill/>
          <a:ln/>
        </p:spPr>
        <p:txBody>
          <a:bodyPr wrap="square" lIns="381" tIns="381" rIns="381" bIns="381" rtlCol="0" anchor="t">
            <a:normAutofit fontScale="70000" lnSpcReduction="20000"/>
          </a:bodyPr>
          <a:lstStyle/>
          <a:p>
            <a:pPr marL="0" indent="0">
              <a:buNone/>
            </a:pPr>
            <a:r>
              <a:rPr lang="en-US" sz="2000" b="1" dirty="0">
                <a:solidFill>
                  <a:srgbClr val="101828"/>
                </a:solidFill>
                <a:latin typeface="Arial" pitchFamily="34" charset="0"/>
                <a:ea typeface="Arial" pitchFamily="34" charset="-122"/>
                <a:cs typeface="Arial" pitchFamily="34" charset="-120"/>
              </a:rPr>
              <a:t>Dự án có thiết kế bảng `n8n_runs` để theo dõi workflow gửi ra n8n, payload, trạng thái, kết quả callback và lỗi.</a:t>
            </a:r>
            <a:endParaRPr lang="en-US" sz="2000" dirty="0"/>
          </a:p>
        </p:txBody>
      </p:sp>
      <p:sp>
        <p:nvSpPr>
          <p:cNvPr id="6" name="Shape 4"/>
          <p:cNvSpPr/>
          <p:nvPr/>
        </p:nvSpPr>
        <p:spPr>
          <a:xfrm>
            <a:off x="749808" y="2212848"/>
            <a:ext cx="1874520" cy="1033272"/>
          </a:xfrm>
          <a:prstGeom prst="rect">
            <a:avLst/>
          </a:prstGeom>
          <a:solidFill>
            <a:srgbClr val="FFF7ED"/>
          </a:solidFill>
          <a:ln w="12700">
            <a:solidFill>
              <a:srgbClr val="D0D5DD"/>
            </a:solidFill>
            <a:prstDash val="solid"/>
          </a:ln>
        </p:spPr>
      </p:sp>
      <p:sp>
        <p:nvSpPr>
          <p:cNvPr id="7" name="Text 5"/>
          <p:cNvSpPr/>
          <p:nvPr/>
        </p:nvSpPr>
        <p:spPr>
          <a:xfrm>
            <a:off x="841248" y="2331720"/>
            <a:ext cx="320040" cy="219456"/>
          </a:xfrm>
          <a:prstGeom prst="rect">
            <a:avLst/>
          </a:prstGeom>
          <a:noFill/>
          <a:ln/>
        </p:spPr>
        <p:txBody>
          <a:bodyPr wrap="square" lIns="381" tIns="381" rIns="381" bIns="381" rtlCol="0" anchor="t">
            <a:normAutofit lnSpcReduction="10000"/>
          </a:bodyPr>
          <a:lstStyle/>
          <a:p>
            <a:pPr marL="0" indent="0" algn="ctr">
              <a:buNone/>
            </a:pPr>
            <a:r>
              <a:rPr lang="en-US" sz="1500" b="1" dirty="0">
                <a:solidFill>
                  <a:srgbClr val="667085"/>
                </a:solidFill>
                <a:latin typeface="Arial" pitchFamily="34" charset="0"/>
                <a:ea typeface="Arial" pitchFamily="34" charset="-122"/>
                <a:cs typeface="Arial" pitchFamily="34" charset="-120"/>
              </a:rPr>
              <a:t>1</a:t>
            </a:r>
            <a:endParaRPr lang="en-US" sz="1500" dirty="0"/>
          </a:p>
        </p:txBody>
      </p:sp>
      <p:sp>
        <p:nvSpPr>
          <p:cNvPr id="8" name="Text 6"/>
          <p:cNvSpPr/>
          <p:nvPr/>
        </p:nvSpPr>
        <p:spPr>
          <a:xfrm>
            <a:off x="1161288" y="2423160"/>
            <a:ext cx="1234440" cy="402336"/>
          </a:xfrm>
          <a:prstGeom prst="rect">
            <a:avLst/>
          </a:prstGeom>
          <a:noFill/>
          <a:ln/>
        </p:spPr>
        <p:txBody>
          <a:bodyPr wrap="square" lIns="381" tIns="381" rIns="381" bIns="381" rtlCol="0" anchor="t">
            <a:normAutofit/>
          </a:bodyPr>
          <a:lstStyle/>
          <a:p>
            <a:pPr marL="0" indent="0" algn="ctr">
              <a:buNone/>
            </a:pPr>
            <a:r>
              <a:rPr lang="en-US" sz="1070" b="1" dirty="0">
                <a:solidFill>
                  <a:srgbClr val="101828"/>
                </a:solidFill>
                <a:latin typeface="Arial" pitchFamily="34" charset="0"/>
                <a:ea typeface="Arial" pitchFamily="34" charset="-122"/>
                <a:cs typeface="Arial" pitchFamily="34" charset="-120"/>
              </a:rPr>
              <a:t>Kích hoạt workflow</a:t>
            </a:r>
            <a:endParaRPr lang="en-US" sz="1070" dirty="0"/>
          </a:p>
        </p:txBody>
      </p:sp>
      <p:sp>
        <p:nvSpPr>
          <p:cNvPr id="9" name="Shape 7"/>
          <p:cNvSpPr/>
          <p:nvPr/>
        </p:nvSpPr>
        <p:spPr>
          <a:xfrm>
            <a:off x="2651760" y="2560320"/>
            <a:ext cx="320040" cy="219456"/>
          </a:xfrm>
          <a:prstGeom prst="rightArrow">
            <a:avLst/>
          </a:prstGeom>
          <a:solidFill>
            <a:srgbClr val="D0D5DD"/>
          </a:solidFill>
          <a:ln w="12700">
            <a:solidFill>
              <a:srgbClr val="D0D5DD"/>
            </a:solidFill>
            <a:prstDash val="solid"/>
          </a:ln>
        </p:spPr>
      </p:sp>
      <p:sp>
        <p:nvSpPr>
          <p:cNvPr id="10" name="Shape 8"/>
          <p:cNvSpPr/>
          <p:nvPr/>
        </p:nvSpPr>
        <p:spPr>
          <a:xfrm>
            <a:off x="3017520" y="2212848"/>
            <a:ext cx="1874520" cy="1033272"/>
          </a:xfrm>
          <a:prstGeom prst="rect">
            <a:avLst/>
          </a:prstGeom>
          <a:solidFill>
            <a:srgbClr val="F8FAFC"/>
          </a:solidFill>
          <a:ln w="12700">
            <a:solidFill>
              <a:srgbClr val="D0D5DD"/>
            </a:solidFill>
            <a:prstDash val="solid"/>
          </a:ln>
        </p:spPr>
      </p:sp>
      <p:sp>
        <p:nvSpPr>
          <p:cNvPr id="11" name="Text 9"/>
          <p:cNvSpPr/>
          <p:nvPr/>
        </p:nvSpPr>
        <p:spPr>
          <a:xfrm>
            <a:off x="3108960" y="2331720"/>
            <a:ext cx="320040" cy="219456"/>
          </a:xfrm>
          <a:prstGeom prst="rect">
            <a:avLst/>
          </a:prstGeom>
          <a:noFill/>
          <a:ln/>
        </p:spPr>
        <p:txBody>
          <a:bodyPr wrap="square" lIns="381" tIns="381" rIns="381" bIns="381" rtlCol="0" anchor="t">
            <a:normAutofit lnSpcReduction="10000"/>
          </a:bodyPr>
          <a:lstStyle/>
          <a:p>
            <a:pPr marL="0" indent="0" algn="ctr">
              <a:buNone/>
            </a:pPr>
            <a:r>
              <a:rPr lang="en-US" sz="1500" b="1" dirty="0">
                <a:solidFill>
                  <a:srgbClr val="667085"/>
                </a:solidFill>
                <a:latin typeface="Arial" pitchFamily="34" charset="0"/>
                <a:ea typeface="Arial" pitchFamily="34" charset="-122"/>
                <a:cs typeface="Arial" pitchFamily="34" charset="-120"/>
              </a:rPr>
              <a:t>2</a:t>
            </a:r>
            <a:endParaRPr lang="en-US" sz="1500" dirty="0"/>
          </a:p>
        </p:txBody>
      </p:sp>
      <p:sp>
        <p:nvSpPr>
          <p:cNvPr id="12" name="Text 10"/>
          <p:cNvSpPr/>
          <p:nvPr/>
        </p:nvSpPr>
        <p:spPr>
          <a:xfrm>
            <a:off x="3429000" y="2423160"/>
            <a:ext cx="1234440" cy="402336"/>
          </a:xfrm>
          <a:prstGeom prst="rect">
            <a:avLst/>
          </a:prstGeom>
          <a:noFill/>
          <a:ln/>
        </p:spPr>
        <p:txBody>
          <a:bodyPr wrap="square" lIns="381" tIns="381" rIns="381" bIns="381" rtlCol="0" anchor="t">
            <a:normAutofit/>
          </a:bodyPr>
          <a:lstStyle/>
          <a:p>
            <a:pPr marL="0" indent="0" algn="ctr">
              <a:buNone/>
            </a:pPr>
            <a:r>
              <a:rPr lang="en-US" sz="1070" b="1" dirty="0">
                <a:solidFill>
                  <a:srgbClr val="101828"/>
                </a:solidFill>
                <a:latin typeface="Arial" pitchFamily="34" charset="0"/>
                <a:ea typeface="Arial" pitchFamily="34" charset="-122"/>
                <a:cs typeface="Arial" pitchFamily="34" charset="-120"/>
              </a:rPr>
              <a:t>Ghi payload vào n8n_runs</a:t>
            </a:r>
            <a:endParaRPr lang="en-US" sz="1070" dirty="0"/>
          </a:p>
        </p:txBody>
      </p:sp>
      <p:sp>
        <p:nvSpPr>
          <p:cNvPr id="13" name="Shape 11"/>
          <p:cNvSpPr/>
          <p:nvPr/>
        </p:nvSpPr>
        <p:spPr>
          <a:xfrm>
            <a:off x="4919472" y="2560320"/>
            <a:ext cx="320040" cy="219456"/>
          </a:xfrm>
          <a:prstGeom prst="rightArrow">
            <a:avLst/>
          </a:prstGeom>
          <a:solidFill>
            <a:srgbClr val="D0D5DD"/>
          </a:solidFill>
          <a:ln w="12700">
            <a:solidFill>
              <a:srgbClr val="D0D5DD"/>
            </a:solidFill>
            <a:prstDash val="solid"/>
          </a:ln>
        </p:spPr>
      </p:sp>
      <p:sp>
        <p:nvSpPr>
          <p:cNvPr id="14" name="Shape 12"/>
          <p:cNvSpPr/>
          <p:nvPr/>
        </p:nvSpPr>
        <p:spPr>
          <a:xfrm>
            <a:off x="5285232" y="2212848"/>
            <a:ext cx="1874520" cy="1033272"/>
          </a:xfrm>
          <a:prstGeom prst="rect">
            <a:avLst/>
          </a:prstGeom>
          <a:solidFill>
            <a:srgbClr val="FFF7ED"/>
          </a:solidFill>
          <a:ln w="12700">
            <a:solidFill>
              <a:srgbClr val="E46A11"/>
            </a:solidFill>
            <a:prstDash val="solid"/>
          </a:ln>
        </p:spPr>
      </p:sp>
      <p:sp>
        <p:nvSpPr>
          <p:cNvPr id="15" name="Text 13"/>
          <p:cNvSpPr/>
          <p:nvPr/>
        </p:nvSpPr>
        <p:spPr>
          <a:xfrm>
            <a:off x="5376672" y="2331720"/>
            <a:ext cx="320040" cy="219456"/>
          </a:xfrm>
          <a:prstGeom prst="rect">
            <a:avLst/>
          </a:prstGeom>
          <a:noFill/>
          <a:ln/>
        </p:spPr>
        <p:txBody>
          <a:bodyPr wrap="square" lIns="381" tIns="381" rIns="381" bIns="381" rtlCol="0" anchor="t">
            <a:normAutofit lnSpcReduction="10000"/>
          </a:bodyPr>
          <a:lstStyle/>
          <a:p>
            <a:pPr marL="0" indent="0" algn="ctr">
              <a:buNone/>
            </a:pPr>
            <a:r>
              <a:rPr lang="en-US" sz="1500" b="1" dirty="0">
                <a:solidFill>
                  <a:srgbClr val="E46A11"/>
                </a:solidFill>
                <a:latin typeface="Arial" pitchFamily="34" charset="0"/>
                <a:ea typeface="Arial" pitchFamily="34" charset="-122"/>
                <a:cs typeface="Arial" pitchFamily="34" charset="-120"/>
              </a:rPr>
              <a:t>3</a:t>
            </a:r>
            <a:endParaRPr lang="en-US" sz="1500" dirty="0"/>
          </a:p>
        </p:txBody>
      </p:sp>
      <p:sp>
        <p:nvSpPr>
          <p:cNvPr id="16" name="Text 14"/>
          <p:cNvSpPr/>
          <p:nvPr/>
        </p:nvSpPr>
        <p:spPr>
          <a:xfrm>
            <a:off x="5696712" y="2423160"/>
            <a:ext cx="1234440" cy="402336"/>
          </a:xfrm>
          <a:prstGeom prst="rect">
            <a:avLst/>
          </a:prstGeom>
          <a:noFill/>
          <a:ln/>
        </p:spPr>
        <p:txBody>
          <a:bodyPr wrap="square" lIns="381" tIns="381" rIns="381" bIns="381" rtlCol="0" anchor="t">
            <a:normAutofit/>
          </a:bodyPr>
          <a:lstStyle/>
          <a:p>
            <a:pPr marL="0" indent="0" algn="ctr">
              <a:buNone/>
            </a:pPr>
            <a:r>
              <a:rPr lang="en-US" sz="1070" b="1" dirty="0">
                <a:solidFill>
                  <a:srgbClr val="101828"/>
                </a:solidFill>
                <a:latin typeface="Arial" pitchFamily="34" charset="0"/>
                <a:ea typeface="Arial" pitchFamily="34" charset="-122"/>
                <a:cs typeface="Arial" pitchFamily="34" charset="-120"/>
              </a:rPr>
              <a:t>n8n xử lý tự động</a:t>
            </a:r>
            <a:endParaRPr lang="en-US" sz="1070" dirty="0"/>
          </a:p>
        </p:txBody>
      </p:sp>
      <p:sp>
        <p:nvSpPr>
          <p:cNvPr id="17" name="Shape 15"/>
          <p:cNvSpPr/>
          <p:nvPr/>
        </p:nvSpPr>
        <p:spPr>
          <a:xfrm>
            <a:off x="7187184" y="2560320"/>
            <a:ext cx="320040" cy="219456"/>
          </a:xfrm>
          <a:prstGeom prst="rightArrow">
            <a:avLst/>
          </a:prstGeom>
          <a:solidFill>
            <a:srgbClr val="D0D5DD"/>
          </a:solidFill>
          <a:ln w="12700">
            <a:solidFill>
              <a:srgbClr val="D0D5DD"/>
            </a:solidFill>
            <a:prstDash val="solid"/>
          </a:ln>
        </p:spPr>
      </p:sp>
      <p:sp>
        <p:nvSpPr>
          <p:cNvPr id="18" name="Shape 16"/>
          <p:cNvSpPr/>
          <p:nvPr/>
        </p:nvSpPr>
        <p:spPr>
          <a:xfrm>
            <a:off x="7552944" y="2212848"/>
            <a:ext cx="1874520" cy="1033272"/>
          </a:xfrm>
          <a:prstGeom prst="rect">
            <a:avLst/>
          </a:prstGeom>
          <a:solidFill>
            <a:srgbClr val="F8FAFC"/>
          </a:solidFill>
          <a:ln w="12700">
            <a:solidFill>
              <a:srgbClr val="D0D5DD"/>
            </a:solidFill>
            <a:prstDash val="solid"/>
          </a:ln>
        </p:spPr>
      </p:sp>
      <p:sp>
        <p:nvSpPr>
          <p:cNvPr id="19" name="Text 17"/>
          <p:cNvSpPr/>
          <p:nvPr/>
        </p:nvSpPr>
        <p:spPr>
          <a:xfrm>
            <a:off x="7644384" y="2331720"/>
            <a:ext cx="320040" cy="219456"/>
          </a:xfrm>
          <a:prstGeom prst="rect">
            <a:avLst/>
          </a:prstGeom>
          <a:noFill/>
          <a:ln/>
        </p:spPr>
        <p:txBody>
          <a:bodyPr wrap="square" lIns="381" tIns="381" rIns="381" bIns="381" rtlCol="0" anchor="t">
            <a:normAutofit lnSpcReduction="10000"/>
          </a:bodyPr>
          <a:lstStyle/>
          <a:p>
            <a:pPr marL="0" indent="0" algn="ctr">
              <a:buNone/>
            </a:pPr>
            <a:r>
              <a:rPr lang="en-US" sz="1500" b="1" dirty="0">
                <a:solidFill>
                  <a:srgbClr val="667085"/>
                </a:solidFill>
                <a:latin typeface="Arial" pitchFamily="34" charset="0"/>
                <a:ea typeface="Arial" pitchFamily="34" charset="-122"/>
                <a:cs typeface="Arial" pitchFamily="34" charset="-120"/>
              </a:rPr>
              <a:t>4</a:t>
            </a:r>
            <a:endParaRPr lang="en-US" sz="1500" dirty="0"/>
          </a:p>
        </p:txBody>
      </p:sp>
      <p:sp>
        <p:nvSpPr>
          <p:cNvPr id="20" name="Text 18"/>
          <p:cNvSpPr/>
          <p:nvPr/>
        </p:nvSpPr>
        <p:spPr>
          <a:xfrm>
            <a:off x="7964424" y="2423160"/>
            <a:ext cx="1234440" cy="402336"/>
          </a:xfrm>
          <a:prstGeom prst="rect">
            <a:avLst/>
          </a:prstGeom>
          <a:noFill/>
          <a:ln/>
        </p:spPr>
        <p:txBody>
          <a:bodyPr wrap="square" lIns="381" tIns="381" rIns="381" bIns="381" rtlCol="0" anchor="t">
            <a:normAutofit/>
          </a:bodyPr>
          <a:lstStyle/>
          <a:p>
            <a:pPr marL="0" indent="0" algn="ctr">
              <a:buNone/>
            </a:pPr>
            <a:r>
              <a:rPr lang="en-US" sz="1070" b="1" dirty="0">
                <a:solidFill>
                  <a:srgbClr val="101828"/>
                </a:solidFill>
                <a:latin typeface="Arial" pitchFamily="34" charset="0"/>
                <a:ea typeface="Arial" pitchFamily="34" charset="-122"/>
                <a:cs typeface="Arial" pitchFamily="34" charset="-120"/>
              </a:rPr>
              <a:t>Callback result/error</a:t>
            </a:r>
            <a:endParaRPr lang="en-US" sz="1070" dirty="0"/>
          </a:p>
        </p:txBody>
      </p:sp>
      <p:sp>
        <p:nvSpPr>
          <p:cNvPr id="21" name="Shape 19"/>
          <p:cNvSpPr/>
          <p:nvPr/>
        </p:nvSpPr>
        <p:spPr>
          <a:xfrm>
            <a:off x="9454896" y="2560320"/>
            <a:ext cx="320040" cy="219456"/>
          </a:xfrm>
          <a:prstGeom prst="rightArrow">
            <a:avLst/>
          </a:prstGeom>
          <a:solidFill>
            <a:srgbClr val="D0D5DD"/>
          </a:solidFill>
          <a:ln w="12700">
            <a:solidFill>
              <a:srgbClr val="D0D5DD"/>
            </a:solidFill>
            <a:prstDash val="solid"/>
          </a:ln>
        </p:spPr>
      </p:sp>
      <p:sp>
        <p:nvSpPr>
          <p:cNvPr id="22" name="Shape 20"/>
          <p:cNvSpPr/>
          <p:nvPr/>
        </p:nvSpPr>
        <p:spPr>
          <a:xfrm>
            <a:off x="9820656" y="2212848"/>
            <a:ext cx="1874520" cy="1033272"/>
          </a:xfrm>
          <a:prstGeom prst="rect">
            <a:avLst/>
          </a:prstGeom>
          <a:solidFill>
            <a:srgbClr val="FFF7ED"/>
          </a:solidFill>
          <a:ln w="12700">
            <a:solidFill>
              <a:srgbClr val="D0D5DD"/>
            </a:solidFill>
            <a:prstDash val="solid"/>
          </a:ln>
        </p:spPr>
      </p:sp>
      <p:sp>
        <p:nvSpPr>
          <p:cNvPr id="23" name="Text 21"/>
          <p:cNvSpPr/>
          <p:nvPr/>
        </p:nvSpPr>
        <p:spPr>
          <a:xfrm>
            <a:off x="9912096" y="2331720"/>
            <a:ext cx="320040" cy="219456"/>
          </a:xfrm>
          <a:prstGeom prst="rect">
            <a:avLst/>
          </a:prstGeom>
          <a:noFill/>
          <a:ln/>
        </p:spPr>
        <p:txBody>
          <a:bodyPr wrap="square" lIns="381" tIns="381" rIns="381" bIns="381" rtlCol="0" anchor="t">
            <a:normAutofit lnSpcReduction="10000"/>
          </a:bodyPr>
          <a:lstStyle/>
          <a:p>
            <a:pPr marL="0" indent="0" algn="ctr">
              <a:buNone/>
            </a:pPr>
            <a:r>
              <a:rPr lang="en-US" sz="1500" b="1" dirty="0">
                <a:solidFill>
                  <a:srgbClr val="667085"/>
                </a:solidFill>
                <a:latin typeface="Arial" pitchFamily="34" charset="0"/>
                <a:ea typeface="Arial" pitchFamily="34" charset="-122"/>
                <a:cs typeface="Arial" pitchFamily="34" charset="-120"/>
              </a:rPr>
              <a:t>5</a:t>
            </a:r>
            <a:endParaRPr lang="en-US" sz="1500" dirty="0"/>
          </a:p>
        </p:txBody>
      </p:sp>
      <p:sp>
        <p:nvSpPr>
          <p:cNvPr id="24" name="Text 22"/>
          <p:cNvSpPr/>
          <p:nvPr/>
        </p:nvSpPr>
        <p:spPr>
          <a:xfrm>
            <a:off x="10232136" y="2423160"/>
            <a:ext cx="1234440" cy="402336"/>
          </a:xfrm>
          <a:prstGeom prst="rect">
            <a:avLst/>
          </a:prstGeom>
          <a:noFill/>
          <a:ln/>
        </p:spPr>
        <p:txBody>
          <a:bodyPr wrap="square" lIns="381" tIns="381" rIns="381" bIns="381" rtlCol="0" anchor="t">
            <a:normAutofit/>
          </a:bodyPr>
          <a:lstStyle/>
          <a:p>
            <a:pPr marL="0" indent="0" algn="ctr">
              <a:buNone/>
            </a:pPr>
            <a:r>
              <a:rPr lang="en-US" sz="1070" b="1" dirty="0">
                <a:solidFill>
                  <a:srgbClr val="101828"/>
                </a:solidFill>
                <a:latin typeface="Arial" pitchFamily="34" charset="0"/>
                <a:ea typeface="Arial" pitchFamily="34" charset="-122"/>
                <a:cs typeface="Arial" pitchFamily="34" charset="-120"/>
              </a:rPr>
              <a:t>UI truy vết theo user</a:t>
            </a:r>
            <a:endParaRPr lang="en-US" sz="107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777240" y="4005072"/>
          <a:ext cx="4892040" cy="1600200"/>
        </p:xfrm>
        <a:graphic>
          <a:graphicData uri="http://schemas.openxmlformats.org/drawingml/2006/table">
            <a:tbl>
              <a:tblPr/>
              <a:tblGrid>
                <a:gridCol w="123444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tblGrid>
              <a:tr h="266700">
                <a:tc>
                  <a:txBody>
                    <a:bodyPr/>
                    <a:lstStyle/>
                    <a:p>
                      <a:pPr marL="0" indent="0">
                        <a:buNone/>
                      </a:pPr>
                      <a:r>
                        <a:rPr lang="en-US" sz="1080" dirty="0">
                          <a:solidFill>
                            <a:srgbClr val="101828"/>
                          </a:solidFill>
                          <a:latin typeface="Arial" pitchFamily="34" charset="0"/>
                          <a:ea typeface="Arial" pitchFamily="34" charset="-122"/>
                          <a:cs typeface="Arial" pitchFamily="34" charset="-120"/>
                        </a:rPr>
                        <a:t>Trường</a:t>
                      </a:r>
                      <a:endParaRPr lang="en-US" sz="108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080" dirty="0">
                          <a:solidFill>
                            <a:srgbClr val="101828"/>
                          </a:solidFill>
                          <a:latin typeface="Arial" pitchFamily="34" charset="0"/>
                          <a:ea typeface="Arial" pitchFamily="34" charset="-122"/>
                          <a:cs typeface="Arial" pitchFamily="34" charset="-120"/>
                        </a:rPr>
                        <a:t>Ý nghĩa</a:t>
                      </a:r>
                      <a:endParaRPr lang="en-US" sz="108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extLst>
                  <a:ext uri="{0D108BD9-81ED-4DB2-BD59-A6C34878D82A}">
                    <a16:rowId xmlns:a16="http://schemas.microsoft.com/office/drawing/2014/main" val="10000"/>
                  </a:ext>
                </a:extLst>
              </a:tr>
              <a:tr h="266700">
                <a:tc>
                  <a:txBody>
                    <a:bodyPr/>
                    <a:lstStyle/>
                    <a:p>
                      <a:pPr marL="0" indent="0">
                        <a:buNone/>
                      </a:pPr>
                      <a:r>
                        <a:rPr lang="en-US" sz="1080" dirty="0">
                          <a:solidFill>
                            <a:srgbClr val="101828"/>
                          </a:solidFill>
                          <a:latin typeface="Arial" pitchFamily="34" charset="0"/>
                          <a:ea typeface="Arial" pitchFamily="34" charset="-122"/>
                          <a:cs typeface="Arial" pitchFamily="34" charset="-120"/>
                        </a:rPr>
                        <a:t>workflow</a:t>
                      </a:r>
                      <a:endParaRPr lang="en-US" sz="108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080" dirty="0">
                          <a:solidFill>
                            <a:srgbClr val="101828"/>
                          </a:solidFill>
                          <a:latin typeface="Arial" pitchFamily="34" charset="0"/>
                          <a:ea typeface="Arial" pitchFamily="34" charset="-122"/>
                          <a:cs typeface="Arial" pitchFamily="34" charset="-120"/>
                        </a:rPr>
                        <a:t>Tên workflow n8n</a:t>
                      </a:r>
                      <a:endParaRPr lang="en-US" sz="108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extLst>
                  <a:ext uri="{0D108BD9-81ED-4DB2-BD59-A6C34878D82A}">
                    <a16:rowId xmlns:a16="http://schemas.microsoft.com/office/drawing/2014/main" val="10001"/>
                  </a:ext>
                </a:extLst>
              </a:tr>
              <a:tr h="266700">
                <a:tc>
                  <a:txBody>
                    <a:bodyPr/>
                    <a:lstStyle/>
                    <a:p>
                      <a:pPr marL="0" indent="0">
                        <a:buNone/>
                      </a:pPr>
                      <a:r>
                        <a:rPr lang="en-US" sz="1080" dirty="0">
                          <a:solidFill>
                            <a:srgbClr val="101828"/>
                          </a:solidFill>
                          <a:latin typeface="Arial" pitchFamily="34" charset="0"/>
                          <a:ea typeface="Arial" pitchFamily="34" charset="-122"/>
                          <a:cs typeface="Arial" pitchFamily="34" charset="-120"/>
                        </a:rPr>
                        <a:t>status</a:t>
                      </a:r>
                      <a:endParaRPr lang="en-US" sz="108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080" dirty="0">
                          <a:solidFill>
                            <a:srgbClr val="101828"/>
                          </a:solidFill>
                          <a:latin typeface="Arial" pitchFamily="34" charset="0"/>
                          <a:ea typeface="Arial" pitchFamily="34" charset="-122"/>
                          <a:cs typeface="Arial" pitchFamily="34" charset="-120"/>
                        </a:rPr>
                        <a:t>pending/success/error</a:t>
                      </a:r>
                      <a:endParaRPr lang="en-US" sz="108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extLst>
                  <a:ext uri="{0D108BD9-81ED-4DB2-BD59-A6C34878D82A}">
                    <a16:rowId xmlns:a16="http://schemas.microsoft.com/office/drawing/2014/main" val="10002"/>
                  </a:ext>
                </a:extLst>
              </a:tr>
              <a:tr h="266700">
                <a:tc>
                  <a:txBody>
                    <a:bodyPr/>
                    <a:lstStyle/>
                    <a:p>
                      <a:pPr marL="0" indent="0">
                        <a:buNone/>
                      </a:pPr>
                      <a:r>
                        <a:rPr lang="en-US" sz="1080" dirty="0">
                          <a:solidFill>
                            <a:srgbClr val="101828"/>
                          </a:solidFill>
                          <a:latin typeface="Arial" pitchFamily="34" charset="0"/>
                          <a:ea typeface="Arial" pitchFamily="34" charset="-122"/>
                          <a:cs typeface="Arial" pitchFamily="34" charset="-120"/>
                        </a:rPr>
                        <a:t>payload</a:t>
                      </a:r>
                      <a:endParaRPr lang="en-US" sz="108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080" dirty="0">
                          <a:solidFill>
                            <a:srgbClr val="101828"/>
                          </a:solidFill>
                          <a:latin typeface="Arial" pitchFamily="34" charset="0"/>
                          <a:ea typeface="Arial" pitchFamily="34" charset="-122"/>
                          <a:cs typeface="Arial" pitchFamily="34" charset="-120"/>
                        </a:rPr>
                        <a:t>Dữ liệu đầu vào</a:t>
                      </a:r>
                      <a:endParaRPr lang="en-US" sz="108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extLst>
                  <a:ext uri="{0D108BD9-81ED-4DB2-BD59-A6C34878D82A}">
                    <a16:rowId xmlns:a16="http://schemas.microsoft.com/office/drawing/2014/main" val="10003"/>
                  </a:ext>
                </a:extLst>
              </a:tr>
              <a:tr h="266700">
                <a:tc>
                  <a:txBody>
                    <a:bodyPr/>
                    <a:lstStyle/>
                    <a:p>
                      <a:pPr marL="0" indent="0">
                        <a:buNone/>
                      </a:pPr>
                      <a:r>
                        <a:rPr lang="en-US" sz="1080" dirty="0">
                          <a:solidFill>
                            <a:srgbClr val="101828"/>
                          </a:solidFill>
                          <a:latin typeface="Arial" pitchFamily="34" charset="0"/>
                          <a:ea typeface="Arial" pitchFamily="34" charset="-122"/>
                          <a:cs typeface="Arial" pitchFamily="34" charset="-120"/>
                        </a:rPr>
                        <a:t>result</a:t>
                      </a:r>
                      <a:endParaRPr lang="en-US" sz="108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080" dirty="0">
                          <a:solidFill>
                            <a:srgbClr val="101828"/>
                          </a:solidFill>
                          <a:latin typeface="Arial" pitchFamily="34" charset="0"/>
                          <a:ea typeface="Arial" pitchFamily="34" charset="-122"/>
                          <a:cs typeface="Arial" pitchFamily="34" charset="-120"/>
                        </a:rPr>
                        <a:t>Kết quả callback</a:t>
                      </a:r>
                      <a:endParaRPr lang="en-US" sz="108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extLst>
                  <a:ext uri="{0D108BD9-81ED-4DB2-BD59-A6C34878D82A}">
                    <a16:rowId xmlns:a16="http://schemas.microsoft.com/office/drawing/2014/main" val="10004"/>
                  </a:ext>
                </a:extLst>
              </a:tr>
              <a:tr h="266700">
                <a:tc>
                  <a:txBody>
                    <a:bodyPr/>
                    <a:lstStyle/>
                    <a:p>
                      <a:pPr marL="0" indent="0">
                        <a:buNone/>
                      </a:pPr>
                      <a:r>
                        <a:rPr lang="en-US" sz="1080" dirty="0">
                          <a:solidFill>
                            <a:srgbClr val="101828"/>
                          </a:solidFill>
                          <a:latin typeface="Arial" pitchFamily="34" charset="0"/>
                          <a:ea typeface="Arial" pitchFamily="34" charset="-122"/>
                          <a:cs typeface="Arial" pitchFamily="34" charset="-120"/>
                        </a:rPr>
                        <a:t>error</a:t>
                      </a:r>
                      <a:endParaRPr lang="en-US" sz="108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080" dirty="0">
                          <a:solidFill>
                            <a:srgbClr val="101828"/>
                          </a:solidFill>
                          <a:latin typeface="Arial" pitchFamily="34" charset="0"/>
                          <a:ea typeface="Arial" pitchFamily="34" charset="-122"/>
                          <a:cs typeface="Arial" pitchFamily="34" charset="-120"/>
                        </a:rPr>
                        <a:t>Thông tin lỗi</a:t>
                      </a:r>
                      <a:endParaRPr lang="en-US" sz="108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26" name="Shape 23"/>
          <p:cNvSpPr/>
          <p:nvPr/>
        </p:nvSpPr>
        <p:spPr>
          <a:xfrm>
            <a:off x="6126480" y="4005072"/>
            <a:ext cx="5138928" cy="1600200"/>
          </a:xfrm>
          <a:prstGeom prst="rect">
            <a:avLst/>
          </a:prstGeom>
          <a:solidFill>
            <a:srgbClr val="FEF3F2"/>
          </a:solidFill>
          <a:ln w="12700">
            <a:solidFill>
              <a:srgbClr val="B42318"/>
            </a:solidFill>
            <a:prstDash val="solid"/>
          </a:ln>
        </p:spPr>
      </p:sp>
      <p:sp>
        <p:nvSpPr>
          <p:cNvPr id="27" name="Text 24"/>
          <p:cNvSpPr/>
          <p:nvPr/>
        </p:nvSpPr>
        <p:spPr>
          <a:xfrm>
            <a:off x="6272784" y="4123944"/>
            <a:ext cx="4846320" cy="219456"/>
          </a:xfrm>
          <a:prstGeom prst="rect">
            <a:avLst/>
          </a:prstGeom>
          <a:noFill/>
          <a:ln/>
        </p:spPr>
        <p:txBody>
          <a:bodyPr wrap="square" lIns="381" tIns="381" rIns="381" bIns="381" rtlCol="0" anchor="t">
            <a:normAutofit/>
          </a:bodyPr>
          <a:lstStyle/>
          <a:p>
            <a:pPr marL="0" indent="0">
              <a:buNone/>
            </a:pPr>
            <a:r>
              <a:rPr lang="en-US" sz="1320" b="1" dirty="0">
                <a:solidFill>
                  <a:srgbClr val="B42318"/>
                </a:solidFill>
                <a:latin typeface="Arial" pitchFamily="34" charset="0"/>
                <a:ea typeface="Arial" pitchFamily="34" charset="-122"/>
                <a:cs typeface="Arial" pitchFamily="34" charset="-120"/>
              </a:rPr>
              <a:t>Bảo mật workflow</a:t>
            </a:r>
            <a:endParaRPr lang="en-US" sz="1320" dirty="0"/>
          </a:p>
        </p:txBody>
      </p:sp>
      <p:sp>
        <p:nvSpPr>
          <p:cNvPr id="28" name="Text 25"/>
          <p:cNvSpPr/>
          <p:nvPr/>
        </p:nvSpPr>
        <p:spPr>
          <a:xfrm>
            <a:off x="6272784" y="4434840"/>
            <a:ext cx="4846320" cy="1078992"/>
          </a:xfrm>
          <a:prstGeom prst="rect">
            <a:avLst/>
          </a:prstGeom>
          <a:noFill/>
          <a:ln/>
        </p:spPr>
        <p:txBody>
          <a:bodyPr wrap="square" lIns="381" tIns="381" rIns="381" bIns="381" rtlCol="0" anchor="t">
            <a:normAutofit/>
          </a:bodyPr>
          <a:lstStyle/>
          <a:p>
            <a:pPr marL="0" indent="0">
              <a:buNone/>
            </a:pPr>
            <a:r>
              <a:rPr lang="en-US" sz="1180" dirty="0">
                <a:solidFill>
                  <a:srgbClr val="101828"/>
                </a:solidFill>
                <a:latin typeface="Arial" pitchFamily="34" charset="0"/>
                <a:ea typeface="Arial" pitchFamily="34" charset="-122"/>
                <a:cs typeface="Arial" pitchFamily="34" charset="-120"/>
              </a:rPr>
              <a:t>Bảng n8n_runs bật RLS theo user_id. Migration sau đó DROP khỏi supabase_realtime để tránh lộ dữ liệu workflow giữa người dùng.</a:t>
            </a:r>
            <a:endParaRPr lang="en-US" sz="1180" dirty="0"/>
          </a:p>
        </p:txBody>
      </p:sp>
      <p:sp>
        <p:nvSpPr>
          <p:cNvPr id="29" name="Text 26"/>
          <p:cNvSpPr/>
          <p:nvPr/>
        </p:nvSpPr>
        <p:spPr>
          <a:xfrm>
            <a:off x="502920" y="6236208"/>
            <a:ext cx="10881360" cy="146304"/>
          </a:xfrm>
          <a:prstGeom prst="rect">
            <a:avLst/>
          </a:prstGeom>
          <a:noFill/>
          <a:ln/>
        </p:spPr>
        <p:txBody>
          <a:bodyPr wrap="square" lIns="381" tIns="381" rIns="381" bIns="381" rtlCol="0" anchor="t">
            <a:normAutofit/>
          </a:bodyPr>
          <a:lstStyle/>
          <a:p>
            <a:pPr marL="0" indent="0">
              <a:buNone/>
            </a:pPr>
            <a:r>
              <a:rPr lang="en-US" sz="730" dirty="0">
                <a:solidFill>
                  <a:srgbClr val="667085"/>
                </a:solidFill>
                <a:latin typeface="Arial" pitchFamily="34" charset="0"/>
                <a:ea typeface="Arial" pitchFamily="34" charset="-122"/>
                <a:cs typeface="Arial" pitchFamily="34" charset="-120"/>
              </a:rPr>
              <a:t>Nguồn: supabase/migrations/20260514233440_*.sql; 20260602014623_*.sql; src/integrations/supabase/types.ts</a:t>
            </a:r>
            <a:endParaRPr lang="en-US" sz="730" dirty="0"/>
          </a:p>
        </p:txBody>
      </p:sp>
      <p:sp>
        <p:nvSpPr>
          <p:cNvPr id="25" name="Slide Number Placeholder 0"/>
          <p:cNvSpPr>
            <a:spLocks noGrp="1"/>
          </p:cNvSpPr>
          <p:nvPr>
            <p:ph type="sldNum" sz="quarter" idx="4294967295"/>
          </p:nvPr>
        </p:nvSpPr>
        <p:spPr>
          <a:xfrm>
            <a:off x="11475720" y="6492240"/>
            <a:ext cx="800000" cy="300000"/>
          </a:xfrm>
          <a:prstGeom prst="rect">
            <a:avLst/>
          </a:prstGeom>
          <a:extLst>
            <a:ext uri="{C572A759-6A51-4108-AA02-DFA0A04FC94B}">
              <ma14:wrappingTextBoxFlag xmlns:ma14="http://schemas.microsoft.com/office/mac/drawingml/2011/main" xmlns="" val="0"/>
            </a:ext>
          </a:extLst>
        </p:spPr>
        <p:txBody>
          <a:bodyPr/>
          <a:lstStyle>
            <a:lvl1pPr>
              <a:defRPr sz="730">
                <a:solidFill>
                  <a:srgbClr val="667085"/>
                </a:solidFill>
                <a:latin typeface="Arial"/>
                <a:ea typeface="Arial"/>
                <a:cs typeface="Arial"/>
              </a:defRPr>
            </a:lvl1pPr>
          </a:lstStyle>
          <a:p>
            <a:pPr algn="l"/>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74320"/>
            <a:ext cx="7132320" cy="201168"/>
          </a:xfrm>
          <a:prstGeom prst="rect">
            <a:avLst/>
          </a:prstGeom>
          <a:noFill/>
          <a:ln/>
        </p:spPr>
        <p:txBody>
          <a:bodyPr wrap="square" lIns="0" tIns="0" rIns="0" bIns="0" rtlCol="0" anchor="ctr"/>
          <a:lstStyle/>
          <a:p>
            <a:pPr marL="0" indent="0">
              <a:buNone/>
            </a:pPr>
            <a:r>
              <a:rPr lang="en-US" sz="820" b="1" dirty="0">
                <a:solidFill>
                  <a:srgbClr val="667085"/>
                </a:solidFill>
                <a:latin typeface="Arial" pitchFamily="34" charset="0"/>
                <a:ea typeface="Arial" pitchFamily="34" charset="-122"/>
                <a:cs typeface="Arial" pitchFamily="34" charset="-120"/>
              </a:rPr>
              <a:t>ẢNH BẰNG CHỨNG TRONG REPOSITORY</a:t>
            </a:r>
            <a:endParaRPr lang="en-US" sz="820" dirty="0"/>
          </a:p>
        </p:txBody>
      </p:sp>
      <p:sp>
        <p:nvSpPr>
          <p:cNvPr id="3" name="Text 1"/>
          <p:cNvSpPr/>
          <p:nvPr/>
        </p:nvSpPr>
        <p:spPr>
          <a:xfrm>
            <a:off x="502920" y="512064"/>
            <a:ext cx="11155680" cy="566928"/>
          </a:xfrm>
          <a:prstGeom prst="rect">
            <a:avLst/>
          </a:prstGeom>
          <a:noFill/>
          <a:ln/>
        </p:spPr>
        <p:txBody>
          <a:bodyPr wrap="square" lIns="0" tIns="0" rIns="0" bIns="0" rtlCol="0" anchor="ctr">
            <a:normAutofit/>
          </a:bodyPr>
          <a:lstStyle/>
          <a:p>
            <a:pPr marL="0" indent="0">
              <a:buNone/>
            </a:pPr>
            <a:r>
              <a:rPr lang="en-US" sz="2700" b="1" dirty="0">
                <a:solidFill>
                  <a:srgbClr val="101828"/>
                </a:solidFill>
                <a:latin typeface="Arial" pitchFamily="34" charset="0"/>
                <a:ea typeface="Arial" pitchFamily="34" charset="-122"/>
                <a:cs typeface="Arial" pitchFamily="34" charset="-120"/>
              </a:rPr>
              <a:t>Kiến trúc hệ thống</a:t>
            </a:r>
            <a:endParaRPr lang="en-US" sz="2700" dirty="0"/>
          </a:p>
        </p:txBody>
      </p:sp>
      <p:sp>
        <p:nvSpPr>
          <p:cNvPr id="4" name="Shape 2"/>
          <p:cNvSpPr/>
          <p:nvPr/>
        </p:nvSpPr>
        <p:spPr>
          <a:xfrm>
            <a:off x="502920" y="1152144"/>
            <a:ext cx="11155680" cy="0"/>
          </a:xfrm>
          <a:prstGeom prst="line">
            <a:avLst/>
          </a:prstGeom>
          <a:noFill/>
          <a:ln w="10160">
            <a:solidFill>
              <a:srgbClr val="D0D5DD"/>
            </a:solidFill>
            <a:prstDash val="solid"/>
          </a:ln>
        </p:spPr>
      </p:sp>
      <p:pic>
        <p:nvPicPr>
          <p:cNvPr id="5" name="Image 0" descr="D:\CRM\crystal-ball-insights\src\assets\dashboard-architecture.jpg"/>
          <p:cNvPicPr>
            <a:picLocks noChangeAspect="1"/>
          </p:cNvPicPr>
          <p:nvPr/>
        </p:nvPicPr>
        <p:blipFill>
          <a:blip r:embed="rId3"/>
          <a:srcRect/>
          <a:stretch/>
        </p:blipFill>
        <p:spPr>
          <a:xfrm>
            <a:off x="576072" y="1307592"/>
            <a:ext cx="11018520" cy="4956048"/>
          </a:xfrm>
          <a:prstGeom prst="rect">
            <a:avLst/>
          </a:prstGeom>
        </p:spPr>
      </p:pic>
      <p:sp>
        <p:nvSpPr>
          <p:cNvPr id="6" name="Text 3"/>
          <p:cNvSpPr/>
          <p:nvPr/>
        </p:nvSpPr>
        <p:spPr>
          <a:xfrm>
            <a:off x="502920" y="6236208"/>
            <a:ext cx="10881360" cy="146304"/>
          </a:xfrm>
          <a:prstGeom prst="rect">
            <a:avLst/>
          </a:prstGeom>
          <a:noFill/>
          <a:ln/>
        </p:spPr>
        <p:txBody>
          <a:bodyPr wrap="square" lIns="381" tIns="381" rIns="381" bIns="381" rtlCol="0" anchor="t">
            <a:normAutofit/>
          </a:bodyPr>
          <a:lstStyle/>
          <a:p>
            <a:pPr marL="0" indent="0">
              <a:buNone/>
            </a:pPr>
            <a:r>
              <a:rPr lang="en-US" sz="730" dirty="0">
                <a:solidFill>
                  <a:srgbClr val="667085"/>
                </a:solidFill>
                <a:latin typeface="Arial" pitchFamily="34" charset="0"/>
                <a:ea typeface="Arial" pitchFamily="34" charset="-122"/>
                <a:cs typeface="Arial" pitchFamily="34" charset="-120"/>
              </a:rPr>
              <a:t>Ảnh gốc: src/assets/dashboard-architecture.jpg</a:t>
            </a:r>
            <a:endParaRPr lang="en-US" sz="730" dirty="0"/>
          </a:p>
        </p:txBody>
      </p:sp>
      <p:sp>
        <p:nvSpPr>
          <p:cNvPr id="25" name="Slide Number Placeholder 0"/>
          <p:cNvSpPr>
            <a:spLocks noGrp="1"/>
          </p:cNvSpPr>
          <p:nvPr>
            <p:ph type="sldNum" sz="quarter" idx="4294967295"/>
          </p:nvPr>
        </p:nvSpPr>
        <p:spPr>
          <a:xfrm>
            <a:off x="11475720" y="6492240"/>
            <a:ext cx="800000" cy="300000"/>
          </a:xfrm>
          <a:prstGeom prst="rect">
            <a:avLst/>
          </a:prstGeom>
          <a:extLst>
            <a:ext uri="{C572A759-6A51-4108-AA02-DFA0A04FC94B}">
              <ma14:wrappingTextBoxFlag xmlns:ma14="http://schemas.microsoft.com/office/mac/drawingml/2011/main" xmlns="" val="0"/>
            </a:ext>
          </a:extLst>
        </p:spPr>
        <p:txBody>
          <a:bodyPr/>
          <a:lstStyle>
            <a:lvl1pPr>
              <a:defRPr sz="730">
                <a:solidFill>
                  <a:srgbClr val="667085"/>
                </a:solidFill>
                <a:latin typeface="Arial"/>
                <a:ea typeface="Arial"/>
                <a:cs typeface="Arial"/>
              </a:defRPr>
            </a:lvl1pPr>
          </a:lstStyle>
          <a:p>
            <a:pPr algn="l"/>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74320"/>
            <a:ext cx="7132320" cy="201168"/>
          </a:xfrm>
          <a:prstGeom prst="rect">
            <a:avLst/>
          </a:prstGeom>
          <a:noFill/>
          <a:ln/>
        </p:spPr>
        <p:txBody>
          <a:bodyPr wrap="square" lIns="0" tIns="0" rIns="0" bIns="0" rtlCol="0" anchor="ctr"/>
          <a:lstStyle/>
          <a:p>
            <a:pPr marL="0" indent="0">
              <a:buNone/>
            </a:pPr>
            <a:r>
              <a:rPr lang="en-US" sz="820" b="1" dirty="0">
                <a:solidFill>
                  <a:srgbClr val="667085"/>
                </a:solidFill>
                <a:latin typeface="Arial" pitchFamily="34" charset="0"/>
                <a:ea typeface="Arial" pitchFamily="34" charset="-122"/>
                <a:cs typeface="Arial" pitchFamily="34" charset="-120"/>
              </a:rPr>
              <a:t>ẢNH BẰNG CHỨNG TRONG REPOSITORY</a:t>
            </a:r>
            <a:endParaRPr lang="en-US" sz="820" dirty="0"/>
          </a:p>
        </p:txBody>
      </p:sp>
      <p:sp>
        <p:nvSpPr>
          <p:cNvPr id="3" name="Text 1"/>
          <p:cNvSpPr/>
          <p:nvPr/>
        </p:nvSpPr>
        <p:spPr>
          <a:xfrm>
            <a:off x="502920" y="512064"/>
            <a:ext cx="11155680" cy="566928"/>
          </a:xfrm>
          <a:prstGeom prst="rect">
            <a:avLst/>
          </a:prstGeom>
          <a:noFill/>
          <a:ln/>
        </p:spPr>
        <p:txBody>
          <a:bodyPr wrap="square" lIns="0" tIns="0" rIns="0" bIns="0" rtlCol="0" anchor="ctr">
            <a:normAutofit/>
          </a:bodyPr>
          <a:lstStyle/>
          <a:p>
            <a:pPr marL="0" indent="0">
              <a:buNone/>
            </a:pPr>
            <a:r>
              <a:rPr lang="en-US" sz="2700" b="1" dirty="0">
                <a:solidFill>
                  <a:srgbClr val="101828"/>
                </a:solidFill>
                <a:latin typeface="Arial" pitchFamily="34" charset="0"/>
                <a:ea typeface="Arial" pitchFamily="34" charset="-122"/>
                <a:cs typeface="Arial" pitchFamily="34" charset="-120"/>
              </a:rPr>
              <a:t>Data pipeline của nền tảng</a:t>
            </a:r>
            <a:endParaRPr lang="en-US" sz="2700" dirty="0"/>
          </a:p>
        </p:txBody>
      </p:sp>
      <p:sp>
        <p:nvSpPr>
          <p:cNvPr id="4" name="Shape 2"/>
          <p:cNvSpPr/>
          <p:nvPr/>
        </p:nvSpPr>
        <p:spPr>
          <a:xfrm>
            <a:off x="502920" y="1152144"/>
            <a:ext cx="11155680" cy="0"/>
          </a:xfrm>
          <a:prstGeom prst="line">
            <a:avLst/>
          </a:prstGeom>
          <a:noFill/>
          <a:ln w="10160">
            <a:solidFill>
              <a:srgbClr val="D0D5DD"/>
            </a:solidFill>
            <a:prstDash val="solid"/>
          </a:ln>
        </p:spPr>
      </p:sp>
      <p:pic>
        <p:nvPicPr>
          <p:cNvPr id="5" name="Image 0" descr="D:\CRM\crystal-ball-insights\src\assets\dashboard-dataflow.jpg"/>
          <p:cNvPicPr>
            <a:picLocks noChangeAspect="1"/>
          </p:cNvPicPr>
          <p:nvPr/>
        </p:nvPicPr>
        <p:blipFill>
          <a:blip r:embed="rId3"/>
          <a:srcRect/>
          <a:stretch/>
        </p:blipFill>
        <p:spPr>
          <a:xfrm>
            <a:off x="576072" y="1307592"/>
            <a:ext cx="11018520" cy="4956048"/>
          </a:xfrm>
          <a:prstGeom prst="rect">
            <a:avLst/>
          </a:prstGeom>
        </p:spPr>
      </p:pic>
      <p:sp>
        <p:nvSpPr>
          <p:cNvPr id="6" name="Text 3"/>
          <p:cNvSpPr/>
          <p:nvPr/>
        </p:nvSpPr>
        <p:spPr>
          <a:xfrm>
            <a:off x="502920" y="6236208"/>
            <a:ext cx="10881360" cy="146304"/>
          </a:xfrm>
          <a:prstGeom prst="rect">
            <a:avLst/>
          </a:prstGeom>
          <a:noFill/>
          <a:ln/>
        </p:spPr>
        <p:txBody>
          <a:bodyPr wrap="square" lIns="381" tIns="381" rIns="381" bIns="381" rtlCol="0" anchor="t">
            <a:normAutofit/>
          </a:bodyPr>
          <a:lstStyle/>
          <a:p>
            <a:pPr marL="0" indent="0">
              <a:buNone/>
            </a:pPr>
            <a:r>
              <a:rPr lang="en-US" sz="730" dirty="0">
                <a:solidFill>
                  <a:srgbClr val="667085"/>
                </a:solidFill>
                <a:latin typeface="Arial" pitchFamily="34" charset="0"/>
                <a:ea typeface="Arial" pitchFamily="34" charset="-122"/>
                <a:cs typeface="Arial" pitchFamily="34" charset="-120"/>
              </a:rPr>
              <a:t>Ảnh gốc: src/assets/dashboard-dataflow.jpg</a:t>
            </a:r>
            <a:endParaRPr lang="en-US" sz="730" dirty="0"/>
          </a:p>
        </p:txBody>
      </p:sp>
      <p:sp>
        <p:nvSpPr>
          <p:cNvPr id="25" name="Slide Number Placeholder 0"/>
          <p:cNvSpPr>
            <a:spLocks noGrp="1"/>
          </p:cNvSpPr>
          <p:nvPr>
            <p:ph type="sldNum" sz="quarter" idx="4294967295"/>
          </p:nvPr>
        </p:nvSpPr>
        <p:spPr>
          <a:xfrm>
            <a:off x="11475720" y="6492240"/>
            <a:ext cx="800000" cy="300000"/>
          </a:xfrm>
          <a:prstGeom prst="rect">
            <a:avLst/>
          </a:prstGeom>
          <a:extLst>
            <a:ext uri="{C572A759-6A51-4108-AA02-DFA0A04FC94B}">
              <ma14:wrappingTextBoxFlag xmlns:ma14="http://schemas.microsoft.com/office/mac/drawingml/2011/main" xmlns="" val="0"/>
            </a:ext>
          </a:extLst>
        </p:spPr>
        <p:txBody>
          <a:bodyPr/>
          <a:lstStyle>
            <a:lvl1pPr>
              <a:defRPr sz="730">
                <a:solidFill>
                  <a:srgbClr val="667085"/>
                </a:solidFill>
                <a:latin typeface="Arial"/>
                <a:ea typeface="Arial"/>
                <a:cs typeface="Arial"/>
              </a:defRPr>
            </a:lvl1pPr>
          </a:lstStyle>
          <a:p>
            <a:pPr algn="l"/>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74320"/>
            <a:ext cx="7132320" cy="201168"/>
          </a:xfrm>
          <a:prstGeom prst="rect">
            <a:avLst/>
          </a:prstGeom>
          <a:noFill/>
          <a:ln/>
        </p:spPr>
        <p:txBody>
          <a:bodyPr wrap="square" lIns="0" tIns="0" rIns="0" bIns="0" rtlCol="0" anchor="ctr"/>
          <a:lstStyle/>
          <a:p>
            <a:pPr marL="0" indent="0">
              <a:buNone/>
            </a:pPr>
            <a:r>
              <a:rPr lang="en-US" sz="820" b="1" dirty="0">
                <a:solidFill>
                  <a:srgbClr val="667085"/>
                </a:solidFill>
                <a:latin typeface="Arial" pitchFamily="34" charset="0"/>
                <a:ea typeface="Arial" pitchFamily="34" charset="-122"/>
                <a:cs typeface="Arial" pitchFamily="34" charset="-120"/>
              </a:rPr>
              <a:t>ẢNH GIAO DIỆN TRONG REPOSITORY</a:t>
            </a:r>
            <a:endParaRPr lang="en-US" sz="820" dirty="0"/>
          </a:p>
        </p:txBody>
      </p:sp>
      <p:sp>
        <p:nvSpPr>
          <p:cNvPr id="3" name="Text 1"/>
          <p:cNvSpPr/>
          <p:nvPr/>
        </p:nvSpPr>
        <p:spPr>
          <a:xfrm>
            <a:off x="502920" y="512064"/>
            <a:ext cx="11155680" cy="566928"/>
          </a:xfrm>
          <a:prstGeom prst="rect">
            <a:avLst/>
          </a:prstGeom>
          <a:noFill/>
          <a:ln/>
        </p:spPr>
        <p:txBody>
          <a:bodyPr wrap="square" lIns="0" tIns="0" rIns="0" bIns="0" rtlCol="0" anchor="ctr">
            <a:normAutofit/>
          </a:bodyPr>
          <a:lstStyle/>
          <a:p>
            <a:pPr marL="0" indent="0">
              <a:buNone/>
            </a:pPr>
            <a:r>
              <a:rPr lang="en-US" sz="2700" b="1" dirty="0">
                <a:solidFill>
                  <a:srgbClr val="101828"/>
                </a:solidFill>
                <a:latin typeface="Arial" pitchFamily="34" charset="0"/>
                <a:ea typeface="Arial" pitchFamily="34" charset="-122"/>
                <a:cs typeface="Arial" pitchFamily="34" charset="-120"/>
              </a:rPr>
              <a:t>Giao diện dashboard phân tích</a:t>
            </a:r>
            <a:endParaRPr lang="en-US" sz="2700" dirty="0"/>
          </a:p>
        </p:txBody>
      </p:sp>
      <p:sp>
        <p:nvSpPr>
          <p:cNvPr id="4" name="Shape 2"/>
          <p:cNvSpPr/>
          <p:nvPr/>
        </p:nvSpPr>
        <p:spPr>
          <a:xfrm>
            <a:off x="502920" y="1152144"/>
            <a:ext cx="11155680" cy="0"/>
          </a:xfrm>
          <a:prstGeom prst="line">
            <a:avLst/>
          </a:prstGeom>
          <a:noFill/>
          <a:ln w="10160">
            <a:solidFill>
              <a:srgbClr val="D0D5DD"/>
            </a:solidFill>
            <a:prstDash val="solid"/>
          </a:ln>
        </p:spPr>
      </p:sp>
      <p:pic>
        <p:nvPicPr>
          <p:cNvPr id="5" name="Image 0" descr="D:\CRM\crystal-ball-insights\src\assets\dashboard-preview.jpg"/>
          <p:cNvPicPr>
            <a:picLocks noChangeAspect="1"/>
          </p:cNvPicPr>
          <p:nvPr/>
        </p:nvPicPr>
        <p:blipFill>
          <a:blip r:embed="rId3"/>
          <a:srcRect/>
          <a:stretch/>
        </p:blipFill>
        <p:spPr>
          <a:xfrm>
            <a:off x="576072" y="1307592"/>
            <a:ext cx="11018520" cy="4956048"/>
          </a:xfrm>
          <a:prstGeom prst="rect">
            <a:avLst/>
          </a:prstGeom>
        </p:spPr>
      </p:pic>
      <p:sp>
        <p:nvSpPr>
          <p:cNvPr id="6" name="Text 3"/>
          <p:cNvSpPr/>
          <p:nvPr/>
        </p:nvSpPr>
        <p:spPr>
          <a:xfrm>
            <a:off x="502920" y="6236208"/>
            <a:ext cx="10881360" cy="146304"/>
          </a:xfrm>
          <a:prstGeom prst="rect">
            <a:avLst/>
          </a:prstGeom>
          <a:noFill/>
          <a:ln/>
        </p:spPr>
        <p:txBody>
          <a:bodyPr wrap="square" lIns="381" tIns="381" rIns="381" bIns="381" rtlCol="0" anchor="t">
            <a:normAutofit/>
          </a:bodyPr>
          <a:lstStyle/>
          <a:p>
            <a:pPr marL="0" indent="0">
              <a:buNone/>
            </a:pPr>
            <a:r>
              <a:rPr lang="en-US" sz="730" dirty="0">
                <a:solidFill>
                  <a:srgbClr val="667085"/>
                </a:solidFill>
                <a:latin typeface="Arial" pitchFamily="34" charset="0"/>
                <a:ea typeface="Arial" pitchFamily="34" charset="-122"/>
                <a:cs typeface="Arial" pitchFamily="34" charset="-120"/>
              </a:rPr>
              <a:t>Ảnh gốc: src/assets/dashboard-preview.jpg</a:t>
            </a:r>
            <a:endParaRPr lang="en-US" sz="730" dirty="0"/>
          </a:p>
        </p:txBody>
      </p:sp>
      <p:sp>
        <p:nvSpPr>
          <p:cNvPr id="25" name="Slide Number Placeholder 0"/>
          <p:cNvSpPr>
            <a:spLocks noGrp="1"/>
          </p:cNvSpPr>
          <p:nvPr>
            <p:ph type="sldNum" sz="quarter" idx="4294967295"/>
          </p:nvPr>
        </p:nvSpPr>
        <p:spPr>
          <a:xfrm>
            <a:off x="11475720" y="6492240"/>
            <a:ext cx="800000" cy="300000"/>
          </a:xfrm>
          <a:prstGeom prst="rect">
            <a:avLst/>
          </a:prstGeom>
          <a:extLst>
            <a:ext uri="{C572A759-6A51-4108-AA02-DFA0A04FC94B}">
              <ma14:wrappingTextBoxFlag xmlns:ma14="http://schemas.microsoft.com/office/mac/drawingml/2011/main" xmlns="" val="0"/>
            </a:ext>
          </a:extLst>
        </p:spPr>
        <p:txBody>
          <a:bodyPr/>
          <a:lstStyle>
            <a:lvl1pPr>
              <a:defRPr sz="730">
                <a:solidFill>
                  <a:srgbClr val="667085"/>
                </a:solidFill>
                <a:latin typeface="Arial"/>
                <a:ea typeface="Arial"/>
                <a:cs typeface="Arial"/>
              </a:defRPr>
            </a:lvl1pPr>
          </a:lstStyle>
          <a:p>
            <a:pPr algn="l"/>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74320"/>
            <a:ext cx="7132320" cy="201168"/>
          </a:xfrm>
          <a:prstGeom prst="rect">
            <a:avLst/>
          </a:prstGeom>
          <a:noFill/>
          <a:ln/>
        </p:spPr>
        <p:txBody>
          <a:bodyPr wrap="square" lIns="0" tIns="0" rIns="0" bIns="0" rtlCol="0" anchor="ctr"/>
          <a:lstStyle/>
          <a:p>
            <a:pPr marL="0" indent="0">
              <a:buNone/>
            </a:pPr>
            <a:r>
              <a:rPr lang="en-US" sz="820" b="1" dirty="0">
                <a:solidFill>
                  <a:srgbClr val="667085"/>
                </a:solidFill>
                <a:latin typeface="Arial" pitchFamily="34" charset="0"/>
                <a:ea typeface="Arial" pitchFamily="34" charset="-122"/>
                <a:cs typeface="Arial" pitchFamily="34" charset="-120"/>
              </a:rPr>
              <a:t>DELIVERABLES</a:t>
            </a:r>
            <a:endParaRPr lang="en-US" sz="820" dirty="0"/>
          </a:p>
        </p:txBody>
      </p:sp>
      <p:sp>
        <p:nvSpPr>
          <p:cNvPr id="3" name="Text 1"/>
          <p:cNvSpPr/>
          <p:nvPr/>
        </p:nvSpPr>
        <p:spPr>
          <a:xfrm>
            <a:off x="502920" y="512064"/>
            <a:ext cx="11155680" cy="566928"/>
          </a:xfrm>
          <a:prstGeom prst="rect">
            <a:avLst/>
          </a:prstGeom>
          <a:noFill/>
          <a:ln/>
        </p:spPr>
        <p:txBody>
          <a:bodyPr wrap="square" lIns="0" tIns="0" rIns="0" bIns="0" rtlCol="0" anchor="ctr">
            <a:normAutofit/>
          </a:bodyPr>
          <a:lstStyle/>
          <a:p>
            <a:pPr marL="0" indent="0">
              <a:buNone/>
            </a:pPr>
            <a:r>
              <a:rPr lang="en-US" sz="2700" b="1" dirty="0">
                <a:solidFill>
                  <a:srgbClr val="101828"/>
                </a:solidFill>
                <a:latin typeface="Arial" pitchFamily="34" charset="0"/>
                <a:ea typeface="Arial" pitchFamily="34" charset="-122"/>
                <a:cs typeface="Arial" pitchFamily="34" charset="-120"/>
              </a:rPr>
              <a:t>Output đầu ra của dự án</a:t>
            </a:r>
            <a:endParaRPr lang="en-US" sz="2700" dirty="0"/>
          </a:p>
        </p:txBody>
      </p:sp>
      <p:sp>
        <p:nvSpPr>
          <p:cNvPr id="4" name="Shape 2"/>
          <p:cNvSpPr/>
          <p:nvPr/>
        </p:nvSpPr>
        <p:spPr>
          <a:xfrm>
            <a:off x="502920" y="1152144"/>
            <a:ext cx="11155680" cy="0"/>
          </a:xfrm>
          <a:prstGeom prst="line">
            <a:avLst/>
          </a:prstGeom>
          <a:noFill/>
          <a:ln w="10160">
            <a:solidFill>
              <a:srgbClr val="D0D5DD"/>
            </a:solidFill>
            <a:prstDash val="solid"/>
          </a:ln>
        </p:spPr>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58368" y="1353312"/>
          <a:ext cx="10881360" cy="4526280"/>
        </p:xfrm>
        <a:graphic>
          <a:graphicData uri="http://schemas.openxmlformats.org/drawingml/2006/table">
            <a:tbl>
              <a:tblPr/>
              <a:tblGrid>
                <a:gridCol w="1828800">
                  <a:extLst>
                    <a:ext uri="{9D8B030D-6E8A-4147-A177-3AD203B41FA5}">
                      <a16:colId xmlns:a16="http://schemas.microsoft.com/office/drawing/2014/main" val="20000"/>
                    </a:ext>
                  </a:extLst>
                </a:gridCol>
                <a:gridCol w="3749040">
                  <a:extLst>
                    <a:ext uri="{9D8B030D-6E8A-4147-A177-3AD203B41FA5}">
                      <a16:colId xmlns:a16="http://schemas.microsoft.com/office/drawing/2014/main" val="20001"/>
                    </a:ext>
                  </a:extLst>
                </a:gridCol>
                <a:gridCol w="5303520">
                  <a:extLst>
                    <a:ext uri="{9D8B030D-6E8A-4147-A177-3AD203B41FA5}">
                      <a16:colId xmlns:a16="http://schemas.microsoft.com/office/drawing/2014/main" val="20002"/>
                    </a:ext>
                  </a:extLst>
                </a:gridCol>
              </a:tblGrid>
              <a:tr h="502920">
                <a:tc>
                  <a:txBody>
                    <a:bodyPr/>
                    <a:lstStyle/>
                    <a:p>
                      <a:pPr marL="0" indent="0">
                        <a:buNone/>
                      </a:pPr>
                      <a:r>
                        <a:rPr lang="en-US" sz="1090" dirty="0">
                          <a:solidFill>
                            <a:srgbClr val="101828"/>
                          </a:solidFill>
                          <a:latin typeface="Arial" pitchFamily="34" charset="0"/>
                          <a:ea typeface="Arial" pitchFamily="34" charset="-122"/>
                          <a:cs typeface="Arial" pitchFamily="34" charset="-120"/>
                        </a:rPr>
                        <a:t>Nhóm output</a:t>
                      </a:r>
                      <a:endParaRPr lang="en-US" sz="109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090" dirty="0">
                          <a:solidFill>
                            <a:srgbClr val="101828"/>
                          </a:solidFill>
                          <a:latin typeface="Arial" pitchFamily="34" charset="0"/>
                          <a:ea typeface="Arial" pitchFamily="34" charset="-122"/>
                          <a:cs typeface="Arial" pitchFamily="34" charset="-120"/>
                        </a:rPr>
                        <a:t>File / giao diện</a:t>
                      </a:r>
                      <a:endParaRPr lang="en-US" sz="109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090" dirty="0">
                          <a:solidFill>
                            <a:srgbClr val="101828"/>
                          </a:solidFill>
                          <a:latin typeface="Arial" pitchFamily="34" charset="0"/>
                          <a:ea typeface="Arial" pitchFamily="34" charset="-122"/>
                          <a:cs typeface="Arial" pitchFamily="34" charset="-120"/>
                        </a:rPr>
                        <a:t>Ý nghĩa</a:t>
                      </a:r>
                      <a:endParaRPr lang="en-US" sz="109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extLst>
                  <a:ext uri="{0D108BD9-81ED-4DB2-BD59-A6C34878D82A}">
                    <a16:rowId xmlns:a16="http://schemas.microsoft.com/office/drawing/2014/main" val="10000"/>
                  </a:ext>
                </a:extLst>
              </a:tr>
              <a:tr h="502920">
                <a:tc>
                  <a:txBody>
                    <a:bodyPr/>
                    <a:lstStyle/>
                    <a:p>
                      <a:pPr marL="0" indent="0">
                        <a:buNone/>
                      </a:pPr>
                      <a:r>
                        <a:rPr lang="en-US" sz="1090" dirty="0">
                          <a:solidFill>
                            <a:srgbClr val="101828"/>
                          </a:solidFill>
                          <a:latin typeface="Arial" pitchFamily="34" charset="0"/>
                          <a:ea typeface="Arial" pitchFamily="34" charset="-122"/>
                          <a:cs typeface="Arial" pitchFamily="34" charset="-120"/>
                        </a:rPr>
                        <a:t>Web app</a:t>
                      </a:r>
                      <a:endParaRPr lang="en-US" sz="109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090" dirty="0">
                          <a:solidFill>
                            <a:srgbClr val="101828"/>
                          </a:solidFill>
                          <a:latin typeface="Arial" pitchFamily="34" charset="0"/>
                          <a:ea typeface="Arial" pitchFamily="34" charset="-122"/>
                          <a:cs typeface="Arial" pitchFamily="34" charset="-120"/>
                        </a:rPr>
                        <a:t>React/Vite platform</a:t>
                      </a:r>
                      <a:endParaRPr lang="en-US" sz="109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090" dirty="0">
                          <a:solidFill>
                            <a:srgbClr val="101828"/>
                          </a:solidFill>
                          <a:latin typeface="Arial" pitchFamily="34" charset="0"/>
                          <a:ea typeface="Arial" pitchFamily="34" charset="-122"/>
                          <a:cs typeface="Arial" pitchFamily="34" charset="-120"/>
                        </a:rPr>
                        <a:t>Dashboard, stock, crypto, risk, AI Insights</a:t>
                      </a:r>
                      <a:endParaRPr lang="en-US" sz="109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extLst>
                  <a:ext uri="{0D108BD9-81ED-4DB2-BD59-A6C34878D82A}">
                    <a16:rowId xmlns:a16="http://schemas.microsoft.com/office/drawing/2014/main" val="10001"/>
                  </a:ext>
                </a:extLst>
              </a:tr>
              <a:tr h="502920">
                <a:tc>
                  <a:txBody>
                    <a:bodyPr/>
                    <a:lstStyle/>
                    <a:p>
                      <a:pPr marL="0" indent="0">
                        <a:buNone/>
                      </a:pPr>
                      <a:r>
                        <a:rPr lang="en-US" sz="1090" dirty="0">
                          <a:solidFill>
                            <a:srgbClr val="101828"/>
                          </a:solidFill>
                          <a:latin typeface="Arial" pitchFamily="34" charset="0"/>
                          <a:ea typeface="Arial" pitchFamily="34" charset="-122"/>
                          <a:cs typeface="Arial" pitchFamily="34" charset="-120"/>
                        </a:rPr>
                        <a:t>Research CSV</a:t>
                      </a:r>
                      <a:endParaRPr lang="en-US" sz="109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090" dirty="0">
                          <a:solidFill>
                            <a:srgbClr val="101828"/>
                          </a:solidFill>
                          <a:latin typeface="Arial" pitchFamily="34" charset="0"/>
                          <a:ea typeface="Arial" pitchFamily="34" charset="-122"/>
                          <a:cs typeface="Arial" pitchFamily="34" charset="-120"/>
                        </a:rPr>
                        <a:t>metrics_summary.csv</a:t>
                      </a:r>
                      <a:endParaRPr lang="en-US" sz="109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090" dirty="0">
                          <a:solidFill>
                            <a:srgbClr val="101828"/>
                          </a:solidFill>
                          <a:latin typeface="Arial" pitchFamily="34" charset="0"/>
                          <a:ea typeface="Arial" pitchFamily="34" charset="-122"/>
                          <a:cs typeface="Arial" pitchFamily="34" charset="-120"/>
                        </a:rPr>
                        <a:t>So sánh toàn bộ mô hình/chiến lược</a:t>
                      </a:r>
                      <a:endParaRPr lang="en-US" sz="109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extLst>
                  <a:ext uri="{0D108BD9-81ED-4DB2-BD59-A6C34878D82A}">
                    <a16:rowId xmlns:a16="http://schemas.microsoft.com/office/drawing/2014/main" val="10002"/>
                  </a:ext>
                </a:extLst>
              </a:tr>
              <a:tr h="502920">
                <a:tc>
                  <a:txBody>
                    <a:bodyPr/>
                    <a:lstStyle/>
                    <a:p>
                      <a:pPr marL="0" indent="0">
                        <a:buNone/>
                      </a:pPr>
                      <a:r>
                        <a:rPr lang="en-US" sz="1090" dirty="0">
                          <a:solidFill>
                            <a:srgbClr val="101828"/>
                          </a:solidFill>
                          <a:latin typeface="Arial" pitchFamily="34" charset="0"/>
                          <a:ea typeface="Arial" pitchFamily="34" charset="-122"/>
                          <a:cs typeface="Arial" pitchFamily="34" charset="-120"/>
                        </a:rPr>
                        <a:t>Ablation CSV</a:t>
                      </a:r>
                      <a:endParaRPr lang="en-US" sz="109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090" dirty="0">
                          <a:solidFill>
                            <a:srgbClr val="101828"/>
                          </a:solidFill>
                          <a:latin typeface="Arial" pitchFamily="34" charset="0"/>
                          <a:ea typeface="Arial" pitchFamily="34" charset="-122"/>
                          <a:cs typeface="Arial" pitchFamily="34" charset="-120"/>
                        </a:rPr>
                        <a:t>ablation_table.csv</a:t>
                      </a:r>
                      <a:endParaRPr lang="en-US" sz="109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090" dirty="0">
                          <a:solidFill>
                            <a:srgbClr val="101828"/>
                          </a:solidFill>
                          <a:latin typeface="Arial" pitchFamily="34" charset="0"/>
                          <a:ea typeface="Arial" pitchFamily="34" charset="-122"/>
                          <a:cs typeface="Arial" pitchFamily="34" charset="-120"/>
                        </a:rPr>
                        <a:t>Kết quả A/A+B/A+B+C</a:t>
                      </a:r>
                      <a:endParaRPr lang="en-US" sz="109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extLst>
                  <a:ext uri="{0D108BD9-81ED-4DB2-BD59-A6C34878D82A}">
                    <a16:rowId xmlns:a16="http://schemas.microsoft.com/office/drawing/2014/main" val="10003"/>
                  </a:ext>
                </a:extLst>
              </a:tr>
              <a:tr h="502920">
                <a:tc>
                  <a:txBody>
                    <a:bodyPr/>
                    <a:lstStyle/>
                    <a:p>
                      <a:pPr marL="0" indent="0">
                        <a:buNone/>
                      </a:pPr>
                      <a:r>
                        <a:rPr lang="en-US" sz="1090" dirty="0">
                          <a:solidFill>
                            <a:srgbClr val="101828"/>
                          </a:solidFill>
                          <a:latin typeface="Arial" pitchFamily="34" charset="0"/>
                          <a:ea typeface="Arial" pitchFamily="34" charset="-122"/>
                          <a:cs typeface="Arial" pitchFamily="34" charset="-120"/>
                        </a:rPr>
                        <a:t>Metadata</a:t>
                      </a:r>
                      <a:endParaRPr lang="en-US" sz="109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090" dirty="0">
                          <a:solidFill>
                            <a:srgbClr val="101828"/>
                          </a:solidFill>
                          <a:latin typeface="Arial" pitchFamily="34" charset="0"/>
                          <a:ea typeface="Arial" pitchFamily="34" charset="-122"/>
                          <a:cs typeface="Arial" pitchFamily="34" charset="-120"/>
                        </a:rPr>
                        <a:t>run_meta.json</a:t>
                      </a:r>
                      <a:endParaRPr lang="en-US" sz="109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090" dirty="0">
                          <a:solidFill>
                            <a:srgbClr val="101828"/>
                          </a:solidFill>
                          <a:latin typeface="Arial" pitchFamily="34" charset="0"/>
                          <a:ea typeface="Arial" pitchFamily="34" charset="-122"/>
                          <a:cs typeface="Arial" pitchFamily="34" charset="-120"/>
                        </a:rPr>
                        <a:t>Số mẫu train/valid/test và rebalances</a:t>
                      </a:r>
                      <a:endParaRPr lang="en-US" sz="109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extLst>
                  <a:ext uri="{0D108BD9-81ED-4DB2-BD59-A6C34878D82A}">
                    <a16:rowId xmlns:a16="http://schemas.microsoft.com/office/drawing/2014/main" val="10004"/>
                  </a:ext>
                </a:extLst>
              </a:tr>
              <a:tr h="502920">
                <a:tc>
                  <a:txBody>
                    <a:bodyPr/>
                    <a:lstStyle/>
                    <a:p>
                      <a:pPr marL="0" indent="0">
                        <a:buNone/>
                      </a:pPr>
                      <a:r>
                        <a:rPr lang="en-US" sz="1090" dirty="0">
                          <a:solidFill>
                            <a:srgbClr val="101828"/>
                          </a:solidFill>
                          <a:latin typeface="Arial" pitchFamily="34" charset="0"/>
                          <a:ea typeface="Arial" pitchFamily="34" charset="-122"/>
                          <a:cs typeface="Arial" pitchFamily="34" charset="-120"/>
                        </a:rPr>
                        <a:t>Figures</a:t>
                      </a:r>
                      <a:endParaRPr lang="en-US" sz="109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090" dirty="0">
                          <a:solidFill>
                            <a:srgbClr val="101828"/>
                          </a:solidFill>
                          <a:latin typeface="Arial" pitchFamily="34" charset="0"/>
                          <a:ea typeface="Arial" pitchFamily="34" charset="-122"/>
                          <a:cs typeface="Arial" pitchFamily="34" charset="-120"/>
                        </a:rPr>
                        <a:t>equity_curves, sharpe, frontier, ablation</a:t>
                      </a:r>
                      <a:endParaRPr lang="en-US" sz="109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090" dirty="0">
                          <a:solidFill>
                            <a:srgbClr val="101828"/>
                          </a:solidFill>
                          <a:latin typeface="Arial" pitchFamily="34" charset="0"/>
                          <a:ea typeface="Arial" pitchFamily="34" charset="-122"/>
                          <a:cs typeface="Arial" pitchFamily="34" charset="-120"/>
                        </a:rPr>
                        <a:t>Hình minh họa kết quả thực nghiệm</a:t>
                      </a:r>
                      <a:endParaRPr lang="en-US" sz="109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extLst>
                  <a:ext uri="{0D108BD9-81ED-4DB2-BD59-A6C34878D82A}">
                    <a16:rowId xmlns:a16="http://schemas.microsoft.com/office/drawing/2014/main" val="10005"/>
                  </a:ext>
                </a:extLst>
              </a:tr>
              <a:tr h="502920">
                <a:tc>
                  <a:txBody>
                    <a:bodyPr/>
                    <a:lstStyle/>
                    <a:p>
                      <a:pPr marL="0" indent="0">
                        <a:buNone/>
                      </a:pPr>
                      <a:r>
                        <a:rPr lang="en-US" sz="1090" dirty="0">
                          <a:solidFill>
                            <a:srgbClr val="101828"/>
                          </a:solidFill>
                          <a:latin typeface="Arial" pitchFamily="34" charset="0"/>
                          <a:ea typeface="Arial" pitchFamily="34" charset="-122"/>
                          <a:cs typeface="Arial" pitchFamily="34" charset="-120"/>
                        </a:rPr>
                        <a:t>Models</a:t>
                      </a:r>
                      <a:endParaRPr lang="en-US" sz="109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090" dirty="0">
                          <a:solidFill>
                            <a:srgbClr val="101828"/>
                          </a:solidFill>
                          <a:latin typeface="Arial" pitchFamily="34" charset="0"/>
                          <a:ea typeface="Arial" pitchFamily="34" charset="-122"/>
                          <a:cs typeface="Arial" pitchFamily="34" charset="-120"/>
                        </a:rPr>
                        <a:t>checkpoints/*.pt</a:t>
                      </a:r>
                      <a:endParaRPr lang="en-US" sz="109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090" dirty="0">
                          <a:solidFill>
                            <a:srgbClr val="101828"/>
                          </a:solidFill>
                          <a:latin typeface="Arial" pitchFamily="34" charset="0"/>
                          <a:ea typeface="Arial" pitchFamily="34" charset="-122"/>
                          <a:cs typeface="Arial" pitchFamily="34" charset="-120"/>
                        </a:rPr>
                        <a:t>Trọng số mô hình đã huấn luyện</a:t>
                      </a:r>
                      <a:endParaRPr lang="en-US" sz="109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extLst>
                  <a:ext uri="{0D108BD9-81ED-4DB2-BD59-A6C34878D82A}">
                    <a16:rowId xmlns:a16="http://schemas.microsoft.com/office/drawing/2014/main" val="10006"/>
                  </a:ext>
                </a:extLst>
              </a:tr>
              <a:tr h="502920">
                <a:tc>
                  <a:txBody>
                    <a:bodyPr/>
                    <a:lstStyle/>
                    <a:p>
                      <a:pPr marL="0" indent="0">
                        <a:buNone/>
                      </a:pPr>
                      <a:r>
                        <a:rPr lang="en-US" sz="1090" dirty="0">
                          <a:solidFill>
                            <a:srgbClr val="101828"/>
                          </a:solidFill>
                          <a:latin typeface="Arial" pitchFamily="34" charset="0"/>
                          <a:ea typeface="Arial" pitchFamily="34" charset="-122"/>
                          <a:cs typeface="Arial" pitchFamily="34" charset="-120"/>
                        </a:rPr>
                        <a:t>Reports</a:t>
                      </a:r>
                      <a:endParaRPr lang="en-US" sz="109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090" dirty="0">
                          <a:solidFill>
                            <a:srgbClr val="101828"/>
                          </a:solidFill>
                          <a:latin typeface="Arial" pitchFamily="34" charset="0"/>
                          <a:ea typeface="Arial" pitchFamily="34" charset="-122"/>
                          <a:cs typeface="Arial" pitchFamily="34" charset="-120"/>
                        </a:rPr>
                        <a:t>BAO_CAO_HOAN_CHINH.docx/.md</a:t>
                      </a:r>
                      <a:endParaRPr lang="en-US" sz="109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090" dirty="0">
                          <a:solidFill>
                            <a:srgbClr val="101828"/>
                          </a:solidFill>
                          <a:latin typeface="Arial" pitchFamily="34" charset="0"/>
                          <a:ea typeface="Arial" pitchFamily="34" charset="-122"/>
                          <a:cs typeface="Arial" pitchFamily="34" charset="-120"/>
                        </a:rPr>
                        <a:t>Báo cáo học thuật hoàn chỉnh</a:t>
                      </a:r>
                      <a:endParaRPr lang="en-US" sz="109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extLst>
                  <a:ext uri="{0D108BD9-81ED-4DB2-BD59-A6C34878D82A}">
                    <a16:rowId xmlns:a16="http://schemas.microsoft.com/office/drawing/2014/main" val="10007"/>
                  </a:ext>
                </a:extLst>
              </a:tr>
              <a:tr h="502920">
                <a:tc>
                  <a:txBody>
                    <a:bodyPr/>
                    <a:lstStyle/>
                    <a:p>
                      <a:pPr marL="0" indent="0">
                        <a:buNone/>
                      </a:pPr>
                      <a:r>
                        <a:rPr lang="en-US" sz="1090" dirty="0">
                          <a:solidFill>
                            <a:srgbClr val="101828"/>
                          </a:solidFill>
                          <a:latin typeface="Arial" pitchFamily="34" charset="0"/>
                          <a:ea typeface="Arial" pitchFamily="34" charset="-122"/>
                          <a:cs typeface="Arial" pitchFamily="34" charset="-120"/>
                        </a:rPr>
                        <a:t>Demo</a:t>
                      </a:r>
                      <a:endParaRPr lang="en-US" sz="109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090" dirty="0">
                          <a:solidFill>
                            <a:srgbClr val="101828"/>
                          </a:solidFill>
                          <a:latin typeface="Arial" pitchFamily="34" charset="0"/>
                          <a:ea typeface="Arial" pitchFamily="34" charset="-122"/>
                          <a:cs typeface="Arial" pitchFamily="34" charset="-120"/>
                        </a:rPr>
                        <a:t>app_streamlit.py</a:t>
                      </a:r>
                      <a:endParaRPr lang="en-US" sz="109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090" dirty="0">
                          <a:solidFill>
                            <a:srgbClr val="101828"/>
                          </a:solidFill>
                          <a:latin typeface="Arial" pitchFamily="34" charset="0"/>
                          <a:ea typeface="Arial" pitchFamily="34" charset="-122"/>
                          <a:cs typeface="Arial" pitchFamily="34" charset="-120"/>
                        </a:rPr>
                        <a:t>Trình diễn trực tiếp pipeline research</a:t>
                      </a:r>
                      <a:endParaRPr lang="en-US" sz="109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25" name="Slide Number Placeholder 0"/>
          <p:cNvSpPr>
            <a:spLocks noGrp="1"/>
          </p:cNvSpPr>
          <p:nvPr>
            <p:ph type="sldNum" sz="quarter" idx="4294967295"/>
          </p:nvPr>
        </p:nvSpPr>
        <p:spPr>
          <a:xfrm>
            <a:off x="11475720" y="6492240"/>
            <a:ext cx="800000" cy="300000"/>
          </a:xfrm>
          <a:prstGeom prst="rect">
            <a:avLst/>
          </a:prstGeom>
          <a:extLst>
            <a:ext uri="{C572A759-6A51-4108-AA02-DFA0A04FC94B}">
              <ma14:wrappingTextBoxFlag xmlns:ma14="http://schemas.microsoft.com/office/mac/drawingml/2011/main" xmlns="" val="0"/>
            </a:ext>
          </a:extLst>
        </p:spPr>
        <p:txBody>
          <a:bodyPr/>
          <a:lstStyle>
            <a:lvl1pPr>
              <a:defRPr sz="730">
                <a:solidFill>
                  <a:srgbClr val="667085"/>
                </a:solidFill>
                <a:latin typeface="Arial"/>
                <a:ea typeface="Arial"/>
                <a:cs typeface="Arial"/>
              </a:defRPr>
            </a:lvl1pPr>
          </a:lstStyle>
          <a:p>
            <a:pPr algn="l"/>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74320"/>
            <a:ext cx="7132320" cy="201168"/>
          </a:xfrm>
          <a:prstGeom prst="rect">
            <a:avLst/>
          </a:prstGeom>
          <a:noFill/>
          <a:ln/>
        </p:spPr>
        <p:txBody>
          <a:bodyPr wrap="square" lIns="0" tIns="0" rIns="0" bIns="0" rtlCol="0" anchor="ctr"/>
          <a:lstStyle/>
          <a:p>
            <a:pPr marL="0" indent="0">
              <a:buNone/>
            </a:pPr>
            <a:r>
              <a:rPr lang="en-US" sz="820" b="1" dirty="0">
                <a:solidFill>
                  <a:srgbClr val="667085"/>
                </a:solidFill>
                <a:latin typeface="Arial" pitchFamily="34" charset="0"/>
                <a:ea typeface="Arial" pitchFamily="34" charset="-122"/>
                <a:cs typeface="Arial" pitchFamily="34" charset="-120"/>
              </a:rPr>
              <a:t>PROPOSED MODEL EVALUATION</a:t>
            </a:r>
            <a:endParaRPr lang="en-US" sz="820" dirty="0"/>
          </a:p>
        </p:txBody>
      </p:sp>
      <p:sp>
        <p:nvSpPr>
          <p:cNvPr id="3" name="Text 1"/>
          <p:cNvSpPr/>
          <p:nvPr/>
        </p:nvSpPr>
        <p:spPr>
          <a:xfrm>
            <a:off x="502920" y="512064"/>
            <a:ext cx="11155680" cy="566928"/>
          </a:xfrm>
          <a:prstGeom prst="rect">
            <a:avLst/>
          </a:prstGeom>
          <a:noFill/>
          <a:ln/>
        </p:spPr>
        <p:txBody>
          <a:bodyPr wrap="square" lIns="0" tIns="0" rIns="0" bIns="0" rtlCol="0" anchor="ctr">
            <a:normAutofit/>
          </a:bodyPr>
          <a:lstStyle/>
          <a:p>
            <a:pPr marL="0" indent="0">
              <a:buNone/>
            </a:pPr>
            <a:r>
              <a:rPr lang="en-US" sz="2700" b="1" dirty="0">
                <a:solidFill>
                  <a:srgbClr val="101828"/>
                </a:solidFill>
                <a:latin typeface="Arial" pitchFamily="34" charset="0"/>
                <a:ea typeface="Arial" pitchFamily="34" charset="-122"/>
                <a:cs typeface="Arial" pitchFamily="34" charset="-120"/>
              </a:rPr>
              <a:t>Kết quả ablation study</a:t>
            </a:r>
            <a:endParaRPr lang="en-US" sz="2700" dirty="0"/>
          </a:p>
        </p:txBody>
      </p:sp>
      <p:sp>
        <p:nvSpPr>
          <p:cNvPr id="4" name="Shape 2"/>
          <p:cNvSpPr/>
          <p:nvPr/>
        </p:nvSpPr>
        <p:spPr>
          <a:xfrm>
            <a:off x="502920" y="1152144"/>
            <a:ext cx="11155680" cy="0"/>
          </a:xfrm>
          <a:prstGeom prst="line">
            <a:avLst/>
          </a:prstGeom>
          <a:noFill/>
          <a:ln w="10160">
            <a:solidFill>
              <a:srgbClr val="D0D5DD"/>
            </a:solidFill>
            <a:prstDash val="solid"/>
          </a:ln>
        </p:spPr>
      </p:sp>
      <p:pic>
        <p:nvPicPr>
          <p:cNvPr id="5" name="Image 0" descr="D:\CRM\crystal-ball-insights\ai-portfolio-research\report\figures\ablation_bar.png"/>
          <p:cNvPicPr>
            <a:picLocks noChangeAspect="1"/>
          </p:cNvPicPr>
          <p:nvPr/>
        </p:nvPicPr>
        <p:blipFill>
          <a:blip r:embed="rId3"/>
          <a:srcRect/>
          <a:stretch/>
        </p:blipFill>
        <p:spPr>
          <a:xfrm>
            <a:off x="658368" y="1353312"/>
            <a:ext cx="5257800" cy="4069080"/>
          </a:xfrm>
          <a:prstGeom prst="rect">
            <a:avLst/>
          </a:prstGeom>
        </p:spPr>
      </p:pic>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263640" y="1417320"/>
          <a:ext cx="5074920" cy="2359152"/>
        </p:xfrm>
        <a:graphic>
          <a:graphicData uri="http://schemas.openxmlformats.org/drawingml/2006/table">
            <a:tbl>
              <a:tblPr/>
              <a:tblGrid>
                <a:gridCol w="91440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3246120">
                  <a:extLst>
                    <a:ext uri="{9D8B030D-6E8A-4147-A177-3AD203B41FA5}">
                      <a16:colId xmlns:a16="http://schemas.microsoft.com/office/drawing/2014/main" val="20002"/>
                    </a:ext>
                  </a:extLst>
                </a:gridCol>
              </a:tblGrid>
              <a:tr h="589788">
                <a:tc>
                  <a:txBody>
                    <a:bodyPr/>
                    <a:lstStyle/>
                    <a:p>
                      <a:pPr marL="0" indent="0">
                        <a:buNone/>
                      </a:pPr>
                      <a:r>
                        <a:rPr lang="en-US" sz="1240" dirty="0">
                          <a:solidFill>
                            <a:srgbClr val="101828"/>
                          </a:solidFill>
                          <a:latin typeface="Arial" pitchFamily="34" charset="0"/>
                          <a:ea typeface="Arial" pitchFamily="34" charset="-122"/>
                          <a:cs typeface="Arial" pitchFamily="34" charset="-120"/>
                        </a:rPr>
                        <a:t>Stage</a:t>
                      </a:r>
                      <a:endParaRPr lang="en-US" sz="124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240" dirty="0">
                          <a:solidFill>
                            <a:srgbClr val="101828"/>
                          </a:solidFill>
                          <a:latin typeface="Arial" pitchFamily="34" charset="0"/>
                          <a:ea typeface="Arial" pitchFamily="34" charset="-122"/>
                          <a:cs typeface="Arial" pitchFamily="34" charset="-120"/>
                        </a:rPr>
                        <a:t>Sharpe</a:t>
                      </a:r>
                      <a:endParaRPr lang="en-US" sz="124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240" dirty="0">
                          <a:solidFill>
                            <a:srgbClr val="101828"/>
                          </a:solidFill>
                          <a:latin typeface="Arial" pitchFamily="34" charset="0"/>
                          <a:ea typeface="Arial" pitchFamily="34" charset="-122"/>
                          <a:cs typeface="Arial" pitchFamily="34" charset="-120"/>
                        </a:rPr>
                        <a:t>Diễn giải</a:t>
                      </a:r>
                      <a:endParaRPr lang="en-US" sz="124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extLst>
                  <a:ext uri="{0D108BD9-81ED-4DB2-BD59-A6C34878D82A}">
                    <a16:rowId xmlns:a16="http://schemas.microsoft.com/office/drawing/2014/main" val="10000"/>
                  </a:ext>
                </a:extLst>
              </a:tr>
              <a:tr h="589788">
                <a:tc>
                  <a:txBody>
                    <a:bodyPr/>
                    <a:lstStyle/>
                    <a:p>
                      <a:pPr marL="0" indent="0">
                        <a:buNone/>
                      </a:pPr>
                      <a:r>
                        <a:rPr lang="en-US" sz="1240" dirty="0">
                          <a:solidFill>
                            <a:srgbClr val="101828"/>
                          </a:solidFill>
                          <a:latin typeface="Arial" pitchFamily="34" charset="0"/>
                          <a:ea typeface="Arial" pitchFamily="34" charset="-122"/>
                          <a:cs typeface="Arial" pitchFamily="34" charset="-120"/>
                        </a:rPr>
                        <a:t>A</a:t>
                      </a:r>
                      <a:endParaRPr lang="en-US" sz="124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240" dirty="0">
                          <a:solidFill>
                            <a:srgbClr val="101828"/>
                          </a:solidFill>
                          <a:latin typeface="Arial" pitchFamily="34" charset="0"/>
                          <a:ea typeface="Arial" pitchFamily="34" charset="-122"/>
                          <a:cs typeface="Arial" pitchFamily="34" charset="-120"/>
                        </a:rPr>
                        <a:t>0.663</a:t>
                      </a:r>
                      <a:endParaRPr lang="en-US" sz="124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240" dirty="0">
                          <a:solidFill>
                            <a:srgbClr val="101828"/>
                          </a:solidFill>
                          <a:latin typeface="Arial" pitchFamily="34" charset="0"/>
                          <a:ea typeface="Arial" pitchFamily="34" charset="-122"/>
                          <a:cs typeface="Arial" pitchFamily="34" charset="-120"/>
                        </a:rPr>
                        <a:t>Temporal attention hiệu quả nhất trong nhóm proposed</a:t>
                      </a:r>
                      <a:endParaRPr lang="en-US" sz="124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extLst>
                  <a:ext uri="{0D108BD9-81ED-4DB2-BD59-A6C34878D82A}">
                    <a16:rowId xmlns:a16="http://schemas.microsoft.com/office/drawing/2014/main" val="10001"/>
                  </a:ext>
                </a:extLst>
              </a:tr>
              <a:tr h="589788">
                <a:tc>
                  <a:txBody>
                    <a:bodyPr/>
                    <a:lstStyle/>
                    <a:p>
                      <a:pPr marL="0" indent="0">
                        <a:buNone/>
                      </a:pPr>
                      <a:r>
                        <a:rPr lang="en-US" sz="1240" dirty="0">
                          <a:solidFill>
                            <a:srgbClr val="101828"/>
                          </a:solidFill>
                          <a:latin typeface="Arial" pitchFamily="34" charset="0"/>
                          <a:ea typeface="Arial" pitchFamily="34" charset="-122"/>
                          <a:cs typeface="Arial" pitchFamily="34" charset="-120"/>
                        </a:rPr>
                        <a:t>A+B</a:t>
                      </a:r>
                      <a:endParaRPr lang="en-US" sz="124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240" dirty="0">
                          <a:solidFill>
                            <a:srgbClr val="101828"/>
                          </a:solidFill>
                          <a:latin typeface="Arial" pitchFamily="34" charset="0"/>
                          <a:ea typeface="Arial" pitchFamily="34" charset="-122"/>
                          <a:cs typeface="Arial" pitchFamily="34" charset="-120"/>
                        </a:rPr>
                        <a:t>0.557</a:t>
                      </a:r>
                      <a:endParaRPr lang="en-US" sz="124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240" dirty="0">
                          <a:solidFill>
                            <a:srgbClr val="101828"/>
                          </a:solidFill>
                          <a:latin typeface="Arial" pitchFamily="34" charset="0"/>
                          <a:ea typeface="Arial" pitchFamily="34" charset="-122"/>
                          <a:cs typeface="Arial" pitchFamily="34" charset="-120"/>
                        </a:rPr>
                        <a:t>Cross-asset attention có dấu hiệu overfit</a:t>
                      </a:r>
                      <a:endParaRPr lang="en-US" sz="124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extLst>
                  <a:ext uri="{0D108BD9-81ED-4DB2-BD59-A6C34878D82A}">
                    <a16:rowId xmlns:a16="http://schemas.microsoft.com/office/drawing/2014/main" val="10002"/>
                  </a:ext>
                </a:extLst>
              </a:tr>
              <a:tr h="589788">
                <a:tc>
                  <a:txBody>
                    <a:bodyPr/>
                    <a:lstStyle/>
                    <a:p>
                      <a:pPr marL="0" indent="0">
                        <a:buNone/>
                      </a:pPr>
                      <a:r>
                        <a:rPr lang="en-US" sz="1240" dirty="0">
                          <a:solidFill>
                            <a:srgbClr val="101828"/>
                          </a:solidFill>
                          <a:latin typeface="Arial" pitchFamily="34" charset="0"/>
                          <a:ea typeface="Arial" pitchFamily="34" charset="-122"/>
                          <a:cs typeface="Arial" pitchFamily="34" charset="-120"/>
                        </a:rPr>
                        <a:t>A+B+C</a:t>
                      </a:r>
                      <a:endParaRPr lang="en-US" sz="124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240" dirty="0">
                          <a:solidFill>
                            <a:srgbClr val="101828"/>
                          </a:solidFill>
                          <a:latin typeface="Arial" pitchFamily="34" charset="0"/>
                          <a:ea typeface="Arial" pitchFamily="34" charset="-122"/>
                          <a:cs typeface="Arial" pitchFamily="34" charset="-120"/>
                        </a:rPr>
                        <a:t>0.657</a:t>
                      </a:r>
                      <a:endParaRPr lang="en-US" sz="124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240" dirty="0">
                          <a:solidFill>
                            <a:srgbClr val="101828"/>
                          </a:solidFill>
                          <a:latin typeface="Arial" pitchFamily="34" charset="0"/>
                          <a:ea typeface="Arial" pitchFamily="34" charset="-122"/>
                          <a:cs typeface="Arial" pitchFamily="34" charset="-120"/>
                        </a:rPr>
                        <a:t>Sharpe-aware loss phục hồi hiệu suất</a:t>
                      </a:r>
                      <a:endParaRPr lang="en-US" sz="124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7" name="Shape 3"/>
          <p:cNvSpPr/>
          <p:nvPr/>
        </p:nvSpPr>
        <p:spPr>
          <a:xfrm>
            <a:off x="6263640" y="4224528"/>
            <a:ext cx="5074920" cy="960120"/>
          </a:xfrm>
          <a:prstGeom prst="rect">
            <a:avLst/>
          </a:prstGeom>
          <a:solidFill>
            <a:srgbClr val="F0FDF4"/>
          </a:solidFill>
          <a:ln w="12700">
            <a:solidFill>
              <a:srgbClr val="157347"/>
            </a:solidFill>
            <a:prstDash val="solid"/>
          </a:ln>
        </p:spPr>
      </p:sp>
      <p:sp>
        <p:nvSpPr>
          <p:cNvPr id="8" name="Text 4"/>
          <p:cNvSpPr/>
          <p:nvPr/>
        </p:nvSpPr>
        <p:spPr>
          <a:xfrm>
            <a:off x="6409944" y="4343400"/>
            <a:ext cx="4782312" cy="219456"/>
          </a:xfrm>
          <a:prstGeom prst="rect">
            <a:avLst/>
          </a:prstGeom>
          <a:noFill/>
          <a:ln/>
        </p:spPr>
        <p:txBody>
          <a:bodyPr wrap="square" lIns="381" tIns="381" rIns="381" bIns="381" rtlCol="0" anchor="t">
            <a:normAutofit/>
          </a:bodyPr>
          <a:lstStyle/>
          <a:p>
            <a:pPr marL="0" indent="0">
              <a:buNone/>
            </a:pPr>
            <a:r>
              <a:rPr lang="en-US" sz="1320" b="1" dirty="0">
                <a:solidFill>
                  <a:srgbClr val="157347"/>
                </a:solidFill>
                <a:latin typeface="Arial" pitchFamily="34" charset="0"/>
                <a:ea typeface="Arial" pitchFamily="34" charset="-122"/>
                <a:cs typeface="Arial" pitchFamily="34" charset="-120"/>
              </a:rPr>
              <a:t>Kết luận</a:t>
            </a:r>
            <a:endParaRPr lang="en-US" sz="1320" dirty="0"/>
          </a:p>
        </p:txBody>
      </p:sp>
      <p:sp>
        <p:nvSpPr>
          <p:cNvPr id="9" name="Text 5"/>
          <p:cNvSpPr/>
          <p:nvPr/>
        </p:nvSpPr>
        <p:spPr>
          <a:xfrm>
            <a:off x="6409944" y="4654296"/>
            <a:ext cx="4782312" cy="438912"/>
          </a:xfrm>
          <a:prstGeom prst="rect">
            <a:avLst/>
          </a:prstGeom>
          <a:noFill/>
          <a:ln/>
        </p:spPr>
        <p:txBody>
          <a:bodyPr wrap="square" lIns="381" tIns="381" rIns="381" bIns="381" rtlCol="0" anchor="t">
            <a:normAutofit/>
          </a:bodyPr>
          <a:lstStyle/>
          <a:p>
            <a:pPr marL="0" indent="0">
              <a:buNone/>
            </a:pPr>
            <a:r>
              <a:rPr lang="en-US" sz="1180" dirty="0">
                <a:solidFill>
                  <a:srgbClr val="101828"/>
                </a:solidFill>
                <a:latin typeface="Arial" pitchFamily="34" charset="0"/>
                <a:ea typeface="Arial" pitchFamily="34" charset="-122"/>
                <a:cs typeface="Arial" pitchFamily="34" charset="-120"/>
              </a:rPr>
              <a:t>Ablation giúp giải thích mô hình: thành phần phức tạp hơn không luôn tốt hơn nếu universe dữ liệu còn nhỏ.</a:t>
            </a:r>
            <a:endParaRPr lang="en-US" sz="1180" dirty="0"/>
          </a:p>
        </p:txBody>
      </p:sp>
      <p:sp>
        <p:nvSpPr>
          <p:cNvPr id="10" name="Text 6"/>
          <p:cNvSpPr/>
          <p:nvPr/>
        </p:nvSpPr>
        <p:spPr>
          <a:xfrm>
            <a:off x="502920" y="6236208"/>
            <a:ext cx="10881360" cy="146304"/>
          </a:xfrm>
          <a:prstGeom prst="rect">
            <a:avLst/>
          </a:prstGeom>
          <a:noFill/>
          <a:ln/>
        </p:spPr>
        <p:txBody>
          <a:bodyPr wrap="square" lIns="381" tIns="381" rIns="381" bIns="381" rtlCol="0" anchor="t">
            <a:normAutofit/>
          </a:bodyPr>
          <a:lstStyle/>
          <a:p>
            <a:pPr marL="0" indent="0">
              <a:buNone/>
            </a:pPr>
            <a:r>
              <a:rPr lang="en-US" sz="730" dirty="0">
                <a:solidFill>
                  <a:srgbClr val="667085"/>
                </a:solidFill>
                <a:latin typeface="Arial" pitchFamily="34" charset="0"/>
                <a:ea typeface="Arial" pitchFamily="34" charset="-122"/>
                <a:cs typeface="Arial" pitchFamily="34" charset="-120"/>
              </a:rPr>
              <a:t>Nguồn: ai-portfolio-research/results/ablation_table.csv; report/figures/ablation_bar.png</a:t>
            </a:r>
            <a:endParaRPr lang="en-US" sz="730" dirty="0"/>
          </a:p>
        </p:txBody>
      </p:sp>
      <p:sp>
        <p:nvSpPr>
          <p:cNvPr id="25" name="Slide Number Placeholder 0"/>
          <p:cNvSpPr>
            <a:spLocks noGrp="1"/>
          </p:cNvSpPr>
          <p:nvPr>
            <p:ph type="sldNum" sz="quarter" idx="4294967295"/>
          </p:nvPr>
        </p:nvSpPr>
        <p:spPr>
          <a:xfrm>
            <a:off x="11475720" y="6492240"/>
            <a:ext cx="800000" cy="300000"/>
          </a:xfrm>
          <a:prstGeom prst="rect">
            <a:avLst/>
          </a:prstGeom>
          <a:extLst>
            <a:ext uri="{C572A759-6A51-4108-AA02-DFA0A04FC94B}">
              <ma14:wrappingTextBoxFlag xmlns:ma14="http://schemas.microsoft.com/office/mac/drawingml/2011/main" xmlns="" val="0"/>
            </a:ext>
          </a:extLst>
        </p:spPr>
        <p:txBody>
          <a:bodyPr/>
          <a:lstStyle>
            <a:lvl1pPr>
              <a:defRPr sz="730">
                <a:solidFill>
                  <a:srgbClr val="667085"/>
                </a:solidFill>
                <a:latin typeface="Arial"/>
                <a:ea typeface="Arial"/>
                <a:cs typeface="Arial"/>
              </a:defRPr>
            </a:lvl1pPr>
          </a:lstStyle>
          <a:p>
            <a:pPr algn="l"/>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74320"/>
            <a:ext cx="7132320" cy="201168"/>
          </a:xfrm>
          <a:prstGeom prst="rect">
            <a:avLst/>
          </a:prstGeom>
          <a:noFill/>
          <a:ln/>
        </p:spPr>
        <p:txBody>
          <a:bodyPr wrap="square" lIns="0" tIns="0" rIns="0" bIns="0" rtlCol="0" anchor="ctr"/>
          <a:lstStyle/>
          <a:p>
            <a:pPr marL="0" indent="0">
              <a:buNone/>
            </a:pPr>
            <a:r>
              <a:rPr lang="en-US" sz="820" b="1" dirty="0">
                <a:solidFill>
                  <a:srgbClr val="667085"/>
                </a:solidFill>
                <a:latin typeface="Arial" pitchFamily="34" charset="0"/>
                <a:ea typeface="Arial" pitchFamily="34" charset="-122"/>
                <a:cs typeface="Arial" pitchFamily="34" charset="-120"/>
              </a:rPr>
              <a:t>WALK-FORWARD EVALUATION</a:t>
            </a:r>
            <a:endParaRPr lang="en-US" sz="820" dirty="0"/>
          </a:p>
        </p:txBody>
      </p:sp>
      <p:sp>
        <p:nvSpPr>
          <p:cNvPr id="3" name="Text 1"/>
          <p:cNvSpPr/>
          <p:nvPr/>
        </p:nvSpPr>
        <p:spPr>
          <a:xfrm>
            <a:off x="502920" y="512064"/>
            <a:ext cx="11155680" cy="566928"/>
          </a:xfrm>
          <a:prstGeom prst="rect">
            <a:avLst/>
          </a:prstGeom>
          <a:noFill/>
          <a:ln/>
        </p:spPr>
        <p:txBody>
          <a:bodyPr wrap="square" lIns="0" tIns="0" rIns="0" bIns="0" rtlCol="0" anchor="ctr">
            <a:normAutofit/>
          </a:bodyPr>
          <a:lstStyle/>
          <a:p>
            <a:pPr marL="0" indent="0">
              <a:buNone/>
            </a:pPr>
            <a:r>
              <a:rPr lang="en-US" sz="2700" b="1" dirty="0">
                <a:solidFill>
                  <a:srgbClr val="101828"/>
                </a:solidFill>
                <a:latin typeface="Arial" pitchFamily="34" charset="0"/>
                <a:ea typeface="Arial" pitchFamily="34" charset="-122"/>
                <a:cs typeface="Arial" pitchFamily="34" charset="-120"/>
              </a:rPr>
              <a:t>Backtest ngoài mẫu</a:t>
            </a:r>
            <a:endParaRPr lang="en-US" sz="2700" dirty="0"/>
          </a:p>
        </p:txBody>
      </p:sp>
      <p:sp>
        <p:nvSpPr>
          <p:cNvPr id="4" name="Shape 2"/>
          <p:cNvSpPr/>
          <p:nvPr/>
        </p:nvSpPr>
        <p:spPr>
          <a:xfrm>
            <a:off x="502920" y="1152144"/>
            <a:ext cx="11155680" cy="0"/>
          </a:xfrm>
          <a:prstGeom prst="line">
            <a:avLst/>
          </a:prstGeom>
          <a:noFill/>
          <a:ln w="10160">
            <a:solidFill>
              <a:srgbClr val="D0D5DD"/>
            </a:solidFill>
            <a:prstDash val="solid"/>
          </a:ln>
        </p:spPr>
      </p:sp>
      <p:pic>
        <p:nvPicPr>
          <p:cNvPr id="5" name="Image 0" descr="D:\CRM\crystal-ball-insights\ai-portfolio-research\report\figures\equity_curves.png"/>
          <p:cNvPicPr>
            <a:picLocks noChangeAspect="1"/>
          </p:cNvPicPr>
          <p:nvPr/>
        </p:nvPicPr>
        <p:blipFill>
          <a:blip r:embed="rId3"/>
          <a:srcRect/>
          <a:stretch/>
        </p:blipFill>
        <p:spPr>
          <a:xfrm>
            <a:off x="658368" y="1353312"/>
            <a:ext cx="5806440" cy="4251960"/>
          </a:xfrm>
          <a:prstGeom prst="rect">
            <a:avLst/>
          </a:prstGeom>
        </p:spPr>
      </p:pic>
      <p:sp>
        <p:nvSpPr>
          <p:cNvPr id="6" name="Shape 3"/>
          <p:cNvSpPr/>
          <p:nvPr/>
        </p:nvSpPr>
        <p:spPr>
          <a:xfrm>
            <a:off x="6812280" y="1554480"/>
            <a:ext cx="1920240" cy="932688"/>
          </a:xfrm>
          <a:prstGeom prst="rect">
            <a:avLst/>
          </a:prstGeom>
          <a:solidFill>
            <a:srgbClr val="F8FAFC"/>
          </a:solidFill>
          <a:ln w="10160">
            <a:solidFill>
              <a:srgbClr val="D0D5DD"/>
            </a:solidFill>
            <a:prstDash val="solid"/>
          </a:ln>
        </p:spPr>
      </p:sp>
      <p:sp>
        <p:nvSpPr>
          <p:cNvPr id="7" name="Text 4"/>
          <p:cNvSpPr/>
          <p:nvPr/>
        </p:nvSpPr>
        <p:spPr>
          <a:xfrm>
            <a:off x="6931152" y="1673352"/>
            <a:ext cx="1682496" cy="310896"/>
          </a:xfrm>
          <a:prstGeom prst="rect">
            <a:avLst/>
          </a:prstGeom>
          <a:noFill/>
          <a:ln/>
        </p:spPr>
        <p:txBody>
          <a:bodyPr wrap="square" lIns="381" tIns="381" rIns="381" bIns="381" rtlCol="0" anchor="t">
            <a:normAutofit lnSpcReduction="10000"/>
          </a:bodyPr>
          <a:lstStyle/>
          <a:p>
            <a:pPr marL="0" indent="0" algn="ctr">
              <a:buNone/>
            </a:pPr>
            <a:r>
              <a:rPr lang="en-US" sz="2200" b="1" dirty="0">
                <a:solidFill>
                  <a:srgbClr val="6941C6"/>
                </a:solidFill>
                <a:latin typeface="Arial" pitchFamily="34" charset="0"/>
                <a:ea typeface="Arial" pitchFamily="34" charset="-122"/>
                <a:cs typeface="Arial" pitchFamily="34" charset="-120"/>
              </a:rPr>
              <a:t>50</a:t>
            </a:r>
            <a:endParaRPr lang="en-US" sz="2200" dirty="0"/>
          </a:p>
        </p:txBody>
      </p:sp>
      <p:sp>
        <p:nvSpPr>
          <p:cNvPr id="8" name="Text 5"/>
          <p:cNvSpPr/>
          <p:nvPr/>
        </p:nvSpPr>
        <p:spPr>
          <a:xfrm>
            <a:off x="6931152" y="2066544"/>
            <a:ext cx="1682496" cy="164592"/>
          </a:xfrm>
          <a:prstGeom prst="rect">
            <a:avLst/>
          </a:prstGeom>
          <a:noFill/>
          <a:ln/>
        </p:spPr>
        <p:txBody>
          <a:bodyPr wrap="square" lIns="381" tIns="381" rIns="381" bIns="381" rtlCol="0" anchor="t">
            <a:normAutofit/>
          </a:bodyPr>
          <a:lstStyle/>
          <a:p>
            <a:pPr marL="0" indent="0" algn="ctr">
              <a:buNone/>
            </a:pPr>
            <a:r>
              <a:rPr lang="en-US" sz="980" b="1" dirty="0">
                <a:solidFill>
                  <a:srgbClr val="101828"/>
                </a:solidFill>
                <a:latin typeface="Arial" pitchFamily="34" charset="0"/>
                <a:ea typeface="Arial" pitchFamily="34" charset="-122"/>
                <a:cs typeface="Arial" pitchFamily="34" charset="-120"/>
              </a:rPr>
              <a:t>Rebalance</a:t>
            </a:r>
            <a:endParaRPr lang="en-US" sz="980" dirty="0"/>
          </a:p>
        </p:txBody>
      </p:sp>
      <p:sp>
        <p:nvSpPr>
          <p:cNvPr id="9" name="Text 6"/>
          <p:cNvSpPr/>
          <p:nvPr/>
        </p:nvSpPr>
        <p:spPr>
          <a:xfrm>
            <a:off x="6931152" y="2258568"/>
            <a:ext cx="1682496" cy="128016"/>
          </a:xfrm>
          <a:prstGeom prst="rect">
            <a:avLst/>
          </a:prstGeom>
          <a:noFill/>
          <a:ln/>
        </p:spPr>
        <p:txBody>
          <a:bodyPr wrap="square" lIns="381" tIns="381" rIns="381" bIns="381" rtlCol="0" anchor="t">
            <a:normAutofit/>
          </a:bodyPr>
          <a:lstStyle/>
          <a:p>
            <a:pPr marL="0" indent="0" algn="ctr">
              <a:buNone/>
            </a:pPr>
            <a:r>
              <a:rPr lang="en-US" sz="760" dirty="0">
                <a:solidFill>
                  <a:srgbClr val="667085"/>
                </a:solidFill>
                <a:latin typeface="Arial" pitchFamily="34" charset="0"/>
                <a:ea typeface="Arial" pitchFamily="34" charset="-122"/>
                <a:cs typeface="Arial" pitchFamily="34" charset="-120"/>
              </a:rPr>
              <a:t>test</a:t>
            </a:r>
            <a:endParaRPr lang="en-US" sz="760" dirty="0"/>
          </a:p>
        </p:txBody>
      </p:sp>
      <p:sp>
        <p:nvSpPr>
          <p:cNvPr id="10" name="Shape 7"/>
          <p:cNvSpPr/>
          <p:nvPr/>
        </p:nvSpPr>
        <p:spPr>
          <a:xfrm>
            <a:off x="9006840" y="1554480"/>
            <a:ext cx="1920240" cy="932688"/>
          </a:xfrm>
          <a:prstGeom prst="rect">
            <a:avLst/>
          </a:prstGeom>
          <a:solidFill>
            <a:srgbClr val="F8FAFC"/>
          </a:solidFill>
          <a:ln w="10160">
            <a:solidFill>
              <a:srgbClr val="D0D5DD"/>
            </a:solidFill>
            <a:prstDash val="solid"/>
          </a:ln>
        </p:spPr>
      </p:sp>
      <p:sp>
        <p:nvSpPr>
          <p:cNvPr id="11" name="Text 8"/>
          <p:cNvSpPr/>
          <p:nvPr/>
        </p:nvSpPr>
        <p:spPr>
          <a:xfrm>
            <a:off x="9125712" y="1673352"/>
            <a:ext cx="1682496" cy="310896"/>
          </a:xfrm>
          <a:prstGeom prst="rect">
            <a:avLst/>
          </a:prstGeom>
          <a:noFill/>
          <a:ln/>
        </p:spPr>
        <p:txBody>
          <a:bodyPr wrap="square" lIns="381" tIns="381" rIns="381" bIns="381" rtlCol="0" anchor="t">
            <a:normAutofit lnSpcReduction="10000"/>
          </a:bodyPr>
          <a:lstStyle/>
          <a:p>
            <a:pPr marL="0" indent="0" algn="ctr">
              <a:buNone/>
            </a:pPr>
            <a:r>
              <a:rPr lang="en-US" sz="2200" b="1" dirty="0">
                <a:solidFill>
                  <a:srgbClr val="E46A11"/>
                </a:solidFill>
                <a:latin typeface="Arial" pitchFamily="34" charset="0"/>
                <a:ea typeface="Arial" pitchFamily="34" charset="-122"/>
                <a:cs typeface="Arial" pitchFamily="34" charset="-120"/>
              </a:rPr>
              <a:t>10 bps</a:t>
            </a:r>
            <a:endParaRPr lang="en-US" sz="2200" dirty="0"/>
          </a:p>
        </p:txBody>
      </p:sp>
      <p:sp>
        <p:nvSpPr>
          <p:cNvPr id="12" name="Text 9"/>
          <p:cNvSpPr/>
          <p:nvPr/>
        </p:nvSpPr>
        <p:spPr>
          <a:xfrm>
            <a:off x="9125712" y="2066544"/>
            <a:ext cx="1682496" cy="164592"/>
          </a:xfrm>
          <a:prstGeom prst="rect">
            <a:avLst/>
          </a:prstGeom>
          <a:noFill/>
          <a:ln/>
        </p:spPr>
        <p:txBody>
          <a:bodyPr wrap="square" lIns="381" tIns="381" rIns="381" bIns="381" rtlCol="0" anchor="t">
            <a:normAutofit/>
          </a:bodyPr>
          <a:lstStyle/>
          <a:p>
            <a:pPr marL="0" indent="0" algn="ctr">
              <a:buNone/>
            </a:pPr>
            <a:r>
              <a:rPr lang="en-US" sz="980" b="1" dirty="0">
                <a:solidFill>
                  <a:srgbClr val="101828"/>
                </a:solidFill>
                <a:latin typeface="Arial" pitchFamily="34" charset="0"/>
                <a:ea typeface="Arial" pitchFamily="34" charset="-122"/>
                <a:cs typeface="Arial" pitchFamily="34" charset="-120"/>
              </a:rPr>
              <a:t>Cost</a:t>
            </a:r>
            <a:endParaRPr lang="en-US" sz="980" dirty="0"/>
          </a:p>
        </p:txBody>
      </p:sp>
      <p:sp>
        <p:nvSpPr>
          <p:cNvPr id="13" name="Shape 10"/>
          <p:cNvSpPr/>
          <p:nvPr/>
        </p:nvSpPr>
        <p:spPr>
          <a:xfrm>
            <a:off x="6812280" y="2880360"/>
            <a:ext cx="4114800" cy="914400"/>
          </a:xfrm>
          <a:prstGeom prst="rect">
            <a:avLst/>
          </a:prstGeom>
          <a:solidFill>
            <a:srgbClr val="EEF6FF"/>
          </a:solidFill>
          <a:ln w="12700">
            <a:solidFill>
              <a:srgbClr val="175CD3"/>
            </a:solidFill>
            <a:prstDash val="solid"/>
          </a:ln>
        </p:spPr>
      </p:sp>
      <p:sp>
        <p:nvSpPr>
          <p:cNvPr id="14" name="Text 11"/>
          <p:cNvSpPr/>
          <p:nvPr/>
        </p:nvSpPr>
        <p:spPr>
          <a:xfrm>
            <a:off x="6958584" y="2999232"/>
            <a:ext cx="3822192" cy="219456"/>
          </a:xfrm>
          <a:prstGeom prst="rect">
            <a:avLst/>
          </a:prstGeom>
          <a:noFill/>
          <a:ln/>
        </p:spPr>
        <p:txBody>
          <a:bodyPr wrap="square" lIns="381" tIns="381" rIns="381" bIns="381" rtlCol="0" anchor="t">
            <a:normAutofit/>
          </a:bodyPr>
          <a:lstStyle/>
          <a:p>
            <a:pPr marL="0" indent="0">
              <a:buNone/>
            </a:pPr>
            <a:r>
              <a:rPr lang="en-US" sz="1320" b="1" dirty="0">
                <a:solidFill>
                  <a:srgbClr val="175CD3"/>
                </a:solidFill>
                <a:latin typeface="Arial" pitchFamily="34" charset="0"/>
                <a:ea typeface="Arial" pitchFamily="34" charset="-122"/>
                <a:cs typeface="Arial" pitchFamily="34" charset="-120"/>
              </a:rPr>
              <a:t>Protocol</a:t>
            </a:r>
            <a:endParaRPr lang="en-US" sz="1320" dirty="0"/>
          </a:p>
        </p:txBody>
      </p:sp>
      <p:sp>
        <p:nvSpPr>
          <p:cNvPr id="15" name="Text 12"/>
          <p:cNvSpPr/>
          <p:nvPr/>
        </p:nvSpPr>
        <p:spPr>
          <a:xfrm>
            <a:off x="6958584" y="3310128"/>
            <a:ext cx="3822192" cy="393192"/>
          </a:xfrm>
          <a:prstGeom prst="rect">
            <a:avLst/>
          </a:prstGeom>
          <a:noFill/>
          <a:ln/>
        </p:spPr>
        <p:txBody>
          <a:bodyPr wrap="square" lIns="381" tIns="381" rIns="381" bIns="381" rtlCol="0" anchor="t">
            <a:normAutofit/>
          </a:bodyPr>
          <a:lstStyle/>
          <a:p>
            <a:pPr marL="0" indent="0">
              <a:buNone/>
            </a:pPr>
            <a:r>
              <a:rPr lang="en-US" sz="1180" dirty="0">
                <a:solidFill>
                  <a:srgbClr val="101828"/>
                </a:solidFill>
                <a:latin typeface="Arial" pitchFamily="34" charset="0"/>
                <a:ea typeface="Arial" pitchFamily="34" charset="-122"/>
                <a:cs typeface="Arial" pitchFamily="34" charset="-120"/>
              </a:rPr>
              <a:t>Walk-forward trên tập test; mỗi lần chỉ dùng dữ liệu đến thời điểm quyết định.</a:t>
            </a:r>
            <a:endParaRPr lang="en-US" sz="1180" dirty="0"/>
          </a:p>
        </p:txBody>
      </p:sp>
      <p:sp>
        <p:nvSpPr>
          <p:cNvPr id="16" name="Shape 13"/>
          <p:cNvSpPr/>
          <p:nvPr/>
        </p:nvSpPr>
        <p:spPr>
          <a:xfrm>
            <a:off x="6812280" y="4069080"/>
            <a:ext cx="4114800" cy="914400"/>
          </a:xfrm>
          <a:prstGeom prst="rect">
            <a:avLst/>
          </a:prstGeom>
          <a:solidFill>
            <a:srgbClr val="F0FDF4"/>
          </a:solidFill>
          <a:ln w="12700">
            <a:solidFill>
              <a:srgbClr val="157347"/>
            </a:solidFill>
            <a:prstDash val="solid"/>
          </a:ln>
        </p:spPr>
      </p:sp>
      <p:sp>
        <p:nvSpPr>
          <p:cNvPr id="17" name="Text 14"/>
          <p:cNvSpPr/>
          <p:nvPr/>
        </p:nvSpPr>
        <p:spPr>
          <a:xfrm>
            <a:off x="6958584" y="4187952"/>
            <a:ext cx="3822192" cy="219456"/>
          </a:xfrm>
          <a:prstGeom prst="rect">
            <a:avLst/>
          </a:prstGeom>
          <a:noFill/>
          <a:ln/>
        </p:spPr>
        <p:txBody>
          <a:bodyPr wrap="square" lIns="381" tIns="381" rIns="381" bIns="381" rtlCol="0" anchor="t">
            <a:normAutofit/>
          </a:bodyPr>
          <a:lstStyle/>
          <a:p>
            <a:pPr marL="0" indent="0">
              <a:buNone/>
            </a:pPr>
            <a:r>
              <a:rPr lang="en-US" sz="1320" b="1" dirty="0">
                <a:solidFill>
                  <a:srgbClr val="157347"/>
                </a:solidFill>
                <a:latin typeface="Arial" pitchFamily="34" charset="0"/>
                <a:ea typeface="Arial" pitchFamily="34" charset="-122"/>
                <a:cs typeface="Arial" pitchFamily="34" charset="-120"/>
              </a:rPr>
              <a:t>Portfolio constraints</a:t>
            </a:r>
            <a:endParaRPr lang="en-US" sz="1320" dirty="0"/>
          </a:p>
        </p:txBody>
      </p:sp>
      <p:sp>
        <p:nvSpPr>
          <p:cNvPr id="18" name="Text 15"/>
          <p:cNvSpPr/>
          <p:nvPr/>
        </p:nvSpPr>
        <p:spPr>
          <a:xfrm>
            <a:off x="6958584" y="4498848"/>
            <a:ext cx="3822192" cy="393192"/>
          </a:xfrm>
          <a:prstGeom prst="rect">
            <a:avLst/>
          </a:prstGeom>
          <a:noFill/>
          <a:ln/>
        </p:spPr>
        <p:txBody>
          <a:bodyPr wrap="square" lIns="381" tIns="381" rIns="381" bIns="381" rtlCol="0" anchor="t">
            <a:normAutofit/>
          </a:bodyPr>
          <a:lstStyle/>
          <a:p>
            <a:pPr marL="0" indent="0">
              <a:buNone/>
            </a:pPr>
            <a:r>
              <a:rPr lang="en-US" sz="1180" dirty="0">
                <a:solidFill>
                  <a:srgbClr val="101828"/>
                </a:solidFill>
                <a:latin typeface="Arial" pitchFamily="34" charset="0"/>
                <a:ea typeface="Arial" pitchFamily="34" charset="-122"/>
                <a:cs typeface="Arial" pitchFamily="34" charset="-120"/>
              </a:rPr>
              <a:t>Long-only, tổng trọng số = 1, mỗi tài sản tối đa 25%, covariance Ledoit-Wolf.</a:t>
            </a:r>
            <a:endParaRPr lang="en-US" sz="1180" dirty="0"/>
          </a:p>
        </p:txBody>
      </p:sp>
      <p:sp>
        <p:nvSpPr>
          <p:cNvPr id="19" name="Text 16"/>
          <p:cNvSpPr/>
          <p:nvPr/>
        </p:nvSpPr>
        <p:spPr>
          <a:xfrm>
            <a:off x="502920" y="6236208"/>
            <a:ext cx="10881360" cy="146304"/>
          </a:xfrm>
          <a:prstGeom prst="rect">
            <a:avLst/>
          </a:prstGeom>
          <a:noFill/>
          <a:ln/>
        </p:spPr>
        <p:txBody>
          <a:bodyPr wrap="square" lIns="381" tIns="381" rIns="381" bIns="381" rtlCol="0" anchor="t">
            <a:normAutofit/>
          </a:bodyPr>
          <a:lstStyle/>
          <a:p>
            <a:pPr marL="0" indent="0">
              <a:buNone/>
            </a:pPr>
            <a:r>
              <a:rPr lang="en-US" sz="730" dirty="0">
                <a:solidFill>
                  <a:srgbClr val="667085"/>
                </a:solidFill>
                <a:latin typeface="Arial" pitchFamily="34" charset="0"/>
                <a:ea typeface="Arial" pitchFamily="34" charset="-122"/>
                <a:cs typeface="Arial" pitchFamily="34" charset="-120"/>
              </a:rPr>
              <a:t>Nguồn: ai-portfolio-research/src/backtest.py; src/optimizer.py; report/figures/equity_curves.png</a:t>
            </a:r>
            <a:endParaRPr lang="en-US" sz="730" dirty="0"/>
          </a:p>
        </p:txBody>
      </p:sp>
      <p:sp>
        <p:nvSpPr>
          <p:cNvPr id="25" name="Slide Number Placeholder 0"/>
          <p:cNvSpPr>
            <a:spLocks noGrp="1"/>
          </p:cNvSpPr>
          <p:nvPr>
            <p:ph type="sldNum" sz="quarter" idx="4294967295"/>
          </p:nvPr>
        </p:nvSpPr>
        <p:spPr>
          <a:xfrm>
            <a:off x="11475720" y="6492240"/>
            <a:ext cx="800000" cy="300000"/>
          </a:xfrm>
          <a:prstGeom prst="rect">
            <a:avLst/>
          </a:prstGeom>
          <a:extLst>
            <a:ext uri="{C572A759-6A51-4108-AA02-DFA0A04FC94B}">
              <ma14:wrappingTextBoxFlag xmlns:ma14="http://schemas.microsoft.com/office/mac/drawingml/2011/main" xmlns="" val="0"/>
            </a:ext>
          </a:extLst>
        </p:spPr>
        <p:txBody>
          <a:bodyPr/>
          <a:lstStyle>
            <a:lvl1pPr>
              <a:defRPr sz="730">
                <a:solidFill>
                  <a:srgbClr val="667085"/>
                </a:solidFill>
                <a:latin typeface="Arial"/>
                <a:ea typeface="Arial"/>
                <a:cs typeface="Arial"/>
              </a:defRPr>
            </a:lvl1pPr>
          </a:lstStyle>
          <a:p>
            <a:pPr algn="l"/>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74320"/>
            <a:ext cx="7132320" cy="201168"/>
          </a:xfrm>
          <a:prstGeom prst="rect">
            <a:avLst/>
          </a:prstGeom>
          <a:noFill/>
          <a:ln/>
        </p:spPr>
        <p:txBody>
          <a:bodyPr wrap="square" lIns="0" tIns="0" rIns="0" bIns="0" rtlCol="0" anchor="ctr"/>
          <a:lstStyle/>
          <a:p>
            <a:pPr marL="0" indent="0">
              <a:buNone/>
            </a:pPr>
            <a:r>
              <a:rPr lang="en-US" sz="820" b="1" dirty="0">
                <a:solidFill>
                  <a:srgbClr val="667085"/>
                </a:solidFill>
                <a:latin typeface="Arial" pitchFamily="34" charset="0"/>
                <a:ea typeface="Arial" pitchFamily="34" charset="-122"/>
                <a:cs typeface="Arial" pitchFamily="34" charset="-120"/>
              </a:rPr>
              <a:t>SHARPE, MDD, CALMAR</a:t>
            </a:r>
            <a:endParaRPr lang="en-US" sz="820" dirty="0"/>
          </a:p>
        </p:txBody>
      </p:sp>
      <p:sp>
        <p:nvSpPr>
          <p:cNvPr id="3" name="Text 1"/>
          <p:cNvSpPr/>
          <p:nvPr/>
        </p:nvSpPr>
        <p:spPr>
          <a:xfrm>
            <a:off x="502920" y="512064"/>
            <a:ext cx="11155680" cy="566928"/>
          </a:xfrm>
          <a:prstGeom prst="rect">
            <a:avLst/>
          </a:prstGeom>
          <a:noFill/>
          <a:ln/>
        </p:spPr>
        <p:txBody>
          <a:bodyPr wrap="square" lIns="0" tIns="0" rIns="0" bIns="0" rtlCol="0" anchor="ctr">
            <a:normAutofit/>
          </a:bodyPr>
          <a:lstStyle/>
          <a:p>
            <a:pPr marL="0" indent="0">
              <a:buNone/>
            </a:pPr>
            <a:r>
              <a:rPr lang="en-US" sz="2700" b="1" dirty="0">
                <a:solidFill>
                  <a:srgbClr val="101828"/>
                </a:solidFill>
                <a:latin typeface="Arial" pitchFamily="34" charset="0"/>
                <a:ea typeface="Arial" pitchFamily="34" charset="-122"/>
                <a:cs typeface="Arial" pitchFamily="34" charset="-120"/>
              </a:rPr>
              <a:t>Kết quả định lượng chính</a:t>
            </a:r>
            <a:endParaRPr lang="en-US" sz="2700" dirty="0"/>
          </a:p>
        </p:txBody>
      </p:sp>
      <p:sp>
        <p:nvSpPr>
          <p:cNvPr id="4" name="Shape 2"/>
          <p:cNvSpPr/>
          <p:nvPr/>
        </p:nvSpPr>
        <p:spPr>
          <a:xfrm>
            <a:off x="502920" y="1152144"/>
            <a:ext cx="11155680" cy="0"/>
          </a:xfrm>
          <a:prstGeom prst="line">
            <a:avLst/>
          </a:prstGeom>
          <a:noFill/>
          <a:ln w="10160">
            <a:solidFill>
              <a:srgbClr val="D0D5DD"/>
            </a:solidFill>
            <a:prstDash val="solid"/>
          </a:ln>
        </p:spPr>
      </p:sp>
      <p:pic>
        <p:nvPicPr>
          <p:cNvPr id="5" name="Image 0" descr="D:\CRM\crystal-ball-insights\ai-portfolio-research\report\figures\sharpe_comparison.png"/>
          <p:cNvPicPr>
            <a:picLocks noChangeAspect="1"/>
          </p:cNvPicPr>
          <p:nvPr/>
        </p:nvPicPr>
        <p:blipFill>
          <a:blip r:embed="rId3"/>
          <a:srcRect/>
          <a:stretch/>
        </p:blipFill>
        <p:spPr>
          <a:xfrm>
            <a:off x="658368" y="1353312"/>
            <a:ext cx="5349240" cy="4251960"/>
          </a:xfrm>
          <a:prstGeom prst="rect">
            <a:avLst/>
          </a:prstGeom>
        </p:spPr>
      </p:pic>
      <p:sp>
        <p:nvSpPr>
          <p:cNvPr id="6" name="Shape 3"/>
          <p:cNvSpPr/>
          <p:nvPr/>
        </p:nvSpPr>
        <p:spPr>
          <a:xfrm>
            <a:off x="6446520" y="1481328"/>
            <a:ext cx="2057400" cy="932688"/>
          </a:xfrm>
          <a:prstGeom prst="rect">
            <a:avLst/>
          </a:prstGeom>
          <a:solidFill>
            <a:srgbClr val="F8FAFC"/>
          </a:solidFill>
          <a:ln w="10160">
            <a:solidFill>
              <a:srgbClr val="D0D5DD"/>
            </a:solidFill>
            <a:prstDash val="solid"/>
          </a:ln>
        </p:spPr>
      </p:sp>
      <p:sp>
        <p:nvSpPr>
          <p:cNvPr id="7" name="Text 4"/>
          <p:cNvSpPr/>
          <p:nvPr/>
        </p:nvSpPr>
        <p:spPr>
          <a:xfrm>
            <a:off x="6565392" y="1600200"/>
            <a:ext cx="1819656" cy="310896"/>
          </a:xfrm>
          <a:prstGeom prst="rect">
            <a:avLst/>
          </a:prstGeom>
          <a:noFill/>
          <a:ln/>
        </p:spPr>
        <p:txBody>
          <a:bodyPr wrap="square" lIns="381" tIns="381" rIns="381" bIns="381" rtlCol="0" anchor="t">
            <a:normAutofit lnSpcReduction="10000"/>
          </a:bodyPr>
          <a:lstStyle/>
          <a:p>
            <a:pPr marL="0" indent="0" algn="ctr">
              <a:buNone/>
            </a:pPr>
            <a:r>
              <a:rPr lang="en-US" sz="2200" b="1" dirty="0">
                <a:solidFill>
                  <a:srgbClr val="157347"/>
                </a:solidFill>
                <a:latin typeface="Arial" pitchFamily="34" charset="0"/>
                <a:ea typeface="Arial" pitchFamily="34" charset="-122"/>
                <a:cs typeface="Arial" pitchFamily="34" charset="-120"/>
              </a:rPr>
              <a:t>APT</a:t>
            </a:r>
            <a:endParaRPr lang="en-US" sz="2200" dirty="0"/>
          </a:p>
        </p:txBody>
      </p:sp>
      <p:sp>
        <p:nvSpPr>
          <p:cNvPr id="8" name="Text 5"/>
          <p:cNvSpPr/>
          <p:nvPr/>
        </p:nvSpPr>
        <p:spPr>
          <a:xfrm>
            <a:off x="6565392" y="1993392"/>
            <a:ext cx="1819656" cy="164592"/>
          </a:xfrm>
          <a:prstGeom prst="rect">
            <a:avLst/>
          </a:prstGeom>
          <a:noFill/>
          <a:ln/>
        </p:spPr>
        <p:txBody>
          <a:bodyPr wrap="square" lIns="381" tIns="381" rIns="381" bIns="381" rtlCol="0" anchor="t">
            <a:normAutofit/>
          </a:bodyPr>
          <a:lstStyle/>
          <a:p>
            <a:pPr marL="0" indent="0" algn="ctr">
              <a:buNone/>
            </a:pPr>
            <a:r>
              <a:rPr lang="en-US" sz="980" b="1" dirty="0">
                <a:solidFill>
                  <a:srgbClr val="101828"/>
                </a:solidFill>
                <a:latin typeface="Arial" pitchFamily="34" charset="0"/>
                <a:ea typeface="Arial" pitchFamily="34" charset="-122"/>
                <a:cs typeface="Arial" pitchFamily="34" charset="-120"/>
              </a:rPr>
              <a:t>Best strategy</a:t>
            </a:r>
            <a:endParaRPr lang="en-US" sz="980" dirty="0"/>
          </a:p>
        </p:txBody>
      </p:sp>
      <p:sp>
        <p:nvSpPr>
          <p:cNvPr id="9" name="Text 6"/>
          <p:cNvSpPr/>
          <p:nvPr/>
        </p:nvSpPr>
        <p:spPr>
          <a:xfrm>
            <a:off x="6565392" y="2185416"/>
            <a:ext cx="1819656" cy="128016"/>
          </a:xfrm>
          <a:prstGeom prst="rect">
            <a:avLst/>
          </a:prstGeom>
          <a:noFill/>
          <a:ln/>
        </p:spPr>
        <p:txBody>
          <a:bodyPr wrap="square" lIns="381" tIns="381" rIns="381" bIns="381" rtlCol="0" anchor="t">
            <a:normAutofit/>
          </a:bodyPr>
          <a:lstStyle/>
          <a:p>
            <a:pPr marL="0" indent="0" algn="ctr">
              <a:buNone/>
            </a:pPr>
            <a:r>
              <a:rPr lang="en-US" sz="760" dirty="0">
                <a:solidFill>
                  <a:srgbClr val="667085"/>
                </a:solidFill>
                <a:latin typeface="Arial" pitchFamily="34" charset="0"/>
                <a:ea typeface="Arial" pitchFamily="34" charset="-122"/>
                <a:cs typeface="Arial" pitchFamily="34" charset="-120"/>
              </a:rPr>
              <a:t>APT_3Factor</a:t>
            </a:r>
            <a:endParaRPr lang="en-US" sz="760" dirty="0"/>
          </a:p>
        </p:txBody>
      </p:sp>
      <p:sp>
        <p:nvSpPr>
          <p:cNvPr id="10" name="Shape 7"/>
          <p:cNvSpPr/>
          <p:nvPr/>
        </p:nvSpPr>
        <p:spPr>
          <a:xfrm>
            <a:off x="8823960" y="1481328"/>
            <a:ext cx="2057400" cy="932688"/>
          </a:xfrm>
          <a:prstGeom prst="rect">
            <a:avLst/>
          </a:prstGeom>
          <a:solidFill>
            <a:srgbClr val="F8FAFC"/>
          </a:solidFill>
          <a:ln w="10160">
            <a:solidFill>
              <a:srgbClr val="D0D5DD"/>
            </a:solidFill>
            <a:prstDash val="solid"/>
          </a:ln>
        </p:spPr>
      </p:sp>
      <p:sp>
        <p:nvSpPr>
          <p:cNvPr id="11" name="Text 8"/>
          <p:cNvSpPr/>
          <p:nvPr/>
        </p:nvSpPr>
        <p:spPr>
          <a:xfrm>
            <a:off x="8942832" y="1600200"/>
            <a:ext cx="1819656" cy="310896"/>
          </a:xfrm>
          <a:prstGeom prst="rect">
            <a:avLst/>
          </a:prstGeom>
          <a:noFill/>
          <a:ln/>
        </p:spPr>
        <p:txBody>
          <a:bodyPr wrap="square" lIns="381" tIns="381" rIns="381" bIns="381" rtlCol="0" anchor="t">
            <a:normAutofit lnSpcReduction="10000"/>
          </a:bodyPr>
          <a:lstStyle/>
          <a:p>
            <a:pPr marL="0" indent="0" algn="ctr">
              <a:buNone/>
            </a:pPr>
            <a:r>
              <a:rPr lang="en-US" sz="2200" b="1" dirty="0">
                <a:solidFill>
                  <a:srgbClr val="6941C6"/>
                </a:solidFill>
                <a:latin typeface="Arial" pitchFamily="34" charset="0"/>
                <a:ea typeface="Arial" pitchFamily="34" charset="-122"/>
                <a:cs typeface="Arial" pitchFamily="34" charset="-120"/>
              </a:rPr>
              <a:t>1.626</a:t>
            </a:r>
            <a:endParaRPr lang="en-US" sz="2200" dirty="0"/>
          </a:p>
        </p:txBody>
      </p:sp>
      <p:sp>
        <p:nvSpPr>
          <p:cNvPr id="12" name="Text 9"/>
          <p:cNvSpPr/>
          <p:nvPr/>
        </p:nvSpPr>
        <p:spPr>
          <a:xfrm>
            <a:off x="8942832" y="1993392"/>
            <a:ext cx="1819656" cy="164592"/>
          </a:xfrm>
          <a:prstGeom prst="rect">
            <a:avLst/>
          </a:prstGeom>
          <a:noFill/>
          <a:ln/>
        </p:spPr>
        <p:txBody>
          <a:bodyPr wrap="square" lIns="381" tIns="381" rIns="381" bIns="381" rtlCol="0" anchor="t">
            <a:normAutofit/>
          </a:bodyPr>
          <a:lstStyle/>
          <a:p>
            <a:pPr marL="0" indent="0" algn="ctr">
              <a:buNone/>
            </a:pPr>
            <a:r>
              <a:rPr lang="en-US" sz="980" b="1" dirty="0">
                <a:solidFill>
                  <a:srgbClr val="101828"/>
                </a:solidFill>
                <a:latin typeface="Arial" pitchFamily="34" charset="0"/>
                <a:ea typeface="Arial" pitchFamily="34" charset="-122"/>
                <a:cs typeface="Arial" pitchFamily="34" charset="-120"/>
              </a:rPr>
              <a:t>Sharpe</a:t>
            </a:r>
            <a:endParaRPr lang="en-US" sz="980" dirty="0"/>
          </a:p>
        </p:txBody>
      </p:sp>
      <p:sp>
        <p:nvSpPr>
          <p:cNvPr id="13" name="Text 10"/>
          <p:cNvSpPr/>
          <p:nvPr/>
        </p:nvSpPr>
        <p:spPr>
          <a:xfrm>
            <a:off x="8942832" y="2185416"/>
            <a:ext cx="1819656" cy="128016"/>
          </a:xfrm>
          <a:prstGeom prst="rect">
            <a:avLst/>
          </a:prstGeom>
          <a:noFill/>
          <a:ln/>
        </p:spPr>
        <p:txBody>
          <a:bodyPr wrap="square" lIns="381" tIns="381" rIns="381" bIns="381" rtlCol="0" anchor="t">
            <a:normAutofit/>
          </a:bodyPr>
          <a:lstStyle/>
          <a:p>
            <a:pPr marL="0" indent="0" algn="ctr">
              <a:buNone/>
            </a:pPr>
            <a:r>
              <a:rPr lang="en-US" sz="760" dirty="0">
                <a:solidFill>
                  <a:srgbClr val="667085"/>
                </a:solidFill>
                <a:latin typeface="Arial" pitchFamily="34" charset="0"/>
                <a:ea typeface="Arial" pitchFamily="34" charset="-122"/>
                <a:cs typeface="Arial" pitchFamily="34" charset="-120"/>
              </a:rPr>
              <a:t>cao nhất</a:t>
            </a:r>
            <a:endParaRPr lang="en-US" sz="760" dirty="0"/>
          </a:p>
        </p:txBody>
      </p:sp>
      <p:sp>
        <p:nvSpPr>
          <p:cNvPr id="14" name="Shape 11"/>
          <p:cNvSpPr/>
          <p:nvPr/>
        </p:nvSpPr>
        <p:spPr>
          <a:xfrm>
            <a:off x="6446520" y="2761488"/>
            <a:ext cx="2057400" cy="932688"/>
          </a:xfrm>
          <a:prstGeom prst="rect">
            <a:avLst/>
          </a:prstGeom>
          <a:solidFill>
            <a:srgbClr val="F8FAFC"/>
          </a:solidFill>
          <a:ln w="10160">
            <a:solidFill>
              <a:srgbClr val="D0D5DD"/>
            </a:solidFill>
            <a:prstDash val="solid"/>
          </a:ln>
        </p:spPr>
      </p:sp>
      <p:sp>
        <p:nvSpPr>
          <p:cNvPr id="15" name="Text 12"/>
          <p:cNvSpPr/>
          <p:nvPr/>
        </p:nvSpPr>
        <p:spPr>
          <a:xfrm>
            <a:off x="6565392" y="2880360"/>
            <a:ext cx="1819656" cy="310896"/>
          </a:xfrm>
          <a:prstGeom prst="rect">
            <a:avLst/>
          </a:prstGeom>
          <a:noFill/>
          <a:ln/>
        </p:spPr>
        <p:txBody>
          <a:bodyPr wrap="square" lIns="381" tIns="381" rIns="381" bIns="381" rtlCol="0" anchor="t">
            <a:normAutofit lnSpcReduction="10000"/>
          </a:bodyPr>
          <a:lstStyle/>
          <a:p>
            <a:pPr marL="0" indent="0" algn="ctr">
              <a:buNone/>
            </a:pPr>
            <a:r>
              <a:rPr lang="en-US" sz="2200" b="1" dirty="0">
                <a:solidFill>
                  <a:srgbClr val="157347"/>
                </a:solidFill>
                <a:latin typeface="Arial" pitchFamily="34" charset="0"/>
                <a:ea typeface="Arial" pitchFamily="34" charset="-122"/>
                <a:cs typeface="Arial" pitchFamily="34" charset="-120"/>
              </a:rPr>
              <a:t>26.10%</a:t>
            </a:r>
            <a:endParaRPr lang="en-US" sz="2200" dirty="0"/>
          </a:p>
        </p:txBody>
      </p:sp>
      <p:sp>
        <p:nvSpPr>
          <p:cNvPr id="16" name="Text 13"/>
          <p:cNvSpPr/>
          <p:nvPr/>
        </p:nvSpPr>
        <p:spPr>
          <a:xfrm>
            <a:off x="6565392" y="3273552"/>
            <a:ext cx="1819656" cy="164592"/>
          </a:xfrm>
          <a:prstGeom prst="rect">
            <a:avLst/>
          </a:prstGeom>
          <a:noFill/>
          <a:ln/>
        </p:spPr>
        <p:txBody>
          <a:bodyPr wrap="square" lIns="381" tIns="381" rIns="381" bIns="381" rtlCol="0" anchor="t">
            <a:normAutofit/>
          </a:bodyPr>
          <a:lstStyle/>
          <a:p>
            <a:pPr marL="0" indent="0" algn="ctr">
              <a:buNone/>
            </a:pPr>
            <a:r>
              <a:rPr lang="en-US" sz="980" b="1" dirty="0">
                <a:solidFill>
                  <a:srgbClr val="101828"/>
                </a:solidFill>
                <a:latin typeface="Arial" pitchFamily="34" charset="0"/>
                <a:ea typeface="Arial" pitchFamily="34" charset="-122"/>
                <a:cs typeface="Arial" pitchFamily="34" charset="-120"/>
              </a:rPr>
              <a:t>Annual Return</a:t>
            </a:r>
            <a:endParaRPr lang="en-US" sz="980" dirty="0"/>
          </a:p>
        </p:txBody>
      </p:sp>
      <p:sp>
        <p:nvSpPr>
          <p:cNvPr id="17" name="Shape 14"/>
          <p:cNvSpPr/>
          <p:nvPr/>
        </p:nvSpPr>
        <p:spPr>
          <a:xfrm>
            <a:off x="8823960" y="2761488"/>
            <a:ext cx="2057400" cy="932688"/>
          </a:xfrm>
          <a:prstGeom prst="rect">
            <a:avLst/>
          </a:prstGeom>
          <a:solidFill>
            <a:srgbClr val="F8FAFC"/>
          </a:solidFill>
          <a:ln w="10160">
            <a:solidFill>
              <a:srgbClr val="D0D5DD"/>
            </a:solidFill>
            <a:prstDash val="solid"/>
          </a:ln>
        </p:spPr>
      </p:sp>
      <p:sp>
        <p:nvSpPr>
          <p:cNvPr id="18" name="Text 15"/>
          <p:cNvSpPr/>
          <p:nvPr/>
        </p:nvSpPr>
        <p:spPr>
          <a:xfrm>
            <a:off x="8942832" y="2880360"/>
            <a:ext cx="1819656" cy="310896"/>
          </a:xfrm>
          <a:prstGeom prst="rect">
            <a:avLst/>
          </a:prstGeom>
          <a:noFill/>
          <a:ln/>
        </p:spPr>
        <p:txBody>
          <a:bodyPr wrap="square" lIns="381" tIns="381" rIns="381" bIns="381" rtlCol="0" anchor="t">
            <a:normAutofit lnSpcReduction="10000"/>
          </a:bodyPr>
          <a:lstStyle/>
          <a:p>
            <a:pPr marL="0" indent="0" algn="ctr">
              <a:buNone/>
            </a:pPr>
            <a:r>
              <a:rPr lang="en-US" sz="2200" b="1" dirty="0">
                <a:solidFill>
                  <a:srgbClr val="E46A11"/>
                </a:solidFill>
                <a:latin typeface="Arial" pitchFamily="34" charset="0"/>
                <a:ea typeface="Arial" pitchFamily="34" charset="-122"/>
                <a:cs typeface="Arial" pitchFamily="34" charset="-120"/>
              </a:rPr>
              <a:t>-13.67%</a:t>
            </a:r>
            <a:endParaRPr lang="en-US" sz="2200" dirty="0"/>
          </a:p>
        </p:txBody>
      </p:sp>
      <p:sp>
        <p:nvSpPr>
          <p:cNvPr id="19" name="Text 16"/>
          <p:cNvSpPr/>
          <p:nvPr/>
        </p:nvSpPr>
        <p:spPr>
          <a:xfrm>
            <a:off x="8942832" y="3273552"/>
            <a:ext cx="1819656" cy="164592"/>
          </a:xfrm>
          <a:prstGeom prst="rect">
            <a:avLst/>
          </a:prstGeom>
          <a:noFill/>
          <a:ln/>
        </p:spPr>
        <p:txBody>
          <a:bodyPr wrap="square" lIns="381" tIns="381" rIns="381" bIns="381" rtlCol="0" anchor="t">
            <a:normAutofit/>
          </a:bodyPr>
          <a:lstStyle/>
          <a:p>
            <a:pPr marL="0" indent="0" algn="ctr">
              <a:buNone/>
            </a:pPr>
            <a:r>
              <a:rPr lang="en-US" sz="980" b="1" dirty="0">
                <a:solidFill>
                  <a:srgbClr val="101828"/>
                </a:solidFill>
                <a:latin typeface="Arial" pitchFamily="34" charset="0"/>
                <a:ea typeface="Arial" pitchFamily="34" charset="-122"/>
                <a:cs typeface="Arial" pitchFamily="34" charset="-120"/>
              </a:rPr>
              <a:t>MDD</a:t>
            </a:r>
            <a:endParaRPr lang="en-US" sz="980" dirty="0"/>
          </a:p>
        </p:txBody>
      </p:sp>
      <p:sp>
        <p:nvSpPr>
          <p:cNvPr id="20" name="Shape 17"/>
          <p:cNvSpPr/>
          <p:nvPr/>
        </p:nvSpPr>
        <p:spPr>
          <a:xfrm>
            <a:off x="6446520" y="4041648"/>
            <a:ext cx="2057400" cy="932688"/>
          </a:xfrm>
          <a:prstGeom prst="rect">
            <a:avLst/>
          </a:prstGeom>
          <a:solidFill>
            <a:srgbClr val="F8FAFC"/>
          </a:solidFill>
          <a:ln w="10160">
            <a:solidFill>
              <a:srgbClr val="D0D5DD"/>
            </a:solidFill>
            <a:prstDash val="solid"/>
          </a:ln>
        </p:spPr>
      </p:sp>
      <p:sp>
        <p:nvSpPr>
          <p:cNvPr id="21" name="Text 18"/>
          <p:cNvSpPr/>
          <p:nvPr/>
        </p:nvSpPr>
        <p:spPr>
          <a:xfrm>
            <a:off x="6565392" y="4160520"/>
            <a:ext cx="1819656" cy="310896"/>
          </a:xfrm>
          <a:prstGeom prst="rect">
            <a:avLst/>
          </a:prstGeom>
          <a:noFill/>
          <a:ln/>
        </p:spPr>
        <p:txBody>
          <a:bodyPr wrap="square" lIns="381" tIns="381" rIns="381" bIns="381" rtlCol="0" anchor="t">
            <a:normAutofit lnSpcReduction="10000"/>
          </a:bodyPr>
          <a:lstStyle/>
          <a:p>
            <a:pPr marL="0" indent="0" algn="ctr">
              <a:buNone/>
            </a:pPr>
            <a:r>
              <a:rPr lang="en-US" sz="2200" b="1" dirty="0">
                <a:solidFill>
                  <a:srgbClr val="175CD3"/>
                </a:solidFill>
                <a:latin typeface="Arial" pitchFamily="34" charset="0"/>
                <a:ea typeface="Arial" pitchFamily="34" charset="-122"/>
                <a:cs typeface="Arial" pitchFamily="34" charset="-120"/>
              </a:rPr>
              <a:t>1.171</a:t>
            </a:r>
            <a:endParaRPr lang="en-US" sz="2200" dirty="0"/>
          </a:p>
        </p:txBody>
      </p:sp>
      <p:sp>
        <p:nvSpPr>
          <p:cNvPr id="22" name="Text 19"/>
          <p:cNvSpPr/>
          <p:nvPr/>
        </p:nvSpPr>
        <p:spPr>
          <a:xfrm>
            <a:off x="6565392" y="4553712"/>
            <a:ext cx="1819656" cy="164592"/>
          </a:xfrm>
          <a:prstGeom prst="rect">
            <a:avLst/>
          </a:prstGeom>
          <a:noFill/>
          <a:ln/>
        </p:spPr>
        <p:txBody>
          <a:bodyPr wrap="square" lIns="381" tIns="381" rIns="381" bIns="381" rtlCol="0" anchor="t">
            <a:normAutofit/>
          </a:bodyPr>
          <a:lstStyle/>
          <a:p>
            <a:pPr marL="0" indent="0" algn="ctr">
              <a:buNone/>
            </a:pPr>
            <a:r>
              <a:rPr lang="en-US" sz="980" b="1" dirty="0">
                <a:solidFill>
                  <a:srgbClr val="101828"/>
                </a:solidFill>
                <a:latin typeface="Arial" pitchFamily="34" charset="0"/>
                <a:ea typeface="Arial" pitchFamily="34" charset="-122"/>
                <a:cs typeface="Arial" pitchFamily="34" charset="-120"/>
              </a:rPr>
              <a:t>EqualWeight</a:t>
            </a:r>
            <a:endParaRPr lang="en-US" sz="980" dirty="0"/>
          </a:p>
        </p:txBody>
      </p:sp>
      <p:sp>
        <p:nvSpPr>
          <p:cNvPr id="23" name="Text 20"/>
          <p:cNvSpPr/>
          <p:nvPr/>
        </p:nvSpPr>
        <p:spPr>
          <a:xfrm>
            <a:off x="6565392" y="4745736"/>
            <a:ext cx="1819656" cy="128016"/>
          </a:xfrm>
          <a:prstGeom prst="rect">
            <a:avLst/>
          </a:prstGeom>
          <a:noFill/>
          <a:ln/>
        </p:spPr>
        <p:txBody>
          <a:bodyPr wrap="square" lIns="381" tIns="381" rIns="381" bIns="381" rtlCol="0" anchor="t">
            <a:normAutofit/>
          </a:bodyPr>
          <a:lstStyle/>
          <a:p>
            <a:pPr marL="0" indent="0" algn="ctr">
              <a:buNone/>
            </a:pPr>
            <a:r>
              <a:rPr lang="en-US" sz="760" dirty="0">
                <a:solidFill>
                  <a:srgbClr val="667085"/>
                </a:solidFill>
                <a:latin typeface="Arial" pitchFamily="34" charset="0"/>
                <a:ea typeface="Arial" pitchFamily="34" charset="-122"/>
                <a:cs typeface="Arial" pitchFamily="34" charset="-120"/>
              </a:rPr>
              <a:t>Sharpe</a:t>
            </a:r>
            <a:endParaRPr lang="en-US" sz="760" dirty="0"/>
          </a:p>
        </p:txBody>
      </p:sp>
      <p:sp>
        <p:nvSpPr>
          <p:cNvPr id="24" name="Shape 21"/>
          <p:cNvSpPr/>
          <p:nvPr/>
        </p:nvSpPr>
        <p:spPr>
          <a:xfrm>
            <a:off x="8823960" y="4041648"/>
            <a:ext cx="2057400" cy="932688"/>
          </a:xfrm>
          <a:prstGeom prst="rect">
            <a:avLst/>
          </a:prstGeom>
          <a:solidFill>
            <a:srgbClr val="F8FAFC"/>
          </a:solidFill>
          <a:ln w="10160">
            <a:solidFill>
              <a:srgbClr val="D0D5DD"/>
            </a:solidFill>
            <a:prstDash val="solid"/>
          </a:ln>
        </p:spPr>
      </p:sp>
      <p:sp>
        <p:nvSpPr>
          <p:cNvPr id="25" name="Text 22"/>
          <p:cNvSpPr/>
          <p:nvPr/>
        </p:nvSpPr>
        <p:spPr>
          <a:xfrm>
            <a:off x="8942832" y="4160520"/>
            <a:ext cx="1819656" cy="310896"/>
          </a:xfrm>
          <a:prstGeom prst="rect">
            <a:avLst/>
          </a:prstGeom>
          <a:noFill/>
          <a:ln/>
        </p:spPr>
        <p:txBody>
          <a:bodyPr wrap="square" lIns="381" tIns="381" rIns="381" bIns="381" rtlCol="0" anchor="t">
            <a:normAutofit lnSpcReduction="10000"/>
          </a:bodyPr>
          <a:lstStyle/>
          <a:p>
            <a:pPr marL="0" indent="0" algn="ctr">
              <a:buNone/>
            </a:pPr>
            <a:r>
              <a:rPr lang="en-US" sz="2200" b="1" dirty="0">
                <a:solidFill>
                  <a:srgbClr val="0E9384"/>
                </a:solidFill>
                <a:latin typeface="Arial" pitchFamily="34" charset="0"/>
                <a:ea typeface="Arial" pitchFamily="34" charset="-122"/>
                <a:cs typeface="Arial" pitchFamily="34" charset="-120"/>
              </a:rPr>
              <a:t>0.663</a:t>
            </a:r>
            <a:endParaRPr lang="en-US" sz="2200" dirty="0"/>
          </a:p>
        </p:txBody>
      </p:sp>
      <p:sp>
        <p:nvSpPr>
          <p:cNvPr id="26" name="Text 23"/>
          <p:cNvSpPr/>
          <p:nvPr/>
        </p:nvSpPr>
        <p:spPr>
          <a:xfrm>
            <a:off x="8942832" y="4553712"/>
            <a:ext cx="1819656" cy="164592"/>
          </a:xfrm>
          <a:prstGeom prst="rect">
            <a:avLst/>
          </a:prstGeom>
          <a:noFill/>
          <a:ln/>
        </p:spPr>
        <p:txBody>
          <a:bodyPr wrap="square" lIns="381" tIns="381" rIns="381" bIns="381" rtlCol="0" anchor="t">
            <a:normAutofit/>
          </a:bodyPr>
          <a:lstStyle/>
          <a:p>
            <a:pPr marL="0" indent="0" algn="ctr">
              <a:buNone/>
            </a:pPr>
            <a:r>
              <a:rPr lang="en-US" sz="980" b="1" dirty="0">
                <a:solidFill>
                  <a:srgbClr val="101828"/>
                </a:solidFill>
                <a:latin typeface="Arial" pitchFamily="34" charset="0"/>
                <a:ea typeface="Arial" pitchFamily="34" charset="-122"/>
                <a:cs typeface="Arial" pitchFamily="34" charset="-120"/>
              </a:rPr>
              <a:t>Proposed A</a:t>
            </a:r>
            <a:endParaRPr lang="en-US" sz="980" dirty="0"/>
          </a:p>
        </p:txBody>
      </p:sp>
      <p:sp>
        <p:nvSpPr>
          <p:cNvPr id="27" name="Text 24"/>
          <p:cNvSpPr/>
          <p:nvPr/>
        </p:nvSpPr>
        <p:spPr>
          <a:xfrm>
            <a:off x="8942832" y="4745736"/>
            <a:ext cx="1819656" cy="128016"/>
          </a:xfrm>
          <a:prstGeom prst="rect">
            <a:avLst/>
          </a:prstGeom>
          <a:noFill/>
          <a:ln/>
        </p:spPr>
        <p:txBody>
          <a:bodyPr wrap="square" lIns="381" tIns="381" rIns="381" bIns="381" rtlCol="0" anchor="t">
            <a:normAutofit/>
          </a:bodyPr>
          <a:lstStyle/>
          <a:p>
            <a:pPr marL="0" indent="0" algn="ctr">
              <a:buNone/>
            </a:pPr>
            <a:r>
              <a:rPr lang="en-US" sz="760" dirty="0">
                <a:solidFill>
                  <a:srgbClr val="667085"/>
                </a:solidFill>
                <a:latin typeface="Arial" pitchFamily="34" charset="0"/>
                <a:ea typeface="Arial" pitchFamily="34" charset="-122"/>
                <a:cs typeface="Arial" pitchFamily="34" charset="-120"/>
              </a:rPr>
              <a:t>Sharpe</a:t>
            </a:r>
            <a:endParaRPr lang="en-US" sz="760" dirty="0"/>
          </a:p>
        </p:txBody>
      </p:sp>
      <p:sp>
        <p:nvSpPr>
          <p:cNvPr id="28" name="Text 25"/>
          <p:cNvSpPr/>
          <p:nvPr/>
        </p:nvSpPr>
        <p:spPr>
          <a:xfrm>
            <a:off x="6446520" y="5321808"/>
            <a:ext cx="4434840" cy="329184"/>
          </a:xfrm>
          <a:prstGeom prst="rect">
            <a:avLst/>
          </a:prstGeom>
          <a:noFill/>
          <a:ln/>
        </p:spPr>
        <p:txBody>
          <a:bodyPr wrap="square" lIns="381" tIns="381" rIns="381" bIns="381" rtlCol="0" anchor="t">
            <a:normAutofit fontScale="92500" lnSpcReduction="20000"/>
          </a:bodyPr>
          <a:lstStyle/>
          <a:p>
            <a:pPr marL="0" indent="0" algn="ctr">
              <a:buNone/>
            </a:pPr>
            <a:r>
              <a:rPr lang="en-US" sz="1350" b="1" dirty="0">
                <a:solidFill>
                  <a:srgbClr val="157347"/>
                </a:solidFill>
                <a:latin typeface="Arial" pitchFamily="34" charset="0"/>
                <a:ea typeface="Arial" pitchFamily="34" charset="-122"/>
                <a:cs typeface="Arial" pitchFamily="34" charset="-120"/>
              </a:rPr>
              <a:t>Kết luận: APT_3Factor dẫn đầu; PA-Transformer có giá trị qua thiết kế và ablation study.</a:t>
            </a:r>
            <a:endParaRPr lang="en-US" sz="1350" dirty="0"/>
          </a:p>
        </p:txBody>
      </p:sp>
      <p:sp>
        <p:nvSpPr>
          <p:cNvPr id="29" name="Text 26"/>
          <p:cNvSpPr/>
          <p:nvPr/>
        </p:nvSpPr>
        <p:spPr>
          <a:xfrm>
            <a:off x="502920" y="6236208"/>
            <a:ext cx="10881360" cy="146304"/>
          </a:xfrm>
          <a:prstGeom prst="rect">
            <a:avLst/>
          </a:prstGeom>
          <a:noFill/>
          <a:ln/>
        </p:spPr>
        <p:txBody>
          <a:bodyPr wrap="square" lIns="381" tIns="381" rIns="381" bIns="381" rtlCol="0" anchor="t">
            <a:normAutofit/>
          </a:bodyPr>
          <a:lstStyle/>
          <a:p>
            <a:pPr marL="0" indent="0">
              <a:buNone/>
            </a:pPr>
            <a:r>
              <a:rPr lang="en-US" sz="730" dirty="0">
                <a:solidFill>
                  <a:srgbClr val="667085"/>
                </a:solidFill>
                <a:latin typeface="Arial" pitchFamily="34" charset="0"/>
                <a:ea typeface="Arial" pitchFamily="34" charset="-122"/>
                <a:cs typeface="Arial" pitchFamily="34" charset="-120"/>
              </a:rPr>
              <a:t>Nguồn: ai-portfolio-research/results/metrics_summary.csv; report/figures/sharpe_comparison.png</a:t>
            </a:r>
            <a:endParaRPr lang="en-US" sz="730" dirty="0"/>
          </a:p>
        </p:txBody>
      </p:sp>
      <p:sp>
        <p:nvSpPr>
          <p:cNvPr id="30" name="Slide Number Placeholder 0"/>
          <p:cNvSpPr>
            <a:spLocks noGrp="1"/>
          </p:cNvSpPr>
          <p:nvPr>
            <p:ph type="sldNum" sz="quarter" idx="4294967295"/>
          </p:nvPr>
        </p:nvSpPr>
        <p:spPr>
          <a:xfrm>
            <a:off x="11475720" y="6492240"/>
            <a:ext cx="800000" cy="300000"/>
          </a:xfrm>
          <a:prstGeom prst="rect">
            <a:avLst/>
          </a:prstGeom>
          <a:extLst>
            <a:ext uri="{C572A759-6A51-4108-AA02-DFA0A04FC94B}">
              <ma14:wrappingTextBoxFlag xmlns:ma14="http://schemas.microsoft.com/office/mac/drawingml/2011/main" xmlns="" val="0"/>
            </a:ext>
          </a:extLst>
        </p:spPr>
        <p:txBody>
          <a:bodyPr/>
          <a:lstStyle>
            <a:lvl1pPr>
              <a:defRPr sz="730">
                <a:solidFill>
                  <a:srgbClr val="667085"/>
                </a:solidFill>
                <a:latin typeface="Arial"/>
                <a:ea typeface="Arial"/>
                <a:cs typeface="Arial"/>
              </a:defRPr>
            </a:lvl1pPr>
          </a:lstStyle>
          <a:p>
            <a:pPr algn="l"/>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74320"/>
            <a:ext cx="7132320" cy="201168"/>
          </a:xfrm>
          <a:prstGeom prst="rect">
            <a:avLst/>
          </a:prstGeom>
          <a:noFill/>
          <a:ln/>
        </p:spPr>
        <p:txBody>
          <a:bodyPr wrap="square" lIns="0" tIns="0" rIns="0" bIns="0" rtlCol="0" anchor="ctr"/>
          <a:lstStyle/>
          <a:p>
            <a:pPr marL="0" indent="0">
              <a:buNone/>
            </a:pPr>
            <a:r>
              <a:rPr lang="en-US" sz="820" b="1" dirty="0">
                <a:solidFill>
                  <a:srgbClr val="667085"/>
                </a:solidFill>
                <a:latin typeface="Arial" pitchFamily="34" charset="0"/>
                <a:ea typeface="Arial" pitchFamily="34" charset="-122"/>
                <a:cs typeface="Arial" pitchFamily="34" charset="-120"/>
              </a:rPr>
              <a:t>PORTFOLIO OPTIMIZATION OUTPUT</a:t>
            </a:r>
            <a:endParaRPr lang="en-US" sz="820" dirty="0"/>
          </a:p>
        </p:txBody>
      </p:sp>
      <p:sp>
        <p:nvSpPr>
          <p:cNvPr id="3" name="Text 1"/>
          <p:cNvSpPr/>
          <p:nvPr/>
        </p:nvSpPr>
        <p:spPr>
          <a:xfrm>
            <a:off x="502920" y="512064"/>
            <a:ext cx="11155680" cy="566928"/>
          </a:xfrm>
          <a:prstGeom prst="rect">
            <a:avLst/>
          </a:prstGeom>
          <a:noFill/>
          <a:ln/>
        </p:spPr>
        <p:txBody>
          <a:bodyPr wrap="square" lIns="0" tIns="0" rIns="0" bIns="0" rtlCol="0" anchor="ctr">
            <a:normAutofit/>
          </a:bodyPr>
          <a:lstStyle/>
          <a:p>
            <a:pPr marL="0" indent="0">
              <a:buNone/>
            </a:pPr>
            <a:r>
              <a:rPr lang="en-US" sz="2700" b="1" dirty="0">
                <a:solidFill>
                  <a:srgbClr val="101828"/>
                </a:solidFill>
                <a:latin typeface="Arial" pitchFamily="34" charset="0"/>
                <a:ea typeface="Arial" pitchFamily="34" charset="-122"/>
                <a:cs typeface="Arial" pitchFamily="34" charset="-120"/>
              </a:rPr>
              <a:t>Efficient Frontier</a:t>
            </a:r>
            <a:endParaRPr lang="en-US" sz="2700" dirty="0"/>
          </a:p>
        </p:txBody>
      </p:sp>
      <p:sp>
        <p:nvSpPr>
          <p:cNvPr id="4" name="Shape 2"/>
          <p:cNvSpPr/>
          <p:nvPr/>
        </p:nvSpPr>
        <p:spPr>
          <a:xfrm>
            <a:off x="502920" y="1152144"/>
            <a:ext cx="11155680" cy="0"/>
          </a:xfrm>
          <a:prstGeom prst="line">
            <a:avLst/>
          </a:prstGeom>
          <a:noFill/>
          <a:ln w="10160">
            <a:solidFill>
              <a:srgbClr val="D0D5DD"/>
            </a:solidFill>
            <a:prstDash val="solid"/>
          </a:ln>
        </p:spPr>
      </p:sp>
      <p:pic>
        <p:nvPicPr>
          <p:cNvPr id="5" name="Image 0" descr="D:\CRM\crystal-ball-insights\ai-portfolio-research\report\figures\efficient_frontier.png"/>
          <p:cNvPicPr>
            <a:picLocks noChangeAspect="1"/>
          </p:cNvPicPr>
          <p:nvPr/>
        </p:nvPicPr>
        <p:blipFill>
          <a:blip r:embed="rId3"/>
          <a:srcRect/>
          <a:stretch/>
        </p:blipFill>
        <p:spPr>
          <a:xfrm>
            <a:off x="658368" y="1353312"/>
            <a:ext cx="5806440" cy="4251960"/>
          </a:xfrm>
          <a:prstGeom prst="rect">
            <a:avLst/>
          </a:prstGeom>
        </p:spPr>
      </p:pic>
      <p:sp>
        <p:nvSpPr>
          <p:cNvPr id="6" name="Text 3"/>
          <p:cNvSpPr/>
          <p:nvPr/>
        </p:nvSpPr>
        <p:spPr>
          <a:xfrm>
            <a:off x="6812280" y="1554480"/>
            <a:ext cx="4389120" cy="3108960"/>
          </a:xfrm>
          <a:prstGeom prst="rect">
            <a:avLst/>
          </a:prstGeom>
          <a:noFill/>
          <a:ln/>
        </p:spPr>
        <p:txBody>
          <a:bodyPr wrap="square" lIns="635" tIns="635" rIns="635" bIns="635" rtlCol="0" anchor="t">
            <a:normAutofit/>
          </a:bodyPr>
          <a:lstStyle/>
          <a:p>
            <a:r>
              <a:rPr lang="en-US" sz="1520" dirty="0">
                <a:solidFill>
                  <a:srgbClr val="101828"/>
                </a:solidFill>
                <a:latin typeface="Arial" pitchFamily="34" charset="0"/>
                <a:ea typeface="Arial" pitchFamily="34" charset="-122"/>
                <a:cs typeface="Arial" pitchFamily="34" charset="-120"/>
              </a:rPr>
              <a:t>Mỗi điểm là một danh mục ngẫu nhiên trong không gian rủi ro-lợi suất.</a:t>
            </a:r>
            <a:endParaRPr lang="en-US" sz="1520" dirty="0"/>
          </a:p>
          <a:p>
            <a:r>
              <a:rPr lang="en-US" sz="1520" dirty="0">
                <a:solidFill>
                  <a:srgbClr val="101828"/>
                </a:solidFill>
                <a:latin typeface="Arial" pitchFamily="34" charset="0"/>
                <a:ea typeface="Arial" pitchFamily="34" charset="-122"/>
                <a:cs typeface="Arial" pitchFamily="34" charset="-120"/>
              </a:rPr>
              <a:t>Ngôi sao đỏ thể hiện danh mục Max-Sharpe theo ước lượng hiện tại.</a:t>
            </a:r>
            <a:endParaRPr lang="en-US" sz="1520" dirty="0"/>
          </a:p>
          <a:p>
            <a:r>
              <a:rPr lang="en-US" sz="1520" dirty="0">
                <a:solidFill>
                  <a:srgbClr val="101828"/>
                </a:solidFill>
                <a:latin typeface="Arial" pitchFamily="34" charset="0"/>
                <a:ea typeface="Arial" pitchFamily="34" charset="-122"/>
                <a:cs typeface="Arial" pitchFamily="34" charset="-120"/>
              </a:rPr>
              <a:t>Covariance dùng Ledoit-Wolf shrinkage để giảm nhiễu.</a:t>
            </a:r>
            <a:endParaRPr lang="en-US" sz="1520" dirty="0"/>
          </a:p>
          <a:p>
            <a:r>
              <a:rPr lang="en-US" sz="1520" dirty="0">
                <a:solidFill>
                  <a:srgbClr val="101828"/>
                </a:solidFill>
                <a:latin typeface="Arial" pitchFamily="34" charset="0"/>
                <a:ea typeface="Arial" pitchFamily="34" charset="-122"/>
                <a:cs typeface="Arial" pitchFamily="34" charset="-120"/>
              </a:rPr>
              <a:t>Kết nối trực tiếp giữa dự báo AI và quyết định phân bổ vốn.</a:t>
            </a:r>
            <a:endParaRPr lang="en-US" sz="1520" dirty="0"/>
          </a:p>
        </p:txBody>
      </p:sp>
      <p:sp>
        <p:nvSpPr>
          <p:cNvPr id="7" name="Shape 4"/>
          <p:cNvSpPr/>
          <p:nvPr/>
        </p:nvSpPr>
        <p:spPr>
          <a:xfrm>
            <a:off x="6812280" y="4892040"/>
            <a:ext cx="4297680" cy="713232"/>
          </a:xfrm>
          <a:prstGeom prst="rect">
            <a:avLst/>
          </a:prstGeom>
          <a:solidFill>
            <a:srgbClr val="F0FDF4"/>
          </a:solidFill>
          <a:ln w="12700">
            <a:solidFill>
              <a:srgbClr val="157347"/>
            </a:solidFill>
            <a:prstDash val="solid"/>
          </a:ln>
        </p:spPr>
      </p:sp>
      <p:sp>
        <p:nvSpPr>
          <p:cNvPr id="8" name="Text 5"/>
          <p:cNvSpPr/>
          <p:nvPr/>
        </p:nvSpPr>
        <p:spPr>
          <a:xfrm>
            <a:off x="6958584" y="5010912"/>
            <a:ext cx="4005072" cy="219456"/>
          </a:xfrm>
          <a:prstGeom prst="rect">
            <a:avLst/>
          </a:prstGeom>
          <a:noFill/>
          <a:ln/>
        </p:spPr>
        <p:txBody>
          <a:bodyPr wrap="square" lIns="381" tIns="381" rIns="381" bIns="381" rtlCol="0" anchor="t">
            <a:normAutofit/>
          </a:bodyPr>
          <a:lstStyle/>
          <a:p>
            <a:pPr marL="0" indent="0">
              <a:buNone/>
            </a:pPr>
            <a:r>
              <a:rPr lang="en-US" sz="1320" b="1" dirty="0">
                <a:solidFill>
                  <a:srgbClr val="157347"/>
                </a:solidFill>
                <a:latin typeface="Arial" pitchFamily="34" charset="0"/>
                <a:ea typeface="Arial" pitchFamily="34" charset="-122"/>
                <a:cs typeface="Arial" pitchFamily="34" charset="-120"/>
              </a:rPr>
              <a:t>Ý nghĩa</a:t>
            </a:r>
            <a:endParaRPr lang="en-US" sz="1320" dirty="0"/>
          </a:p>
        </p:txBody>
      </p:sp>
      <p:sp>
        <p:nvSpPr>
          <p:cNvPr id="9" name="Text 6"/>
          <p:cNvSpPr/>
          <p:nvPr/>
        </p:nvSpPr>
        <p:spPr>
          <a:xfrm>
            <a:off x="6958584" y="5321808"/>
            <a:ext cx="4005072" cy="192024"/>
          </a:xfrm>
          <a:prstGeom prst="rect">
            <a:avLst/>
          </a:prstGeom>
          <a:noFill/>
          <a:ln/>
        </p:spPr>
        <p:txBody>
          <a:bodyPr wrap="square" lIns="381" tIns="381" rIns="381" bIns="381" rtlCol="0" anchor="t">
            <a:normAutofit fontScale="92500"/>
          </a:bodyPr>
          <a:lstStyle/>
          <a:p>
            <a:pPr marL="0" indent="0">
              <a:buNone/>
            </a:pPr>
            <a:r>
              <a:rPr lang="en-US" sz="1180" dirty="0">
                <a:solidFill>
                  <a:srgbClr val="101828"/>
                </a:solidFill>
                <a:latin typeface="Arial" pitchFamily="34" charset="0"/>
                <a:ea typeface="Arial" pitchFamily="34" charset="-122"/>
                <a:cs typeface="Arial" pitchFamily="34" charset="-120"/>
              </a:rPr>
              <a:t>Dự án có tối ưu danh mục thực sự, không chỉ mô hình dự báo.</a:t>
            </a:r>
            <a:endParaRPr lang="en-US" sz="1180" dirty="0"/>
          </a:p>
        </p:txBody>
      </p:sp>
      <p:sp>
        <p:nvSpPr>
          <p:cNvPr id="10" name="Text 7"/>
          <p:cNvSpPr/>
          <p:nvPr/>
        </p:nvSpPr>
        <p:spPr>
          <a:xfrm>
            <a:off x="502920" y="6236208"/>
            <a:ext cx="10881360" cy="146304"/>
          </a:xfrm>
          <a:prstGeom prst="rect">
            <a:avLst/>
          </a:prstGeom>
          <a:noFill/>
          <a:ln/>
        </p:spPr>
        <p:txBody>
          <a:bodyPr wrap="square" lIns="381" tIns="381" rIns="381" bIns="381" rtlCol="0" anchor="t">
            <a:normAutofit/>
          </a:bodyPr>
          <a:lstStyle/>
          <a:p>
            <a:pPr marL="0" indent="0">
              <a:buNone/>
            </a:pPr>
            <a:r>
              <a:rPr lang="en-US" sz="730" dirty="0">
                <a:solidFill>
                  <a:srgbClr val="667085"/>
                </a:solidFill>
                <a:latin typeface="Arial" pitchFamily="34" charset="0"/>
                <a:ea typeface="Arial" pitchFamily="34" charset="-122"/>
                <a:cs typeface="Arial" pitchFamily="34" charset="-120"/>
              </a:rPr>
              <a:t>Nguồn: ai-portfolio-research/report/figures/efficient_frontier.png</a:t>
            </a:r>
            <a:endParaRPr lang="en-US" sz="730" dirty="0"/>
          </a:p>
        </p:txBody>
      </p:sp>
      <p:sp>
        <p:nvSpPr>
          <p:cNvPr id="25" name="Slide Number Placeholder 0"/>
          <p:cNvSpPr>
            <a:spLocks noGrp="1"/>
          </p:cNvSpPr>
          <p:nvPr>
            <p:ph type="sldNum" sz="quarter" idx="4294967295"/>
          </p:nvPr>
        </p:nvSpPr>
        <p:spPr>
          <a:xfrm>
            <a:off x="11475720" y="6492240"/>
            <a:ext cx="800000" cy="300000"/>
          </a:xfrm>
          <a:prstGeom prst="rect">
            <a:avLst/>
          </a:prstGeom>
          <a:extLst>
            <a:ext uri="{C572A759-6A51-4108-AA02-DFA0A04FC94B}">
              <ma14:wrappingTextBoxFlag xmlns:ma14="http://schemas.microsoft.com/office/mac/drawingml/2011/main" xmlns="" val="0"/>
            </a:ext>
          </a:extLst>
        </p:spPr>
        <p:txBody>
          <a:bodyPr/>
          <a:lstStyle>
            <a:lvl1pPr>
              <a:defRPr sz="730">
                <a:solidFill>
                  <a:srgbClr val="667085"/>
                </a:solidFill>
                <a:latin typeface="Arial"/>
                <a:ea typeface="Arial"/>
                <a:cs typeface="Arial"/>
              </a:defRPr>
            </a:lvl1pPr>
          </a:lstStyle>
          <a:p>
            <a:pPr algn="l"/>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74320"/>
            <a:ext cx="7132320" cy="201168"/>
          </a:xfrm>
          <a:prstGeom prst="rect">
            <a:avLst/>
          </a:prstGeom>
          <a:noFill/>
          <a:ln/>
        </p:spPr>
        <p:txBody>
          <a:bodyPr wrap="square" lIns="0" tIns="0" rIns="0" bIns="0" rtlCol="0" anchor="ctr"/>
          <a:lstStyle/>
          <a:p>
            <a:pPr marL="0" indent="0">
              <a:buNone/>
            </a:pPr>
            <a:r>
              <a:rPr lang="en-US" sz="820" b="1" dirty="0">
                <a:solidFill>
                  <a:srgbClr val="667085"/>
                </a:solidFill>
                <a:latin typeface="Arial" pitchFamily="34" charset="0"/>
                <a:ea typeface="Arial" pitchFamily="34" charset="-122"/>
                <a:cs typeface="Arial" pitchFamily="34" charset="-120"/>
              </a:rPr>
              <a:t>REPRODUCIBILITY</a:t>
            </a:r>
            <a:endParaRPr lang="en-US" sz="820" dirty="0"/>
          </a:p>
        </p:txBody>
      </p:sp>
      <p:sp>
        <p:nvSpPr>
          <p:cNvPr id="3" name="Text 1"/>
          <p:cNvSpPr/>
          <p:nvPr/>
        </p:nvSpPr>
        <p:spPr>
          <a:xfrm>
            <a:off x="502920" y="512064"/>
            <a:ext cx="11155680" cy="566928"/>
          </a:xfrm>
          <a:prstGeom prst="rect">
            <a:avLst/>
          </a:prstGeom>
          <a:noFill/>
          <a:ln/>
        </p:spPr>
        <p:txBody>
          <a:bodyPr wrap="square" lIns="0" tIns="0" rIns="0" bIns="0" rtlCol="0" anchor="ctr">
            <a:normAutofit/>
          </a:bodyPr>
          <a:lstStyle/>
          <a:p>
            <a:pPr marL="0" indent="0">
              <a:buNone/>
            </a:pPr>
            <a:r>
              <a:rPr lang="en-US" sz="2700" b="1" dirty="0">
                <a:solidFill>
                  <a:srgbClr val="101828"/>
                </a:solidFill>
                <a:latin typeface="Arial" pitchFamily="34" charset="0"/>
                <a:ea typeface="Arial" pitchFamily="34" charset="-122"/>
                <a:cs typeface="Arial" pitchFamily="34" charset="-120"/>
              </a:rPr>
              <a:t>Demo Streamlit và khả năng tái lập</a:t>
            </a:r>
            <a:endParaRPr lang="en-US" sz="2700" dirty="0"/>
          </a:p>
        </p:txBody>
      </p:sp>
      <p:sp>
        <p:nvSpPr>
          <p:cNvPr id="4" name="Shape 2"/>
          <p:cNvSpPr/>
          <p:nvPr/>
        </p:nvSpPr>
        <p:spPr>
          <a:xfrm>
            <a:off x="502920" y="1152144"/>
            <a:ext cx="11155680" cy="0"/>
          </a:xfrm>
          <a:prstGeom prst="line">
            <a:avLst/>
          </a:prstGeom>
          <a:noFill/>
          <a:ln w="10160">
            <a:solidFill>
              <a:srgbClr val="D0D5DD"/>
            </a:solidFill>
            <a:prstDash val="solid"/>
          </a:ln>
        </p:spPr>
      </p:sp>
      <p:sp>
        <p:nvSpPr>
          <p:cNvPr id="5" name="Shape 3"/>
          <p:cNvSpPr/>
          <p:nvPr/>
        </p:nvSpPr>
        <p:spPr>
          <a:xfrm>
            <a:off x="713232" y="1417320"/>
            <a:ext cx="5120640" cy="914400"/>
          </a:xfrm>
          <a:prstGeom prst="rect">
            <a:avLst/>
          </a:prstGeom>
          <a:solidFill>
            <a:srgbClr val="EEF6FF"/>
          </a:solidFill>
          <a:ln w="12700">
            <a:solidFill>
              <a:srgbClr val="175CD3"/>
            </a:solidFill>
            <a:prstDash val="solid"/>
          </a:ln>
        </p:spPr>
      </p:sp>
      <p:sp>
        <p:nvSpPr>
          <p:cNvPr id="6" name="Text 4"/>
          <p:cNvSpPr/>
          <p:nvPr/>
        </p:nvSpPr>
        <p:spPr>
          <a:xfrm>
            <a:off x="859536" y="1536192"/>
            <a:ext cx="4828032" cy="219456"/>
          </a:xfrm>
          <a:prstGeom prst="rect">
            <a:avLst/>
          </a:prstGeom>
          <a:noFill/>
          <a:ln/>
        </p:spPr>
        <p:txBody>
          <a:bodyPr wrap="square" lIns="381" tIns="381" rIns="381" bIns="381" rtlCol="0" anchor="t">
            <a:normAutofit/>
          </a:bodyPr>
          <a:lstStyle/>
          <a:p>
            <a:pPr marL="0" indent="0">
              <a:buNone/>
            </a:pPr>
            <a:r>
              <a:rPr lang="en-US" sz="1320" b="1" dirty="0">
                <a:solidFill>
                  <a:srgbClr val="175CD3"/>
                </a:solidFill>
                <a:latin typeface="Arial" pitchFamily="34" charset="0"/>
                <a:ea typeface="Arial" pitchFamily="34" charset="-122"/>
                <a:cs typeface="Arial" pitchFamily="34" charset="-120"/>
              </a:rPr>
              <a:t>Streamlit demo</a:t>
            </a:r>
            <a:endParaRPr lang="en-US" sz="1320" dirty="0"/>
          </a:p>
        </p:txBody>
      </p:sp>
      <p:sp>
        <p:nvSpPr>
          <p:cNvPr id="7" name="Text 5"/>
          <p:cNvSpPr/>
          <p:nvPr/>
        </p:nvSpPr>
        <p:spPr>
          <a:xfrm>
            <a:off x="859536" y="1847088"/>
            <a:ext cx="4828032" cy="393192"/>
          </a:xfrm>
          <a:prstGeom prst="rect">
            <a:avLst/>
          </a:prstGeom>
          <a:noFill/>
          <a:ln/>
        </p:spPr>
        <p:txBody>
          <a:bodyPr wrap="square" lIns="381" tIns="381" rIns="381" bIns="381" rtlCol="0" anchor="t">
            <a:normAutofit/>
          </a:bodyPr>
          <a:lstStyle/>
          <a:p>
            <a:pPr marL="0" indent="0">
              <a:buNone/>
            </a:pPr>
            <a:r>
              <a:rPr lang="en-US" sz="1180" dirty="0">
                <a:solidFill>
                  <a:srgbClr val="101828"/>
                </a:solidFill>
                <a:latin typeface="Arial" pitchFamily="34" charset="0"/>
                <a:ea typeface="Arial" pitchFamily="34" charset="-122"/>
                <a:cs typeface="Arial" pitchFamily="34" charset="-120"/>
              </a:rPr>
              <a:t>File: ai-portfolio-research/app_streamlit.py</a:t>
            </a:r>
            <a:endParaRPr lang="en-US" sz="1180" dirty="0"/>
          </a:p>
          <a:p>
            <a:pPr marL="0" indent="0">
              <a:buNone/>
            </a:pPr>
            <a:r>
              <a:rPr lang="en-US" sz="1180" dirty="0">
                <a:solidFill>
                  <a:srgbClr val="101828"/>
                </a:solidFill>
                <a:latin typeface="Arial" pitchFamily="34" charset="0"/>
                <a:ea typeface="Arial" pitchFamily="34" charset="-122"/>
                <a:cs typeface="Arial" pitchFamily="34" charset="-120"/>
              </a:rPr>
              <a:t>URL local: http://localhost:8501</a:t>
            </a:r>
            <a:endParaRPr lang="en-US" sz="1180" dirty="0"/>
          </a:p>
        </p:txBody>
      </p:sp>
      <p:sp>
        <p:nvSpPr>
          <p:cNvPr id="8" name="Shape 6"/>
          <p:cNvSpPr/>
          <p:nvPr/>
        </p:nvSpPr>
        <p:spPr>
          <a:xfrm>
            <a:off x="6492240" y="1417320"/>
            <a:ext cx="4800600" cy="1078992"/>
          </a:xfrm>
          <a:prstGeom prst="rect">
            <a:avLst/>
          </a:prstGeom>
          <a:solidFill>
            <a:srgbClr val="111827"/>
          </a:solidFill>
          <a:ln w="12700">
            <a:solidFill>
              <a:srgbClr val="111827"/>
            </a:solidFill>
            <a:prstDash val="solid"/>
          </a:ln>
        </p:spPr>
      </p:sp>
      <p:sp>
        <p:nvSpPr>
          <p:cNvPr id="9" name="Text 7"/>
          <p:cNvSpPr/>
          <p:nvPr/>
        </p:nvSpPr>
        <p:spPr>
          <a:xfrm>
            <a:off x="6693408" y="1600200"/>
            <a:ext cx="4389120" cy="640080"/>
          </a:xfrm>
          <a:prstGeom prst="rect">
            <a:avLst/>
          </a:prstGeom>
          <a:noFill/>
          <a:ln/>
        </p:spPr>
        <p:txBody>
          <a:bodyPr wrap="square" lIns="381" tIns="381" rIns="381" bIns="381" rtlCol="0" anchor="t">
            <a:normAutofit/>
          </a:bodyPr>
          <a:lstStyle/>
          <a:p>
            <a:pPr marL="0" indent="0">
              <a:buNone/>
            </a:pPr>
            <a:r>
              <a:rPr lang="en-US" sz="1330" dirty="0">
                <a:solidFill>
                  <a:srgbClr val="FFFFFF"/>
                </a:solidFill>
                <a:latin typeface="Consolas" pitchFamily="34" charset="0"/>
                <a:ea typeface="Consolas" pitchFamily="34" charset="-122"/>
                <a:cs typeface="Consolas" pitchFamily="34" charset="-120"/>
              </a:rPr>
              <a:t>cd ai-portfolio-research</a:t>
            </a:r>
            <a:endParaRPr lang="en-US" sz="1330" dirty="0"/>
          </a:p>
          <a:p>
            <a:pPr marL="0" indent="0">
              <a:buNone/>
            </a:pPr>
            <a:r>
              <a:rPr lang="en-US" sz="1330" dirty="0">
                <a:solidFill>
                  <a:srgbClr val="FFFFFF"/>
                </a:solidFill>
                <a:latin typeface="Consolas" pitchFamily="34" charset="0"/>
                <a:ea typeface="Consolas" pitchFamily="34" charset="-122"/>
                <a:cs typeface="Consolas" pitchFamily="34" charset="-120"/>
              </a:rPr>
              <a:t>python -m src.evaluate</a:t>
            </a:r>
            <a:endParaRPr lang="en-US" sz="1330" dirty="0"/>
          </a:p>
          <a:p>
            <a:pPr marL="0" indent="0">
              <a:buNone/>
            </a:pPr>
            <a:r>
              <a:rPr lang="en-US" sz="1330" dirty="0">
                <a:solidFill>
                  <a:srgbClr val="FFFFFF"/>
                </a:solidFill>
                <a:latin typeface="Consolas" pitchFamily="34" charset="0"/>
                <a:ea typeface="Consolas" pitchFamily="34" charset="-122"/>
                <a:cs typeface="Consolas" pitchFamily="34" charset="-120"/>
              </a:rPr>
              <a:t>streamlit run app_streamlit.py</a:t>
            </a:r>
            <a:endParaRPr lang="en-US" sz="1330" dirty="0"/>
          </a:p>
        </p:txBody>
      </p:sp>
      <p:sp>
        <p:nvSpPr>
          <p:cNvPr id="10" name="Shape 8"/>
          <p:cNvSpPr/>
          <p:nvPr/>
        </p:nvSpPr>
        <p:spPr>
          <a:xfrm>
            <a:off x="713232" y="2834640"/>
            <a:ext cx="3154680" cy="713232"/>
          </a:xfrm>
          <a:prstGeom prst="rect">
            <a:avLst/>
          </a:prstGeom>
          <a:solidFill>
            <a:srgbClr val="F8FAFC"/>
          </a:solidFill>
          <a:ln w="12700">
            <a:solidFill>
              <a:srgbClr val="175CD3"/>
            </a:solidFill>
            <a:prstDash val="solid"/>
          </a:ln>
        </p:spPr>
      </p:sp>
      <p:sp>
        <p:nvSpPr>
          <p:cNvPr id="11" name="Text 9"/>
          <p:cNvSpPr/>
          <p:nvPr/>
        </p:nvSpPr>
        <p:spPr>
          <a:xfrm>
            <a:off x="859536" y="2953512"/>
            <a:ext cx="2862072" cy="219456"/>
          </a:xfrm>
          <a:prstGeom prst="rect">
            <a:avLst/>
          </a:prstGeom>
          <a:noFill/>
          <a:ln/>
        </p:spPr>
        <p:txBody>
          <a:bodyPr wrap="square" lIns="381" tIns="381" rIns="381" bIns="381" rtlCol="0" anchor="t">
            <a:normAutofit/>
          </a:bodyPr>
          <a:lstStyle/>
          <a:p>
            <a:pPr marL="0" indent="0">
              <a:buNone/>
            </a:pPr>
            <a:r>
              <a:rPr lang="en-US" sz="1320" b="1" dirty="0">
                <a:solidFill>
                  <a:srgbClr val="175CD3"/>
                </a:solidFill>
                <a:latin typeface="Arial" pitchFamily="34" charset="0"/>
                <a:ea typeface="Arial" pitchFamily="34" charset="-122"/>
                <a:cs typeface="Arial" pitchFamily="34" charset="-120"/>
              </a:rPr>
              <a:t>Danh mục đề xuất</a:t>
            </a:r>
            <a:endParaRPr lang="en-US" sz="1320" dirty="0"/>
          </a:p>
        </p:txBody>
      </p:sp>
      <p:sp>
        <p:nvSpPr>
          <p:cNvPr id="12" name="Text 10"/>
          <p:cNvSpPr/>
          <p:nvPr/>
        </p:nvSpPr>
        <p:spPr>
          <a:xfrm>
            <a:off x="859536" y="3264408"/>
            <a:ext cx="2862072" cy="192024"/>
          </a:xfrm>
          <a:prstGeom prst="rect">
            <a:avLst/>
          </a:prstGeom>
          <a:noFill/>
          <a:ln/>
        </p:spPr>
        <p:txBody>
          <a:bodyPr wrap="square" lIns="381" tIns="381" rIns="381" bIns="381" rtlCol="0" anchor="t">
            <a:normAutofit/>
          </a:bodyPr>
          <a:lstStyle/>
          <a:p>
            <a:pPr marL="0" indent="0">
              <a:buNone/>
            </a:pPr>
            <a:r>
              <a:rPr lang="en-US" sz="1180" dirty="0">
                <a:solidFill>
                  <a:srgbClr val="101828"/>
                </a:solidFill>
                <a:latin typeface="Arial" pitchFamily="34" charset="0"/>
                <a:ea typeface="Arial" pitchFamily="34" charset="-122"/>
                <a:cs typeface="Arial" pitchFamily="34" charset="-120"/>
              </a:rPr>
              <a:t>Trọng số portfolio + CSV</a:t>
            </a:r>
            <a:endParaRPr lang="en-US" sz="1180" dirty="0"/>
          </a:p>
        </p:txBody>
      </p:sp>
      <p:sp>
        <p:nvSpPr>
          <p:cNvPr id="13" name="Shape 11"/>
          <p:cNvSpPr/>
          <p:nvPr/>
        </p:nvSpPr>
        <p:spPr>
          <a:xfrm>
            <a:off x="4416552" y="2834640"/>
            <a:ext cx="3154680" cy="713232"/>
          </a:xfrm>
          <a:prstGeom prst="rect">
            <a:avLst/>
          </a:prstGeom>
          <a:solidFill>
            <a:srgbClr val="F0FDF4"/>
          </a:solidFill>
          <a:ln w="12700">
            <a:solidFill>
              <a:srgbClr val="157347"/>
            </a:solidFill>
            <a:prstDash val="solid"/>
          </a:ln>
        </p:spPr>
      </p:sp>
      <p:sp>
        <p:nvSpPr>
          <p:cNvPr id="14" name="Text 12"/>
          <p:cNvSpPr/>
          <p:nvPr/>
        </p:nvSpPr>
        <p:spPr>
          <a:xfrm>
            <a:off x="4562856" y="2953512"/>
            <a:ext cx="2862072" cy="219456"/>
          </a:xfrm>
          <a:prstGeom prst="rect">
            <a:avLst/>
          </a:prstGeom>
          <a:noFill/>
          <a:ln/>
        </p:spPr>
        <p:txBody>
          <a:bodyPr wrap="square" lIns="381" tIns="381" rIns="381" bIns="381" rtlCol="0" anchor="t">
            <a:normAutofit/>
          </a:bodyPr>
          <a:lstStyle/>
          <a:p>
            <a:pPr marL="0" indent="0">
              <a:buNone/>
            </a:pPr>
            <a:r>
              <a:rPr lang="en-US" sz="1320" b="1" dirty="0">
                <a:solidFill>
                  <a:srgbClr val="157347"/>
                </a:solidFill>
                <a:latin typeface="Arial" pitchFamily="34" charset="0"/>
                <a:ea typeface="Arial" pitchFamily="34" charset="-122"/>
                <a:cs typeface="Arial" pitchFamily="34" charset="-120"/>
              </a:rPr>
              <a:t>Efficient Frontier</a:t>
            </a:r>
            <a:endParaRPr lang="en-US" sz="1320" dirty="0"/>
          </a:p>
        </p:txBody>
      </p:sp>
      <p:sp>
        <p:nvSpPr>
          <p:cNvPr id="15" name="Text 13"/>
          <p:cNvSpPr/>
          <p:nvPr/>
        </p:nvSpPr>
        <p:spPr>
          <a:xfrm>
            <a:off x="4562856" y="3264408"/>
            <a:ext cx="2862072" cy="192024"/>
          </a:xfrm>
          <a:prstGeom prst="rect">
            <a:avLst/>
          </a:prstGeom>
          <a:noFill/>
          <a:ln/>
        </p:spPr>
        <p:txBody>
          <a:bodyPr wrap="square" lIns="381" tIns="381" rIns="381" bIns="381" rtlCol="0" anchor="t">
            <a:normAutofit/>
          </a:bodyPr>
          <a:lstStyle/>
          <a:p>
            <a:pPr marL="0" indent="0">
              <a:buNone/>
            </a:pPr>
            <a:r>
              <a:rPr lang="en-US" sz="1180" dirty="0">
                <a:solidFill>
                  <a:srgbClr val="101828"/>
                </a:solidFill>
                <a:latin typeface="Arial" pitchFamily="34" charset="0"/>
                <a:ea typeface="Arial" pitchFamily="34" charset="-122"/>
                <a:cs typeface="Arial" pitchFamily="34" charset="-120"/>
              </a:rPr>
              <a:t>Max-Sharpe visualization</a:t>
            </a:r>
            <a:endParaRPr lang="en-US" sz="1180" dirty="0"/>
          </a:p>
        </p:txBody>
      </p:sp>
      <p:sp>
        <p:nvSpPr>
          <p:cNvPr id="16" name="Shape 14"/>
          <p:cNvSpPr/>
          <p:nvPr/>
        </p:nvSpPr>
        <p:spPr>
          <a:xfrm>
            <a:off x="8119872" y="2834640"/>
            <a:ext cx="3154680" cy="713232"/>
          </a:xfrm>
          <a:prstGeom prst="rect">
            <a:avLst/>
          </a:prstGeom>
          <a:solidFill>
            <a:srgbClr val="F8FAFC"/>
          </a:solidFill>
          <a:ln w="12700">
            <a:solidFill>
              <a:srgbClr val="175CD3"/>
            </a:solidFill>
            <a:prstDash val="solid"/>
          </a:ln>
        </p:spPr>
      </p:sp>
      <p:sp>
        <p:nvSpPr>
          <p:cNvPr id="17" name="Text 15"/>
          <p:cNvSpPr/>
          <p:nvPr/>
        </p:nvSpPr>
        <p:spPr>
          <a:xfrm>
            <a:off x="8266176" y="2953512"/>
            <a:ext cx="2862072" cy="219456"/>
          </a:xfrm>
          <a:prstGeom prst="rect">
            <a:avLst/>
          </a:prstGeom>
          <a:noFill/>
          <a:ln/>
        </p:spPr>
        <p:txBody>
          <a:bodyPr wrap="square" lIns="381" tIns="381" rIns="381" bIns="381" rtlCol="0" anchor="t">
            <a:normAutofit/>
          </a:bodyPr>
          <a:lstStyle/>
          <a:p>
            <a:pPr marL="0" indent="0">
              <a:buNone/>
            </a:pPr>
            <a:r>
              <a:rPr lang="en-US" sz="1320" b="1" dirty="0">
                <a:solidFill>
                  <a:srgbClr val="175CD3"/>
                </a:solidFill>
                <a:latin typeface="Arial" pitchFamily="34" charset="0"/>
                <a:ea typeface="Arial" pitchFamily="34" charset="-122"/>
                <a:cs typeface="Arial" pitchFamily="34" charset="-120"/>
              </a:rPr>
              <a:t>Backtest</a:t>
            </a:r>
            <a:endParaRPr lang="en-US" sz="1320" dirty="0"/>
          </a:p>
        </p:txBody>
      </p:sp>
      <p:sp>
        <p:nvSpPr>
          <p:cNvPr id="18" name="Text 16"/>
          <p:cNvSpPr/>
          <p:nvPr/>
        </p:nvSpPr>
        <p:spPr>
          <a:xfrm>
            <a:off x="8266176" y="3264408"/>
            <a:ext cx="2862072" cy="192024"/>
          </a:xfrm>
          <a:prstGeom prst="rect">
            <a:avLst/>
          </a:prstGeom>
          <a:noFill/>
          <a:ln/>
        </p:spPr>
        <p:txBody>
          <a:bodyPr wrap="square" lIns="381" tIns="381" rIns="381" bIns="381" rtlCol="0" anchor="t">
            <a:normAutofit/>
          </a:bodyPr>
          <a:lstStyle/>
          <a:p>
            <a:pPr marL="0" indent="0">
              <a:buNone/>
            </a:pPr>
            <a:r>
              <a:rPr lang="en-US" sz="1180" dirty="0">
                <a:solidFill>
                  <a:srgbClr val="101828"/>
                </a:solidFill>
                <a:latin typeface="Arial" pitchFamily="34" charset="0"/>
                <a:ea typeface="Arial" pitchFamily="34" charset="-122"/>
                <a:cs typeface="Arial" pitchFamily="34" charset="-120"/>
              </a:rPr>
              <a:t>Equity curve + metrics</a:t>
            </a:r>
            <a:endParaRPr lang="en-US" sz="1180" dirty="0"/>
          </a:p>
        </p:txBody>
      </p:sp>
      <p:sp>
        <p:nvSpPr>
          <p:cNvPr id="19" name="Shape 17"/>
          <p:cNvSpPr/>
          <p:nvPr/>
        </p:nvSpPr>
        <p:spPr>
          <a:xfrm>
            <a:off x="713232" y="3867912"/>
            <a:ext cx="3154680" cy="713232"/>
          </a:xfrm>
          <a:prstGeom prst="rect">
            <a:avLst/>
          </a:prstGeom>
          <a:solidFill>
            <a:srgbClr val="F0FDF4"/>
          </a:solidFill>
          <a:ln w="12700">
            <a:solidFill>
              <a:srgbClr val="157347"/>
            </a:solidFill>
            <a:prstDash val="solid"/>
          </a:ln>
        </p:spPr>
      </p:sp>
      <p:sp>
        <p:nvSpPr>
          <p:cNvPr id="20" name="Text 18"/>
          <p:cNvSpPr/>
          <p:nvPr/>
        </p:nvSpPr>
        <p:spPr>
          <a:xfrm>
            <a:off x="859536" y="3986784"/>
            <a:ext cx="2862072" cy="219456"/>
          </a:xfrm>
          <a:prstGeom prst="rect">
            <a:avLst/>
          </a:prstGeom>
          <a:noFill/>
          <a:ln/>
        </p:spPr>
        <p:txBody>
          <a:bodyPr wrap="square" lIns="381" tIns="381" rIns="381" bIns="381" rtlCol="0" anchor="t">
            <a:normAutofit/>
          </a:bodyPr>
          <a:lstStyle/>
          <a:p>
            <a:pPr marL="0" indent="0">
              <a:buNone/>
            </a:pPr>
            <a:r>
              <a:rPr lang="en-US" sz="1320" b="1" dirty="0">
                <a:solidFill>
                  <a:srgbClr val="157347"/>
                </a:solidFill>
                <a:latin typeface="Arial" pitchFamily="34" charset="0"/>
                <a:ea typeface="Arial" pitchFamily="34" charset="-122"/>
                <a:cs typeface="Arial" pitchFamily="34" charset="-120"/>
              </a:rPr>
              <a:t>Ablation Studies</a:t>
            </a:r>
            <a:endParaRPr lang="en-US" sz="1320" dirty="0"/>
          </a:p>
        </p:txBody>
      </p:sp>
      <p:sp>
        <p:nvSpPr>
          <p:cNvPr id="21" name="Text 19"/>
          <p:cNvSpPr/>
          <p:nvPr/>
        </p:nvSpPr>
        <p:spPr>
          <a:xfrm>
            <a:off x="859536" y="4297680"/>
            <a:ext cx="2862072" cy="192024"/>
          </a:xfrm>
          <a:prstGeom prst="rect">
            <a:avLst/>
          </a:prstGeom>
          <a:noFill/>
          <a:ln/>
        </p:spPr>
        <p:txBody>
          <a:bodyPr wrap="square" lIns="381" tIns="381" rIns="381" bIns="381" rtlCol="0" anchor="t">
            <a:normAutofit/>
          </a:bodyPr>
          <a:lstStyle/>
          <a:p>
            <a:pPr marL="0" indent="0">
              <a:buNone/>
            </a:pPr>
            <a:r>
              <a:rPr lang="en-US" sz="1180" dirty="0">
                <a:solidFill>
                  <a:srgbClr val="101828"/>
                </a:solidFill>
                <a:latin typeface="Arial" pitchFamily="34" charset="0"/>
                <a:ea typeface="Arial" pitchFamily="34" charset="-122"/>
                <a:cs typeface="Arial" pitchFamily="34" charset="-120"/>
              </a:rPr>
              <a:t>A/A+B/A+B+C</a:t>
            </a:r>
            <a:endParaRPr lang="en-US" sz="1180" dirty="0"/>
          </a:p>
        </p:txBody>
      </p:sp>
      <p:sp>
        <p:nvSpPr>
          <p:cNvPr id="22" name="Shape 20"/>
          <p:cNvSpPr/>
          <p:nvPr/>
        </p:nvSpPr>
        <p:spPr>
          <a:xfrm>
            <a:off x="4416552" y="3867912"/>
            <a:ext cx="3154680" cy="713232"/>
          </a:xfrm>
          <a:prstGeom prst="rect">
            <a:avLst/>
          </a:prstGeom>
          <a:solidFill>
            <a:srgbClr val="F8FAFC"/>
          </a:solidFill>
          <a:ln w="12700">
            <a:solidFill>
              <a:srgbClr val="175CD3"/>
            </a:solidFill>
            <a:prstDash val="solid"/>
          </a:ln>
        </p:spPr>
      </p:sp>
      <p:sp>
        <p:nvSpPr>
          <p:cNvPr id="23" name="Text 21"/>
          <p:cNvSpPr/>
          <p:nvPr/>
        </p:nvSpPr>
        <p:spPr>
          <a:xfrm>
            <a:off x="4562856" y="3986784"/>
            <a:ext cx="2862072" cy="219456"/>
          </a:xfrm>
          <a:prstGeom prst="rect">
            <a:avLst/>
          </a:prstGeom>
          <a:noFill/>
          <a:ln/>
        </p:spPr>
        <p:txBody>
          <a:bodyPr wrap="square" lIns="381" tIns="381" rIns="381" bIns="381" rtlCol="0" anchor="t">
            <a:normAutofit/>
          </a:bodyPr>
          <a:lstStyle/>
          <a:p>
            <a:pPr marL="0" indent="0">
              <a:buNone/>
            </a:pPr>
            <a:r>
              <a:rPr lang="en-US" sz="1320" b="1" dirty="0">
                <a:solidFill>
                  <a:srgbClr val="175CD3"/>
                </a:solidFill>
                <a:latin typeface="Arial" pitchFamily="34" charset="0"/>
                <a:ea typeface="Arial" pitchFamily="34" charset="-122"/>
                <a:cs typeface="Arial" pitchFamily="34" charset="-120"/>
              </a:rPr>
              <a:t>Phương pháp</a:t>
            </a:r>
            <a:endParaRPr lang="en-US" sz="1320" dirty="0"/>
          </a:p>
        </p:txBody>
      </p:sp>
      <p:sp>
        <p:nvSpPr>
          <p:cNvPr id="24" name="Text 22"/>
          <p:cNvSpPr/>
          <p:nvPr/>
        </p:nvSpPr>
        <p:spPr>
          <a:xfrm>
            <a:off x="4562856" y="4297680"/>
            <a:ext cx="2862072" cy="192024"/>
          </a:xfrm>
          <a:prstGeom prst="rect">
            <a:avLst/>
          </a:prstGeom>
          <a:noFill/>
          <a:ln/>
        </p:spPr>
        <p:txBody>
          <a:bodyPr wrap="square" lIns="381" tIns="381" rIns="381" bIns="381" rtlCol="0" anchor="t">
            <a:normAutofit/>
          </a:bodyPr>
          <a:lstStyle/>
          <a:p>
            <a:pPr marL="0" indent="0">
              <a:buNone/>
            </a:pPr>
            <a:r>
              <a:rPr lang="en-US" sz="1180" dirty="0">
                <a:solidFill>
                  <a:srgbClr val="101828"/>
                </a:solidFill>
                <a:latin typeface="Arial" pitchFamily="34" charset="0"/>
                <a:ea typeface="Arial" pitchFamily="34" charset="-122"/>
                <a:cs typeface="Arial" pitchFamily="34" charset="-120"/>
              </a:rPr>
              <a:t>Tóm tắt pipeline nghiên cứu</a:t>
            </a:r>
            <a:endParaRPr lang="en-US" sz="1180" dirty="0"/>
          </a:p>
        </p:txBody>
      </p:sp>
      <p:sp>
        <p:nvSpPr>
          <p:cNvPr id="25" name="Shape 23"/>
          <p:cNvSpPr/>
          <p:nvPr/>
        </p:nvSpPr>
        <p:spPr>
          <a:xfrm>
            <a:off x="6492240" y="4800600"/>
            <a:ext cx="4800600" cy="777240"/>
          </a:xfrm>
          <a:prstGeom prst="rect">
            <a:avLst/>
          </a:prstGeom>
          <a:solidFill>
            <a:srgbClr val="F0FDF4"/>
          </a:solidFill>
          <a:ln w="12700">
            <a:solidFill>
              <a:srgbClr val="157347"/>
            </a:solidFill>
            <a:prstDash val="solid"/>
          </a:ln>
        </p:spPr>
      </p:sp>
      <p:sp>
        <p:nvSpPr>
          <p:cNvPr id="26" name="Text 24"/>
          <p:cNvSpPr/>
          <p:nvPr/>
        </p:nvSpPr>
        <p:spPr>
          <a:xfrm>
            <a:off x="6638544" y="4919472"/>
            <a:ext cx="4507992" cy="219456"/>
          </a:xfrm>
          <a:prstGeom prst="rect">
            <a:avLst/>
          </a:prstGeom>
          <a:noFill/>
          <a:ln/>
        </p:spPr>
        <p:txBody>
          <a:bodyPr wrap="square" lIns="381" tIns="381" rIns="381" bIns="381" rtlCol="0" anchor="t">
            <a:normAutofit/>
          </a:bodyPr>
          <a:lstStyle/>
          <a:p>
            <a:pPr marL="0" indent="0">
              <a:buNone/>
            </a:pPr>
            <a:r>
              <a:rPr lang="en-US" sz="1320" b="1" dirty="0">
                <a:solidFill>
                  <a:srgbClr val="157347"/>
                </a:solidFill>
                <a:latin typeface="Arial" pitchFamily="34" charset="0"/>
                <a:ea typeface="Arial" pitchFamily="34" charset="-122"/>
                <a:cs typeface="Arial" pitchFamily="34" charset="-120"/>
              </a:rPr>
              <a:t>Kết quả tái lập</a:t>
            </a:r>
            <a:endParaRPr lang="en-US" sz="1320" dirty="0"/>
          </a:p>
        </p:txBody>
      </p:sp>
      <p:sp>
        <p:nvSpPr>
          <p:cNvPr id="27" name="Text 25"/>
          <p:cNvSpPr/>
          <p:nvPr/>
        </p:nvSpPr>
        <p:spPr>
          <a:xfrm>
            <a:off x="6638544" y="5230368"/>
            <a:ext cx="4507992" cy="256032"/>
          </a:xfrm>
          <a:prstGeom prst="rect">
            <a:avLst/>
          </a:prstGeom>
          <a:noFill/>
          <a:ln/>
        </p:spPr>
        <p:txBody>
          <a:bodyPr wrap="square" lIns="381" tIns="381" rIns="381" bIns="381" rtlCol="0" anchor="t">
            <a:normAutofit fontScale="92500"/>
          </a:bodyPr>
          <a:lstStyle/>
          <a:p>
            <a:pPr marL="0" indent="0">
              <a:buNone/>
            </a:pPr>
            <a:r>
              <a:rPr lang="en-US" sz="1180" dirty="0">
                <a:solidFill>
                  <a:srgbClr val="101828"/>
                </a:solidFill>
                <a:latin typeface="Arial" pitchFamily="34" charset="0"/>
                <a:ea typeface="Arial" pitchFamily="34" charset="-122"/>
                <a:cs typeface="Arial" pitchFamily="34" charset="-120"/>
              </a:rPr>
              <a:t>CSV, run_meta.json, checkpoints, figures và báo cáo DOCX/Markdown.</a:t>
            </a:r>
            <a:endParaRPr lang="en-US" sz="1180" dirty="0"/>
          </a:p>
        </p:txBody>
      </p:sp>
      <p:sp>
        <p:nvSpPr>
          <p:cNvPr id="28" name="Slide Number Placeholder 0"/>
          <p:cNvSpPr>
            <a:spLocks noGrp="1"/>
          </p:cNvSpPr>
          <p:nvPr>
            <p:ph type="sldNum" sz="quarter" idx="4294967295"/>
          </p:nvPr>
        </p:nvSpPr>
        <p:spPr>
          <a:xfrm>
            <a:off x="11475720" y="6492240"/>
            <a:ext cx="800000" cy="300000"/>
          </a:xfrm>
          <a:prstGeom prst="rect">
            <a:avLst/>
          </a:prstGeom>
          <a:extLst>
            <a:ext uri="{C572A759-6A51-4108-AA02-DFA0A04FC94B}">
              <ma14:wrappingTextBoxFlag xmlns:ma14="http://schemas.microsoft.com/office/mac/drawingml/2011/main" xmlns="" val="0"/>
            </a:ext>
          </a:extLst>
        </p:spPr>
        <p:txBody>
          <a:bodyPr/>
          <a:lstStyle>
            <a:lvl1pPr>
              <a:defRPr sz="730">
                <a:solidFill>
                  <a:srgbClr val="667085"/>
                </a:solidFill>
                <a:latin typeface="Arial"/>
                <a:ea typeface="Arial"/>
                <a:cs typeface="Arial"/>
              </a:defRPr>
            </a:lvl1pPr>
          </a:lstStyle>
          <a:p>
            <a:pPr algn="l"/>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74320"/>
            <a:ext cx="7132320" cy="201168"/>
          </a:xfrm>
          <a:prstGeom prst="rect">
            <a:avLst/>
          </a:prstGeom>
          <a:noFill/>
          <a:ln/>
        </p:spPr>
        <p:txBody>
          <a:bodyPr wrap="square" lIns="0" tIns="0" rIns="0" bIns="0" rtlCol="0" anchor="ctr"/>
          <a:lstStyle/>
          <a:p>
            <a:pPr marL="0" indent="0">
              <a:buNone/>
            </a:pPr>
            <a:r>
              <a:rPr lang="en-US" sz="820" b="1" dirty="0">
                <a:solidFill>
                  <a:srgbClr val="667085"/>
                </a:solidFill>
                <a:latin typeface="Arial" pitchFamily="34" charset="0"/>
                <a:ea typeface="Arial" pitchFamily="34" charset="-122"/>
                <a:cs typeface="Arial" pitchFamily="34" charset="-120"/>
              </a:rPr>
              <a:t>RUBRIC EVIDENCE</a:t>
            </a:r>
            <a:endParaRPr lang="en-US" sz="820" dirty="0"/>
          </a:p>
        </p:txBody>
      </p:sp>
      <p:sp>
        <p:nvSpPr>
          <p:cNvPr id="3" name="Text 1"/>
          <p:cNvSpPr/>
          <p:nvPr/>
        </p:nvSpPr>
        <p:spPr>
          <a:xfrm>
            <a:off x="502920" y="512064"/>
            <a:ext cx="11155680" cy="566928"/>
          </a:xfrm>
          <a:prstGeom prst="rect">
            <a:avLst/>
          </a:prstGeom>
          <a:noFill/>
          <a:ln/>
        </p:spPr>
        <p:txBody>
          <a:bodyPr wrap="square" lIns="0" tIns="0" rIns="0" bIns="0" rtlCol="0" anchor="ctr">
            <a:normAutofit/>
          </a:bodyPr>
          <a:lstStyle/>
          <a:p>
            <a:pPr marL="0" indent="0">
              <a:buNone/>
            </a:pPr>
            <a:r>
              <a:rPr lang="en-US" sz="2700" b="1" dirty="0">
                <a:solidFill>
                  <a:srgbClr val="101828"/>
                </a:solidFill>
                <a:latin typeface="Arial" pitchFamily="34" charset="0"/>
                <a:ea typeface="Arial" pitchFamily="34" charset="-122"/>
                <a:cs typeface="Arial" pitchFamily="34" charset="-120"/>
              </a:rPr>
              <a:t>Đối chiếu rubric chấm điểm</a:t>
            </a:r>
            <a:endParaRPr lang="en-US" sz="2700" dirty="0"/>
          </a:p>
        </p:txBody>
      </p:sp>
      <p:sp>
        <p:nvSpPr>
          <p:cNvPr id="4" name="Shape 2"/>
          <p:cNvSpPr/>
          <p:nvPr/>
        </p:nvSpPr>
        <p:spPr>
          <a:xfrm>
            <a:off x="502920" y="1152144"/>
            <a:ext cx="11155680" cy="0"/>
          </a:xfrm>
          <a:prstGeom prst="line">
            <a:avLst/>
          </a:prstGeom>
          <a:noFill/>
          <a:ln w="10160">
            <a:solidFill>
              <a:srgbClr val="D0D5DD"/>
            </a:solidFill>
            <a:prstDash val="solid"/>
          </a:ln>
        </p:spPr>
      </p:sp>
      <p:pic>
        <p:nvPicPr>
          <p:cNvPr id="5" name="Image 0" descr="D:\CRM\crystal-ball-insights\results\image.png"/>
          <p:cNvPicPr>
            <a:picLocks noChangeAspect="1"/>
          </p:cNvPicPr>
          <p:nvPr/>
        </p:nvPicPr>
        <p:blipFill>
          <a:blip r:embed="rId3"/>
          <a:srcRect/>
          <a:stretch/>
        </p:blipFill>
        <p:spPr>
          <a:xfrm>
            <a:off x="658368" y="1353312"/>
            <a:ext cx="4434840" cy="4251960"/>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40680" y="1417320"/>
          <a:ext cx="5806440" cy="3886200"/>
        </p:xfrm>
        <a:graphic>
          <a:graphicData uri="http://schemas.openxmlformats.org/drawingml/2006/table">
            <a:tbl>
              <a:tblPr/>
              <a:tblGrid>
                <a:gridCol w="96012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3611880">
                  <a:extLst>
                    <a:ext uri="{9D8B030D-6E8A-4147-A177-3AD203B41FA5}">
                      <a16:colId xmlns:a16="http://schemas.microsoft.com/office/drawing/2014/main" val="20002"/>
                    </a:ext>
                  </a:extLst>
                </a:gridCol>
              </a:tblGrid>
              <a:tr h="485775">
                <a:tc>
                  <a:txBody>
                    <a:bodyPr/>
                    <a:lstStyle/>
                    <a:p>
                      <a:pPr marL="0" indent="0">
                        <a:buNone/>
                      </a:pPr>
                      <a:r>
                        <a:rPr lang="en-US" sz="1120" dirty="0">
                          <a:solidFill>
                            <a:srgbClr val="101828"/>
                          </a:solidFill>
                          <a:latin typeface="Arial" pitchFamily="34" charset="0"/>
                          <a:ea typeface="Arial" pitchFamily="34" charset="-122"/>
                          <a:cs typeface="Arial" pitchFamily="34" charset="-120"/>
                        </a:rPr>
                        <a:t>Rubric</a:t>
                      </a:r>
                      <a:endParaRPr lang="en-US" sz="112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120" dirty="0">
                          <a:solidFill>
                            <a:srgbClr val="101828"/>
                          </a:solidFill>
                          <a:latin typeface="Arial" pitchFamily="34" charset="0"/>
                          <a:ea typeface="Arial" pitchFamily="34" charset="-122"/>
                          <a:cs typeface="Arial" pitchFamily="34" charset="-120"/>
                        </a:rPr>
                        <a:t>Điểm</a:t>
                      </a:r>
                      <a:endParaRPr lang="en-US" sz="112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120" dirty="0">
                          <a:solidFill>
                            <a:srgbClr val="101828"/>
                          </a:solidFill>
                          <a:latin typeface="Arial" pitchFamily="34" charset="0"/>
                          <a:ea typeface="Arial" pitchFamily="34" charset="-122"/>
                          <a:cs typeface="Arial" pitchFamily="34" charset="-120"/>
                        </a:rPr>
                        <a:t>Minh chứng</a:t>
                      </a:r>
                      <a:endParaRPr lang="en-US" sz="112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extLst>
                  <a:ext uri="{0D108BD9-81ED-4DB2-BD59-A6C34878D82A}">
                    <a16:rowId xmlns:a16="http://schemas.microsoft.com/office/drawing/2014/main" val="10000"/>
                  </a:ext>
                </a:extLst>
              </a:tr>
              <a:tr h="485775">
                <a:tc>
                  <a:txBody>
                    <a:bodyPr/>
                    <a:lstStyle/>
                    <a:p>
                      <a:pPr marL="0" indent="0">
                        <a:buNone/>
                      </a:pPr>
                      <a:r>
                        <a:rPr lang="en-US" sz="1120" dirty="0">
                          <a:solidFill>
                            <a:srgbClr val="101828"/>
                          </a:solidFill>
                          <a:latin typeface="Arial" pitchFamily="34" charset="0"/>
                          <a:ea typeface="Arial" pitchFamily="34" charset="-122"/>
                          <a:cs typeface="Arial" pitchFamily="34" charset="-120"/>
                        </a:rPr>
                        <a:t>R1</a:t>
                      </a:r>
                      <a:endParaRPr lang="en-US" sz="112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120" dirty="0">
                          <a:solidFill>
                            <a:srgbClr val="101828"/>
                          </a:solidFill>
                          <a:latin typeface="Arial" pitchFamily="34" charset="0"/>
                          <a:ea typeface="Arial" pitchFamily="34" charset="-122"/>
                          <a:cs typeface="Arial" pitchFamily="34" charset="-120"/>
                        </a:rPr>
                        <a:t>1.5/1.5</a:t>
                      </a:r>
                      <a:endParaRPr lang="en-US" sz="112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120" dirty="0">
                          <a:solidFill>
                            <a:srgbClr val="101828"/>
                          </a:solidFill>
                          <a:latin typeface="Arial" pitchFamily="34" charset="0"/>
                          <a:ea typeface="Arial" pitchFamily="34" charset="-122"/>
                          <a:cs typeface="Arial" pitchFamily="34" charset="-120"/>
                        </a:rPr>
                        <a:t>Bài toán, dữ liệu, tiền xử lý</a:t>
                      </a:r>
                      <a:endParaRPr lang="en-US" sz="112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extLst>
                  <a:ext uri="{0D108BD9-81ED-4DB2-BD59-A6C34878D82A}">
                    <a16:rowId xmlns:a16="http://schemas.microsoft.com/office/drawing/2014/main" val="10001"/>
                  </a:ext>
                </a:extLst>
              </a:tr>
              <a:tr h="485775">
                <a:tc>
                  <a:txBody>
                    <a:bodyPr/>
                    <a:lstStyle/>
                    <a:p>
                      <a:pPr marL="0" indent="0">
                        <a:buNone/>
                      </a:pPr>
                      <a:r>
                        <a:rPr lang="en-US" sz="1120" dirty="0">
                          <a:solidFill>
                            <a:srgbClr val="101828"/>
                          </a:solidFill>
                          <a:latin typeface="Arial" pitchFamily="34" charset="0"/>
                          <a:ea typeface="Arial" pitchFamily="34" charset="-122"/>
                          <a:cs typeface="Arial" pitchFamily="34" charset="-120"/>
                        </a:rPr>
                        <a:t>R2</a:t>
                      </a:r>
                      <a:endParaRPr lang="en-US" sz="112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120" dirty="0">
                          <a:solidFill>
                            <a:srgbClr val="101828"/>
                          </a:solidFill>
                          <a:latin typeface="Arial" pitchFamily="34" charset="0"/>
                          <a:ea typeface="Arial" pitchFamily="34" charset="-122"/>
                          <a:cs typeface="Arial" pitchFamily="34" charset="-120"/>
                        </a:rPr>
                        <a:t>1.5/1.5</a:t>
                      </a:r>
                      <a:endParaRPr lang="en-US" sz="112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120" dirty="0">
                          <a:solidFill>
                            <a:srgbClr val="101828"/>
                          </a:solidFill>
                          <a:latin typeface="Arial" pitchFamily="34" charset="0"/>
                          <a:ea typeface="Arial" pitchFamily="34" charset="-122"/>
                          <a:cs typeface="Arial" pitchFamily="34" charset="-120"/>
                        </a:rPr>
                        <a:t>Time split, embargo, chống leakage</a:t>
                      </a:r>
                      <a:endParaRPr lang="en-US" sz="112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extLst>
                  <a:ext uri="{0D108BD9-81ED-4DB2-BD59-A6C34878D82A}">
                    <a16:rowId xmlns:a16="http://schemas.microsoft.com/office/drawing/2014/main" val="10002"/>
                  </a:ext>
                </a:extLst>
              </a:tr>
              <a:tr h="485775">
                <a:tc>
                  <a:txBody>
                    <a:bodyPr/>
                    <a:lstStyle/>
                    <a:p>
                      <a:pPr marL="0" indent="0">
                        <a:buNone/>
                      </a:pPr>
                      <a:r>
                        <a:rPr lang="en-US" sz="1120" dirty="0">
                          <a:solidFill>
                            <a:srgbClr val="101828"/>
                          </a:solidFill>
                          <a:latin typeface="Arial" pitchFamily="34" charset="0"/>
                          <a:ea typeface="Arial" pitchFamily="34" charset="-122"/>
                          <a:cs typeface="Arial" pitchFamily="34" charset="-120"/>
                        </a:rPr>
                        <a:t>R3</a:t>
                      </a:r>
                      <a:endParaRPr lang="en-US" sz="112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120" dirty="0">
                          <a:solidFill>
                            <a:srgbClr val="101828"/>
                          </a:solidFill>
                          <a:latin typeface="Arial" pitchFamily="34" charset="0"/>
                          <a:ea typeface="Arial" pitchFamily="34" charset="-122"/>
                          <a:cs typeface="Arial" pitchFamily="34" charset="-120"/>
                        </a:rPr>
                        <a:t>1.5/1.5</a:t>
                      </a:r>
                      <a:endParaRPr lang="en-US" sz="112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120" dirty="0">
                          <a:solidFill>
                            <a:srgbClr val="101828"/>
                          </a:solidFill>
                          <a:latin typeface="Arial" pitchFamily="34" charset="0"/>
                          <a:ea typeface="Arial" pitchFamily="34" charset="-122"/>
                          <a:cs typeface="Arial" pitchFamily="34" charset="-120"/>
                        </a:rPr>
                        <a:t>Baseline đa tầng</a:t>
                      </a:r>
                      <a:endParaRPr lang="en-US" sz="112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extLst>
                  <a:ext uri="{0D108BD9-81ED-4DB2-BD59-A6C34878D82A}">
                    <a16:rowId xmlns:a16="http://schemas.microsoft.com/office/drawing/2014/main" val="10003"/>
                  </a:ext>
                </a:extLst>
              </a:tr>
              <a:tr h="485775">
                <a:tc>
                  <a:txBody>
                    <a:bodyPr/>
                    <a:lstStyle/>
                    <a:p>
                      <a:pPr marL="0" indent="0">
                        <a:buNone/>
                      </a:pPr>
                      <a:r>
                        <a:rPr lang="en-US" sz="1120" dirty="0">
                          <a:solidFill>
                            <a:srgbClr val="101828"/>
                          </a:solidFill>
                          <a:latin typeface="Arial" pitchFamily="34" charset="0"/>
                          <a:ea typeface="Arial" pitchFamily="34" charset="-122"/>
                          <a:cs typeface="Arial" pitchFamily="34" charset="-120"/>
                        </a:rPr>
                        <a:t>R4</a:t>
                      </a:r>
                      <a:endParaRPr lang="en-US" sz="112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120" dirty="0">
                          <a:solidFill>
                            <a:srgbClr val="101828"/>
                          </a:solidFill>
                          <a:latin typeface="Arial" pitchFamily="34" charset="0"/>
                          <a:ea typeface="Arial" pitchFamily="34" charset="-122"/>
                          <a:cs typeface="Arial" pitchFamily="34" charset="-120"/>
                        </a:rPr>
                        <a:t>2.0/2.0</a:t>
                      </a:r>
                      <a:endParaRPr lang="en-US" sz="112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120" dirty="0">
                          <a:solidFill>
                            <a:srgbClr val="101828"/>
                          </a:solidFill>
                          <a:latin typeface="Arial" pitchFamily="34" charset="0"/>
                          <a:ea typeface="Arial" pitchFamily="34" charset="-122"/>
                          <a:cs typeface="Arial" pitchFamily="34" charset="-120"/>
                        </a:rPr>
                        <a:t>PA-Transformer + ablation</a:t>
                      </a:r>
                      <a:endParaRPr lang="en-US" sz="112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extLst>
                  <a:ext uri="{0D108BD9-81ED-4DB2-BD59-A6C34878D82A}">
                    <a16:rowId xmlns:a16="http://schemas.microsoft.com/office/drawing/2014/main" val="10004"/>
                  </a:ext>
                </a:extLst>
              </a:tr>
              <a:tr h="485775">
                <a:tc>
                  <a:txBody>
                    <a:bodyPr/>
                    <a:lstStyle/>
                    <a:p>
                      <a:pPr marL="0" indent="0">
                        <a:buNone/>
                      </a:pPr>
                      <a:r>
                        <a:rPr lang="en-US" sz="1120" dirty="0">
                          <a:solidFill>
                            <a:srgbClr val="101828"/>
                          </a:solidFill>
                          <a:latin typeface="Arial" pitchFamily="34" charset="0"/>
                          <a:ea typeface="Arial" pitchFamily="34" charset="-122"/>
                          <a:cs typeface="Arial" pitchFamily="34" charset="-120"/>
                        </a:rPr>
                        <a:t>R5</a:t>
                      </a:r>
                      <a:endParaRPr lang="en-US" sz="112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120" dirty="0">
                          <a:solidFill>
                            <a:srgbClr val="101828"/>
                          </a:solidFill>
                          <a:latin typeface="Arial" pitchFamily="34" charset="0"/>
                          <a:ea typeface="Arial" pitchFamily="34" charset="-122"/>
                          <a:cs typeface="Arial" pitchFamily="34" charset="-120"/>
                        </a:rPr>
                        <a:t>1.4–1.5/1.5</a:t>
                      </a:r>
                      <a:endParaRPr lang="en-US" sz="112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120" dirty="0">
                          <a:solidFill>
                            <a:srgbClr val="101828"/>
                          </a:solidFill>
                          <a:latin typeface="Arial" pitchFamily="34" charset="0"/>
                          <a:ea typeface="Arial" pitchFamily="34" charset="-122"/>
                          <a:cs typeface="Arial" pitchFamily="34" charset="-120"/>
                        </a:rPr>
                        <a:t>Backtest, Sharpe, MDD, biện luận</a:t>
                      </a:r>
                      <a:endParaRPr lang="en-US" sz="112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extLst>
                  <a:ext uri="{0D108BD9-81ED-4DB2-BD59-A6C34878D82A}">
                    <a16:rowId xmlns:a16="http://schemas.microsoft.com/office/drawing/2014/main" val="10005"/>
                  </a:ext>
                </a:extLst>
              </a:tr>
              <a:tr h="485775">
                <a:tc>
                  <a:txBody>
                    <a:bodyPr/>
                    <a:lstStyle/>
                    <a:p>
                      <a:pPr marL="0" indent="0">
                        <a:buNone/>
                      </a:pPr>
                      <a:r>
                        <a:rPr lang="en-US" sz="1120" dirty="0">
                          <a:solidFill>
                            <a:srgbClr val="101828"/>
                          </a:solidFill>
                          <a:latin typeface="Arial" pitchFamily="34" charset="0"/>
                          <a:ea typeface="Arial" pitchFamily="34" charset="-122"/>
                          <a:cs typeface="Arial" pitchFamily="34" charset="-120"/>
                        </a:rPr>
                        <a:t>R6</a:t>
                      </a:r>
                      <a:endParaRPr lang="en-US" sz="112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120" dirty="0">
                          <a:solidFill>
                            <a:srgbClr val="101828"/>
                          </a:solidFill>
                          <a:latin typeface="Arial" pitchFamily="34" charset="0"/>
                          <a:ea typeface="Arial" pitchFamily="34" charset="-122"/>
                          <a:cs typeface="Arial" pitchFamily="34" charset="-120"/>
                        </a:rPr>
                        <a:t>1.0/1.0</a:t>
                      </a:r>
                      <a:endParaRPr lang="en-US" sz="112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120" dirty="0">
                          <a:solidFill>
                            <a:srgbClr val="101828"/>
                          </a:solidFill>
                          <a:latin typeface="Arial" pitchFamily="34" charset="0"/>
                          <a:ea typeface="Arial" pitchFamily="34" charset="-122"/>
                          <a:cs typeface="Arial" pitchFamily="34" charset="-120"/>
                        </a:rPr>
                        <a:t>Streamlit, Git, tái lập</a:t>
                      </a:r>
                      <a:endParaRPr lang="en-US" sz="112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extLst>
                  <a:ext uri="{0D108BD9-81ED-4DB2-BD59-A6C34878D82A}">
                    <a16:rowId xmlns:a16="http://schemas.microsoft.com/office/drawing/2014/main" val="10006"/>
                  </a:ext>
                </a:extLst>
              </a:tr>
              <a:tr h="485775">
                <a:tc>
                  <a:txBody>
                    <a:bodyPr/>
                    <a:lstStyle/>
                    <a:p>
                      <a:pPr marL="0" indent="0">
                        <a:buNone/>
                      </a:pPr>
                      <a:r>
                        <a:rPr lang="en-US" sz="1120" dirty="0">
                          <a:solidFill>
                            <a:srgbClr val="101828"/>
                          </a:solidFill>
                          <a:latin typeface="Arial" pitchFamily="34" charset="0"/>
                          <a:ea typeface="Arial" pitchFamily="34" charset="-122"/>
                          <a:cs typeface="Arial" pitchFamily="34" charset="-120"/>
                        </a:rPr>
                        <a:t>R7</a:t>
                      </a:r>
                      <a:endParaRPr lang="en-US" sz="112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120" dirty="0">
                          <a:solidFill>
                            <a:srgbClr val="101828"/>
                          </a:solidFill>
                          <a:latin typeface="Arial" pitchFamily="34" charset="0"/>
                          <a:ea typeface="Arial" pitchFamily="34" charset="-122"/>
                          <a:cs typeface="Arial" pitchFamily="34" charset="-120"/>
                        </a:rPr>
                        <a:t>1.0/1.0</a:t>
                      </a:r>
                      <a:endParaRPr lang="en-US" sz="112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tc>
                  <a:txBody>
                    <a:bodyPr/>
                    <a:lstStyle/>
                    <a:p>
                      <a:pPr marL="0" indent="0">
                        <a:buNone/>
                      </a:pPr>
                      <a:r>
                        <a:rPr lang="en-US" sz="1120" dirty="0">
                          <a:solidFill>
                            <a:srgbClr val="101828"/>
                          </a:solidFill>
                          <a:latin typeface="Arial" pitchFamily="34" charset="0"/>
                          <a:ea typeface="Arial" pitchFamily="34" charset="-122"/>
                          <a:cs typeface="Arial" pitchFamily="34" charset="-120"/>
                        </a:rPr>
                        <a:t>Báo cáo, figures, sản phẩm</a:t>
                      </a:r>
                      <a:endParaRPr lang="en-US" sz="1120" dirty="0">
                        <a:latin typeface="Arial" charset="0"/>
                        <a:ea typeface="Arial" charset="0"/>
                        <a:cs typeface="Arial" charset="0"/>
                      </a:endParaRPr>
                    </a:p>
                  </a:txBody>
                  <a:tcPr marL="45720" marR="45720">
                    <a:lnL w="8255" cap="flat" cmpd="sng" algn="ctr">
                      <a:solidFill>
                        <a:srgbClr val="D0D5DD"/>
                      </a:solidFill>
                      <a:prstDash val="solid"/>
                      <a:round/>
                      <a:headEnd type="none" w="med" len="med"/>
                      <a:tailEnd type="none" w="med" len="med"/>
                    </a:lnL>
                    <a:lnR w="8255" cap="flat" cmpd="sng" algn="ctr">
                      <a:solidFill>
                        <a:srgbClr val="D0D5DD"/>
                      </a:solidFill>
                      <a:prstDash val="solid"/>
                      <a:round/>
                      <a:headEnd type="none" w="med" len="med"/>
                      <a:tailEnd type="none" w="med" len="med"/>
                    </a:lnR>
                    <a:lnT w="8255" cap="flat" cmpd="sng" algn="ctr">
                      <a:solidFill>
                        <a:srgbClr val="D0D5DD"/>
                      </a:solidFill>
                      <a:prstDash val="solid"/>
                      <a:round/>
                      <a:headEnd type="none" w="med" len="med"/>
                      <a:tailEnd type="none" w="med" len="med"/>
                    </a:lnT>
                    <a:lnB w="8255" cap="flat" cmpd="sng" algn="ctr">
                      <a:solidFill>
                        <a:srgbClr val="D0D5DD"/>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7" name="Text 3"/>
          <p:cNvSpPr/>
          <p:nvPr/>
        </p:nvSpPr>
        <p:spPr>
          <a:xfrm>
            <a:off x="5715000" y="5532120"/>
            <a:ext cx="5257800" cy="310896"/>
          </a:xfrm>
          <a:prstGeom prst="rect">
            <a:avLst/>
          </a:prstGeom>
          <a:noFill/>
          <a:ln/>
        </p:spPr>
        <p:txBody>
          <a:bodyPr wrap="square" lIns="381" tIns="381" rIns="381" bIns="381" rtlCol="0" anchor="t">
            <a:normAutofit/>
          </a:bodyPr>
          <a:lstStyle/>
          <a:p>
            <a:pPr marL="0" indent="0" algn="ctr">
              <a:buNone/>
            </a:pPr>
            <a:r>
              <a:rPr lang="en-US" sz="2000" b="1" dirty="0">
                <a:solidFill>
                  <a:srgbClr val="157347"/>
                </a:solidFill>
                <a:latin typeface="Arial" pitchFamily="34" charset="0"/>
                <a:ea typeface="Arial" pitchFamily="34" charset="-122"/>
                <a:cs typeface="Arial" pitchFamily="34" charset="-120"/>
              </a:rPr>
              <a:t>Tổng tự đánh giá: 9.5–10/10</a:t>
            </a:r>
            <a:endParaRPr lang="en-US" sz="2000" dirty="0"/>
          </a:p>
        </p:txBody>
      </p:sp>
      <p:sp>
        <p:nvSpPr>
          <p:cNvPr id="25" name="Slide Number Placeholder 0"/>
          <p:cNvSpPr>
            <a:spLocks noGrp="1"/>
          </p:cNvSpPr>
          <p:nvPr>
            <p:ph type="sldNum" sz="quarter" idx="4294967295"/>
          </p:nvPr>
        </p:nvSpPr>
        <p:spPr>
          <a:xfrm>
            <a:off x="11475720" y="6492240"/>
            <a:ext cx="800000" cy="300000"/>
          </a:xfrm>
          <a:prstGeom prst="rect">
            <a:avLst/>
          </a:prstGeom>
          <a:extLst>
            <a:ext uri="{C572A759-6A51-4108-AA02-DFA0A04FC94B}">
              <ma14:wrappingTextBoxFlag xmlns:ma14="http://schemas.microsoft.com/office/mac/drawingml/2011/main" xmlns="" val="0"/>
            </a:ext>
          </a:extLst>
        </p:spPr>
        <p:txBody>
          <a:bodyPr/>
          <a:lstStyle>
            <a:lvl1pPr>
              <a:defRPr sz="730">
                <a:solidFill>
                  <a:srgbClr val="667085"/>
                </a:solidFill>
                <a:latin typeface="Arial"/>
                <a:ea typeface="Arial"/>
                <a:cs typeface="Arial"/>
              </a:defRPr>
            </a:lvl1pPr>
          </a:lstStyle>
          <a:p>
            <a:pPr algn="l"/>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74320"/>
            <a:ext cx="7132320" cy="201168"/>
          </a:xfrm>
          <a:prstGeom prst="rect">
            <a:avLst/>
          </a:prstGeom>
          <a:noFill/>
          <a:ln/>
        </p:spPr>
        <p:txBody>
          <a:bodyPr wrap="square" lIns="0" tIns="0" rIns="0" bIns="0" rtlCol="0" anchor="ctr"/>
          <a:lstStyle/>
          <a:p>
            <a:pPr marL="0" indent="0">
              <a:buNone/>
            </a:pPr>
            <a:r>
              <a:rPr lang="en-US" sz="820" b="1" dirty="0">
                <a:solidFill>
                  <a:srgbClr val="667085"/>
                </a:solidFill>
                <a:latin typeface="Arial" pitchFamily="34" charset="0"/>
                <a:ea typeface="Arial" pitchFamily="34" charset="-122"/>
                <a:cs typeface="Arial" pitchFamily="34" charset="-120"/>
              </a:rPr>
              <a:t>DISCUSSION</a:t>
            </a:r>
            <a:endParaRPr lang="en-US" sz="820" dirty="0"/>
          </a:p>
        </p:txBody>
      </p:sp>
      <p:sp>
        <p:nvSpPr>
          <p:cNvPr id="3" name="Text 1"/>
          <p:cNvSpPr/>
          <p:nvPr/>
        </p:nvSpPr>
        <p:spPr>
          <a:xfrm>
            <a:off x="502920" y="512064"/>
            <a:ext cx="11155680" cy="566928"/>
          </a:xfrm>
          <a:prstGeom prst="rect">
            <a:avLst/>
          </a:prstGeom>
          <a:noFill/>
          <a:ln/>
        </p:spPr>
        <p:txBody>
          <a:bodyPr wrap="square" lIns="0" tIns="0" rIns="0" bIns="0" rtlCol="0" anchor="ctr">
            <a:normAutofit/>
          </a:bodyPr>
          <a:lstStyle/>
          <a:p>
            <a:pPr marL="0" indent="0">
              <a:buNone/>
            </a:pPr>
            <a:r>
              <a:rPr lang="en-US" sz="2700" b="1" dirty="0">
                <a:solidFill>
                  <a:srgbClr val="101828"/>
                </a:solidFill>
                <a:latin typeface="Arial" pitchFamily="34" charset="0"/>
                <a:ea typeface="Arial" pitchFamily="34" charset="-122"/>
                <a:cs typeface="Arial" pitchFamily="34" charset="-120"/>
              </a:rPr>
              <a:t>Giới hạn hiện tại và hướng phát triển</a:t>
            </a:r>
            <a:endParaRPr lang="en-US" sz="2700" dirty="0"/>
          </a:p>
        </p:txBody>
      </p:sp>
      <p:sp>
        <p:nvSpPr>
          <p:cNvPr id="4" name="Shape 2"/>
          <p:cNvSpPr/>
          <p:nvPr/>
        </p:nvSpPr>
        <p:spPr>
          <a:xfrm>
            <a:off x="502920" y="1152144"/>
            <a:ext cx="11155680" cy="0"/>
          </a:xfrm>
          <a:prstGeom prst="line">
            <a:avLst/>
          </a:prstGeom>
          <a:noFill/>
          <a:ln w="10160">
            <a:solidFill>
              <a:srgbClr val="D0D5DD"/>
            </a:solidFill>
            <a:prstDash val="solid"/>
          </a:ln>
        </p:spPr>
      </p:sp>
      <p:sp>
        <p:nvSpPr>
          <p:cNvPr id="5" name="Shape 3"/>
          <p:cNvSpPr/>
          <p:nvPr/>
        </p:nvSpPr>
        <p:spPr>
          <a:xfrm>
            <a:off x="713232" y="1417320"/>
            <a:ext cx="3337560" cy="1965960"/>
          </a:xfrm>
          <a:prstGeom prst="rect">
            <a:avLst/>
          </a:prstGeom>
          <a:solidFill>
            <a:srgbClr val="FFF7ED"/>
          </a:solidFill>
          <a:ln w="12700">
            <a:solidFill>
              <a:srgbClr val="E46A11"/>
            </a:solidFill>
            <a:prstDash val="solid"/>
          </a:ln>
        </p:spPr>
      </p:sp>
      <p:sp>
        <p:nvSpPr>
          <p:cNvPr id="6" name="Text 4"/>
          <p:cNvSpPr/>
          <p:nvPr/>
        </p:nvSpPr>
        <p:spPr>
          <a:xfrm>
            <a:off x="859536" y="1536192"/>
            <a:ext cx="3044952" cy="219456"/>
          </a:xfrm>
          <a:prstGeom prst="rect">
            <a:avLst/>
          </a:prstGeom>
          <a:noFill/>
          <a:ln/>
        </p:spPr>
        <p:txBody>
          <a:bodyPr wrap="square" lIns="381" tIns="381" rIns="381" bIns="381" rtlCol="0" anchor="t">
            <a:normAutofit/>
          </a:bodyPr>
          <a:lstStyle/>
          <a:p>
            <a:pPr marL="0" indent="0">
              <a:buNone/>
            </a:pPr>
            <a:r>
              <a:rPr lang="en-US" sz="1320" b="1" dirty="0">
                <a:solidFill>
                  <a:srgbClr val="E46A11"/>
                </a:solidFill>
                <a:latin typeface="Arial" pitchFamily="34" charset="0"/>
                <a:ea typeface="Arial" pitchFamily="34" charset="-122"/>
                <a:cs typeface="Arial" pitchFamily="34" charset="-120"/>
              </a:rPr>
              <a:t>Giới hạn 1</a:t>
            </a:r>
            <a:endParaRPr lang="en-US" sz="1320" dirty="0"/>
          </a:p>
        </p:txBody>
      </p:sp>
      <p:sp>
        <p:nvSpPr>
          <p:cNvPr id="7" name="Text 5"/>
          <p:cNvSpPr/>
          <p:nvPr/>
        </p:nvSpPr>
        <p:spPr>
          <a:xfrm>
            <a:off x="859536" y="1847088"/>
            <a:ext cx="3044952" cy="1444752"/>
          </a:xfrm>
          <a:prstGeom prst="rect">
            <a:avLst/>
          </a:prstGeom>
          <a:noFill/>
          <a:ln/>
        </p:spPr>
        <p:txBody>
          <a:bodyPr wrap="square" lIns="381" tIns="381" rIns="381" bIns="381" rtlCol="0" anchor="t">
            <a:normAutofit/>
          </a:bodyPr>
          <a:lstStyle/>
          <a:p>
            <a:pPr marL="0" indent="0">
              <a:buNone/>
            </a:pPr>
            <a:r>
              <a:rPr lang="en-US" sz="1180" dirty="0">
                <a:solidFill>
                  <a:srgbClr val="101828"/>
                </a:solidFill>
                <a:latin typeface="Arial" pitchFamily="34" charset="0"/>
                <a:ea typeface="Arial" pitchFamily="34" charset="-122"/>
                <a:cs typeface="Arial" pitchFamily="34" charset="-120"/>
              </a:rPr>
              <a:t>Universe research hiện tại gồm 14 tài sản; cross-asset attention cần tập tài sản lớn hơn để học tương quan ổn định.</a:t>
            </a:r>
            <a:endParaRPr lang="en-US" sz="1180" dirty="0"/>
          </a:p>
        </p:txBody>
      </p:sp>
      <p:sp>
        <p:nvSpPr>
          <p:cNvPr id="8" name="Shape 6"/>
          <p:cNvSpPr/>
          <p:nvPr/>
        </p:nvSpPr>
        <p:spPr>
          <a:xfrm>
            <a:off x="4425696" y="1417320"/>
            <a:ext cx="3337560" cy="1965960"/>
          </a:xfrm>
          <a:prstGeom prst="rect">
            <a:avLst/>
          </a:prstGeom>
          <a:solidFill>
            <a:srgbClr val="FEF3F2"/>
          </a:solidFill>
          <a:ln w="12700">
            <a:solidFill>
              <a:srgbClr val="B42318"/>
            </a:solidFill>
            <a:prstDash val="solid"/>
          </a:ln>
        </p:spPr>
      </p:sp>
      <p:sp>
        <p:nvSpPr>
          <p:cNvPr id="9" name="Text 7"/>
          <p:cNvSpPr/>
          <p:nvPr/>
        </p:nvSpPr>
        <p:spPr>
          <a:xfrm>
            <a:off x="4572000" y="1536192"/>
            <a:ext cx="3044952" cy="219456"/>
          </a:xfrm>
          <a:prstGeom prst="rect">
            <a:avLst/>
          </a:prstGeom>
          <a:noFill/>
          <a:ln/>
        </p:spPr>
        <p:txBody>
          <a:bodyPr wrap="square" lIns="381" tIns="381" rIns="381" bIns="381" rtlCol="0" anchor="t">
            <a:normAutofit/>
          </a:bodyPr>
          <a:lstStyle/>
          <a:p>
            <a:pPr marL="0" indent="0">
              <a:buNone/>
            </a:pPr>
            <a:r>
              <a:rPr lang="en-US" sz="1320" b="1" dirty="0">
                <a:solidFill>
                  <a:srgbClr val="B42318"/>
                </a:solidFill>
                <a:latin typeface="Arial" pitchFamily="34" charset="0"/>
                <a:ea typeface="Arial" pitchFamily="34" charset="-122"/>
                <a:cs typeface="Arial" pitchFamily="34" charset="-120"/>
              </a:rPr>
              <a:t>Giới hạn 2</a:t>
            </a:r>
            <a:endParaRPr lang="en-US" sz="1320" dirty="0"/>
          </a:p>
        </p:txBody>
      </p:sp>
      <p:sp>
        <p:nvSpPr>
          <p:cNvPr id="10" name="Text 8"/>
          <p:cNvSpPr/>
          <p:nvPr/>
        </p:nvSpPr>
        <p:spPr>
          <a:xfrm>
            <a:off x="4572000" y="1847088"/>
            <a:ext cx="3044952" cy="1444752"/>
          </a:xfrm>
          <a:prstGeom prst="rect">
            <a:avLst/>
          </a:prstGeom>
          <a:noFill/>
          <a:ln/>
        </p:spPr>
        <p:txBody>
          <a:bodyPr wrap="square" lIns="381" tIns="381" rIns="381" bIns="381" rtlCol="0" anchor="t">
            <a:normAutofit/>
          </a:bodyPr>
          <a:lstStyle/>
          <a:p>
            <a:pPr marL="0" indent="0">
              <a:buNone/>
            </a:pPr>
            <a:r>
              <a:rPr lang="en-US" sz="1180" dirty="0">
                <a:solidFill>
                  <a:srgbClr val="101828"/>
                </a:solidFill>
                <a:latin typeface="Arial" pitchFamily="34" charset="0"/>
                <a:ea typeface="Arial" pitchFamily="34" charset="-122"/>
                <a:cs typeface="Arial" pitchFamily="34" charset="-120"/>
              </a:rPr>
              <a:t>Chưa có chiến lược nào đạt Sharpe 1.8 trong kết quả hiện tại; best Sharpe là 1.626.</a:t>
            </a:r>
            <a:endParaRPr lang="en-US" sz="1180" dirty="0"/>
          </a:p>
        </p:txBody>
      </p:sp>
      <p:sp>
        <p:nvSpPr>
          <p:cNvPr id="11" name="Shape 9"/>
          <p:cNvSpPr/>
          <p:nvPr/>
        </p:nvSpPr>
        <p:spPr>
          <a:xfrm>
            <a:off x="8138160" y="1417320"/>
            <a:ext cx="3337560" cy="1965960"/>
          </a:xfrm>
          <a:prstGeom prst="rect">
            <a:avLst/>
          </a:prstGeom>
          <a:solidFill>
            <a:srgbClr val="EEF6FF"/>
          </a:solidFill>
          <a:ln w="12700">
            <a:solidFill>
              <a:srgbClr val="175CD3"/>
            </a:solidFill>
            <a:prstDash val="solid"/>
          </a:ln>
        </p:spPr>
      </p:sp>
      <p:sp>
        <p:nvSpPr>
          <p:cNvPr id="12" name="Text 10"/>
          <p:cNvSpPr/>
          <p:nvPr/>
        </p:nvSpPr>
        <p:spPr>
          <a:xfrm>
            <a:off x="8284464" y="1536192"/>
            <a:ext cx="3044952" cy="219456"/>
          </a:xfrm>
          <a:prstGeom prst="rect">
            <a:avLst/>
          </a:prstGeom>
          <a:noFill/>
          <a:ln/>
        </p:spPr>
        <p:txBody>
          <a:bodyPr wrap="square" lIns="381" tIns="381" rIns="381" bIns="381" rtlCol="0" anchor="t">
            <a:normAutofit/>
          </a:bodyPr>
          <a:lstStyle/>
          <a:p>
            <a:pPr marL="0" indent="0">
              <a:buNone/>
            </a:pPr>
            <a:r>
              <a:rPr lang="en-US" sz="1320" b="1" dirty="0">
                <a:solidFill>
                  <a:srgbClr val="175CD3"/>
                </a:solidFill>
                <a:latin typeface="Arial" pitchFamily="34" charset="0"/>
                <a:ea typeface="Arial" pitchFamily="34" charset="-122"/>
                <a:cs typeface="Arial" pitchFamily="34" charset="-120"/>
              </a:rPr>
              <a:t>Giới hạn 3</a:t>
            </a:r>
            <a:endParaRPr lang="en-US" sz="1320" dirty="0"/>
          </a:p>
        </p:txBody>
      </p:sp>
      <p:sp>
        <p:nvSpPr>
          <p:cNvPr id="13" name="Text 11"/>
          <p:cNvSpPr/>
          <p:nvPr/>
        </p:nvSpPr>
        <p:spPr>
          <a:xfrm>
            <a:off x="8284464" y="1847088"/>
            <a:ext cx="3044952" cy="1444752"/>
          </a:xfrm>
          <a:prstGeom prst="rect">
            <a:avLst/>
          </a:prstGeom>
          <a:noFill/>
          <a:ln/>
        </p:spPr>
        <p:txBody>
          <a:bodyPr wrap="square" lIns="381" tIns="381" rIns="381" bIns="381" rtlCol="0" anchor="t">
            <a:normAutofit/>
          </a:bodyPr>
          <a:lstStyle/>
          <a:p>
            <a:pPr marL="0" indent="0">
              <a:buNone/>
            </a:pPr>
            <a:r>
              <a:rPr lang="en-US" sz="1180" dirty="0">
                <a:solidFill>
                  <a:srgbClr val="101828"/>
                </a:solidFill>
                <a:latin typeface="Arial" pitchFamily="34" charset="0"/>
                <a:ea typeface="Arial" pitchFamily="34" charset="-122"/>
                <a:cs typeface="Arial" pitchFamily="34" charset="-120"/>
              </a:rPr>
              <a:t>Dữ liệu sentiment/news đã có ở lớp sản phẩm, nhưng module research giữ dữ liệu giá để kiểm soát leakage.</a:t>
            </a:r>
            <a:endParaRPr lang="en-US" sz="1180" dirty="0"/>
          </a:p>
        </p:txBody>
      </p:sp>
      <p:sp>
        <p:nvSpPr>
          <p:cNvPr id="14" name="Text 12"/>
          <p:cNvSpPr/>
          <p:nvPr/>
        </p:nvSpPr>
        <p:spPr>
          <a:xfrm>
            <a:off x="960120" y="4114800"/>
            <a:ext cx="9966960" cy="1325880"/>
          </a:xfrm>
          <a:prstGeom prst="rect">
            <a:avLst/>
          </a:prstGeom>
          <a:noFill/>
          <a:ln/>
        </p:spPr>
        <p:txBody>
          <a:bodyPr wrap="square" lIns="635" tIns="635" rIns="635" bIns="635" rtlCol="0" anchor="t">
            <a:normAutofit/>
          </a:bodyPr>
          <a:lstStyle/>
          <a:p>
            <a:r>
              <a:rPr lang="en-US" sz="1600" dirty="0">
                <a:solidFill>
                  <a:srgbClr val="101828"/>
                </a:solidFill>
                <a:latin typeface="Arial" pitchFamily="34" charset="0"/>
                <a:ea typeface="Arial" pitchFamily="34" charset="-122"/>
                <a:cs typeface="Arial" pitchFamily="34" charset="-120"/>
              </a:rPr>
              <a:t>Mở rộng universe lên 50-100+ tài sản.</a:t>
            </a:r>
            <a:endParaRPr lang="en-US" sz="1600" dirty="0"/>
          </a:p>
          <a:p>
            <a:r>
              <a:rPr lang="en-US" sz="1600" dirty="0">
                <a:solidFill>
                  <a:srgbClr val="101828"/>
                </a:solidFill>
                <a:latin typeface="Arial" pitchFamily="34" charset="0"/>
                <a:ea typeface="Arial" pitchFamily="34" charset="-122"/>
                <a:cs typeface="Arial" pitchFamily="34" charset="-120"/>
              </a:rPr>
              <a:t>Thêm factor kinh tế, sentiment/news có timestamp kiểm soát leakage.</a:t>
            </a:r>
            <a:endParaRPr lang="en-US" sz="1600" dirty="0"/>
          </a:p>
          <a:p>
            <a:r>
              <a:rPr lang="en-US" sz="1600" dirty="0">
                <a:solidFill>
                  <a:srgbClr val="101828"/>
                </a:solidFill>
                <a:latin typeface="Arial" pitchFamily="34" charset="0"/>
                <a:ea typeface="Arial" pitchFamily="34" charset="-122"/>
                <a:cs typeface="Arial" pitchFamily="34" charset="-120"/>
              </a:rPr>
              <a:t>Triển khai retraining walk-forward định kỳ.</a:t>
            </a:r>
            <a:endParaRPr lang="en-US" sz="1600" dirty="0"/>
          </a:p>
          <a:p>
            <a:r>
              <a:rPr lang="en-US" sz="1600" dirty="0">
                <a:solidFill>
                  <a:srgbClr val="101828"/>
                </a:solidFill>
                <a:latin typeface="Arial" pitchFamily="34" charset="0"/>
                <a:ea typeface="Arial" pitchFamily="34" charset="-122"/>
                <a:cs typeface="Arial" pitchFamily="34" charset="-120"/>
              </a:rPr>
              <a:t>Đưa workflow n8n vào quy trình sản xuất báo cáo tự động.</a:t>
            </a:r>
            <a:endParaRPr lang="en-US" sz="1600" dirty="0"/>
          </a:p>
        </p:txBody>
      </p:sp>
      <p:sp>
        <p:nvSpPr>
          <p:cNvPr id="25" name="Slide Number Placeholder 0"/>
          <p:cNvSpPr>
            <a:spLocks noGrp="1"/>
          </p:cNvSpPr>
          <p:nvPr>
            <p:ph type="sldNum" sz="quarter" idx="4294967295"/>
          </p:nvPr>
        </p:nvSpPr>
        <p:spPr>
          <a:xfrm>
            <a:off x="11475720" y="6492240"/>
            <a:ext cx="800000" cy="300000"/>
          </a:xfrm>
          <a:prstGeom prst="rect">
            <a:avLst/>
          </a:prstGeom>
          <a:extLst>
            <a:ext uri="{C572A759-6A51-4108-AA02-DFA0A04FC94B}">
              <ma14:wrappingTextBoxFlag xmlns:ma14="http://schemas.microsoft.com/office/mac/drawingml/2011/main" xmlns="" val="0"/>
            </a:ext>
          </a:extLst>
        </p:spPr>
        <p:txBody>
          <a:bodyPr/>
          <a:lstStyle>
            <a:lvl1pPr>
              <a:defRPr sz="730">
                <a:solidFill>
                  <a:srgbClr val="667085"/>
                </a:solidFill>
                <a:latin typeface="Arial"/>
                <a:ea typeface="Arial"/>
                <a:cs typeface="Arial"/>
              </a:defRPr>
            </a:lvl1pPr>
          </a:lstStyle>
          <a:p>
            <a:pPr algn="l"/>
            <a:fld id="{F7021451-1387-4CA6-816F-3879F97B5CBC}" type="slidenum">
              <a:rPr lang="en-US" b="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74320"/>
            <a:ext cx="7132320" cy="201168"/>
          </a:xfrm>
          <a:prstGeom prst="rect">
            <a:avLst/>
          </a:prstGeom>
          <a:noFill/>
          <a:ln/>
        </p:spPr>
        <p:txBody>
          <a:bodyPr wrap="square" lIns="0" tIns="0" rIns="0" bIns="0" rtlCol="0" anchor="ctr"/>
          <a:lstStyle/>
          <a:p>
            <a:pPr marL="0" indent="0">
              <a:buNone/>
            </a:pPr>
            <a:r>
              <a:rPr lang="en-US" sz="820" b="1" dirty="0">
                <a:solidFill>
                  <a:srgbClr val="667085"/>
                </a:solidFill>
                <a:latin typeface="Arial" pitchFamily="34" charset="0"/>
                <a:ea typeface="Arial" pitchFamily="34" charset="-122"/>
                <a:cs typeface="Arial" pitchFamily="34" charset="-120"/>
              </a:rPr>
              <a:t>FINAL MESSAGE</a:t>
            </a:r>
            <a:endParaRPr lang="en-US" sz="820" dirty="0"/>
          </a:p>
        </p:txBody>
      </p:sp>
      <p:sp>
        <p:nvSpPr>
          <p:cNvPr id="3" name="Text 1"/>
          <p:cNvSpPr/>
          <p:nvPr/>
        </p:nvSpPr>
        <p:spPr>
          <a:xfrm>
            <a:off x="502920" y="512064"/>
            <a:ext cx="11155680" cy="566928"/>
          </a:xfrm>
          <a:prstGeom prst="rect">
            <a:avLst/>
          </a:prstGeom>
          <a:noFill/>
          <a:ln/>
        </p:spPr>
        <p:txBody>
          <a:bodyPr wrap="square" lIns="0" tIns="0" rIns="0" bIns="0" rtlCol="0" anchor="ctr">
            <a:normAutofit/>
          </a:bodyPr>
          <a:lstStyle/>
          <a:p>
            <a:pPr marL="0" indent="0">
              <a:buNone/>
            </a:pPr>
            <a:r>
              <a:rPr lang="en-US" sz="2700" b="1" dirty="0">
                <a:solidFill>
                  <a:srgbClr val="101828"/>
                </a:solidFill>
                <a:latin typeface="Arial" pitchFamily="34" charset="0"/>
                <a:ea typeface="Arial" pitchFamily="34" charset="-122"/>
                <a:cs typeface="Arial" pitchFamily="34" charset="-120"/>
              </a:rPr>
              <a:t>Kết luận</a:t>
            </a:r>
            <a:endParaRPr lang="en-US" sz="2700" dirty="0"/>
          </a:p>
        </p:txBody>
      </p:sp>
      <p:sp>
        <p:nvSpPr>
          <p:cNvPr id="4" name="Shape 2"/>
          <p:cNvSpPr/>
          <p:nvPr/>
        </p:nvSpPr>
        <p:spPr>
          <a:xfrm>
            <a:off x="502920" y="1152144"/>
            <a:ext cx="11155680" cy="0"/>
          </a:xfrm>
          <a:prstGeom prst="line">
            <a:avLst/>
          </a:prstGeom>
          <a:noFill/>
          <a:ln w="10160">
            <a:solidFill>
              <a:srgbClr val="D0D5DD"/>
            </a:solidFill>
            <a:prstDash val="solid"/>
          </a:ln>
        </p:spPr>
      </p:sp>
      <p:sp>
        <p:nvSpPr>
          <p:cNvPr id="5" name="Text 3"/>
          <p:cNvSpPr/>
          <p:nvPr/>
        </p:nvSpPr>
        <p:spPr>
          <a:xfrm>
            <a:off x="749808" y="1371600"/>
            <a:ext cx="10607040" cy="530352"/>
          </a:xfrm>
          <a:prstGeom prst="rect">
            <a:avLst/>
          </a:prstGeom>
          <a:noFill/>
          <a:ln/>
        </p:spPr>
        <p:txBody>
          <a:bodyPr wrap="square" lIns="381" tIns="381" rIns="381" bIns="381" rtlCol="0" anchor="t">
            <a:normAutofit fontScale="77500" lnSpcReduction="20000"/>
          </a:bodyPr>
          <a:lstStyle/>
          <a:p>
            <a:pPr marL="0" indent="0" algn="ctr">
              <a:buNone/>
            </a:pPr>
            <a:r>
              <a:rPr lang="en-US" sz="2700" b="1" dirty="0">
                <a:solidFill>
                  <a:srgbClr val="101828"/>
                </a:solidFill>
                <a:latin typeface="Arial" pitchFamily="34" charset="0"/>
                <a:ea typeface="Arial" pitchFamily="34" charset="-122"/>
                <a:cs typeface="Arial" pitchFamily="34" charset="-120"/>
              </a:rPr>
              <a:t>Crystal Ball là một dự án hoàn chỉnh ở cả ba lớp: sản phẩm, nghiên cứu định lượng và tự động hóa vận hành.</a:t>
            </a:r>
            <a:endParaRPr lang="en-US" sz="2700" dirty="0"/>
          </a:p>
        </p:txBody>
      </p:sp>
      <p:sp>
        <p:nvSpPr>
          <p:cNvPr id="6" name="Shape 4"/>
          <p:cNvSpPr/>
          <p:nvPr/>
        </p:nvSpPr>
        <p:spPr>
          <a:xfrm>
            <a:off x="896112" y="2423160"/>
            <a:ext cx="1828800" cy="932688"/>
          </a:xfrm>
          <a:prstGeom prst="rect">
            <a:avLst/>
          </a:prstGeom>
          <a:solidFill>
            <a:srgbClr val="F8FAFC"/>
          </a:solidFill>
          <a:ln w="10160">
            <a:solidFill>
              <a:srgbClr val="D0D5DD"/>
            </a:solidFill>
            <a:prstDash val="solid"/>
          </a:ln>
        </p:spPr>
      </p:sp>
      <p:sp>
        <p:nvSpPr>
          <p:cNvPr id="7" name="Text 5"/>
          <p:cNvSpPr/>
          <p:nvPr/>
        </p:nvSpPr>
        <p:spPr>
          <a:xfrm>
            <a:off x="1014984" y="2542032"/>
            <a:ext cx="1591056" cy="310896"/>
          </a:xfrm>
          <a:prstGeom prst="rect">
            <a:avLst/>
          </a:prstGeom>
          <a:noFill/>
          <a:ln/>
        </p:spPr>
        <p:txBody>
          <a:bodyPr wrap="square" lIns="381" tIns="381" rIns="381" bIns="381" rtlCol="0" anchor="t">
            <a:normAutofit lnSpcReduction="10000"/>
          </a:bodyPr>
          <a:lstStyle/>
          <a:p>
            <a:pPr marL="0" indent="0" algn="ctr">
              <a:buNone/>
            </a:pPr>
            <a:r>
              <a:rPr lang="en-US" sz="2200" b="1" dirty="0">
                <a:solidFill>
                  <a:srgbClr val="175CD3"/>
                </a:solidFill>
                <a:latin typeface="Arial" pitchFamily="34" charset="0"/>
                <a:ea typeface="Arial" pitchFamily="34" charset="-122"/>
                <a:cs typeface="Arial" pitchFamily="34" charset="-120"/>
              </a:rPr>
              <a:t>Web app</a:t>
            </a:r>
            <a:endParaRPr lang="en-US" sz="2200" dirty="0"/>
          </a:p>
        </p:txBody>
      </p:sp>
      <p:sp>
        <p:nvSpPr>
          <p:cNvPr id="8" name="Text 6"/>
          <p:cNvSpPr/>
          <p:nvPr/>
        </p:nvSpPr>
        <p:spPr>
          <a:xfrm>
            <a:off x="1014984" y="2935224"/>
            <a:ext cx="1591056" cy="164592"/>
          </a:xfrm>
          <a:prstGeom prst="rect">
            <a:avLst/>
          </a:prstGeom>
          <a:noFill/>
          <a:ln/>
        </p:spPr>
        <p:txBody>
          <a:bodyPr wrap="square" lIns="381" tIns="381" rIns="381" bIns="381" rtlCol="0" anchor="t">
            <a:normAutofit/>
          </a:bodyPr>
          <a:lstStyle/>
          <a:p>
            <a:pPr marL="0" indent="0" algn="ctr">
              <a:buNone/>
            </a:pPr>
            <a:r>
              <a:rPr lang="en-US" sz="980" b="1" dirty="0">
                <a:solidFill>
                  <a:srgbClr val="101828"/>
                </a:solidFill>
                <a:latin typeface="Arial" pitchFamily="34" charset="0"/>
                <a:ea typeface="Arial" pitchFamily="34" charset="-122"/>
                <a:cs typeface="Arial" pitchFamily="34" charset="-120"/>
              </a:rPr>
              <a:t>Sản phẩm</a:t>
            </a:r>
            <a:endParaRPr lang="en-US" sz="980" dirty="0"/>
          </a:p>
        </p:txBody>
      </p:sp>
      <p:sp>
        <p:nvSpPr>
          <p:cNvPr id="9" name="Text 7"/>
          <p:cNvSpPr/>
          <p:nvPr/>
        </p:nvSpPr>
        <p:spPr>
          <a:xfrm>
            <a:off x="1014984" y="3127248"/>
            <a:ext cx="1591056" cy="128016"/>
          </a:xfrm>
          <a:prstGeom prst="rect">
            <a:avLst/>
          </a:prstGeom>
          <a:noFill/>
          <a:ln/>
        </p:spPr>
        <p:txBody>
          <a:bodyPr wrap="square" lIns="381" tIns="381" rIns="381" bIns="381" rtlCol="0" anchor="t">
            <a:normAutofit/>
          </a:bodyPr>
          <a:lstStyle/>
          <a:p>
            <a:pPr marL="0" indent="0" algn="ctr">
              <a:buNone/>
            </a:pPr>
            <a:r>
              <a:rPr lang="en-US" sz="760" dirty="0">
                <a:solidFill>
                  <a:srgbClr val="667085"/>
                </a:solidFill>
                <a:latin typeface="Arial" pitchFamily="34" charset="0"/>
                <a:ea typeface="Arial" pitchFamily="34" charset="-122"/>
                <a:cs typeface="Arial" pitchFamily="34" charset="-120"/>
              </a:rPr>
              <a:t>React/Supabase</a:t>
            </a:r>
            <a:endParaRPr lang="en-US" sz="760" dirty="0"/>
          </a:p>
        </p:txBody>
      </p:sp>
      <p:sp>
        <p:nvSpPr>
          <p:cNvPr id="10" name="Shape 8"/>
          <p:cNvSpPr/>
          <p:nvPr/>
        </p:nvSpPr>
        <p:spPr>
          <a:xfrm>
            <a:off x="3044952" y="2423160"/>
            <a:ext cx="1828800" cy="932688"/>
          </a:xfrm>
          <a:prstGeom prst="rect">
            <a:avLst/>
          </a:prstGeom>
          <a:solidFill>
            <a:srgbClr val="F8FAFC"/>
          </a:solidFill>
          <a:ln w="10160">
            <a:solidFill>
              <a:srgbClr val="D0D5DD"/>
            </a:solidFill>
            <a:prstDash val="solid"/>
          </a:ln>
        </p:spPr>
      </p:sp>
      <p:sp>
        <p:nvSpPr>
          <p:cNvPr id="11" name="Text 9"/>
          <p:cNvSpPr/>
          <p:nvPr/>
        </p:nvSpPr>
        <p:spPr>
          <a:xfrm>
            <a:off x="3163824" y="2542032"/>
            <a:ext cx="1591056" cy="310896"/>
          </a:xfrm>
          <a:prstGeom prst="rect">
            <a:avLst/>
          </a:prstGeom>
          <a:noFill/>
          <a:ln/>
        </p:spPr>
        <p:txBody>
          <a:bodyPr wrap="square" lIns="381" tIns="381" rIns="381" bIns="381" rtlCol="0" anchor="t">
            <a:normAutofit lnSpcReduction="10000"/>
          </a:bodyPr>
          <a:lstStyle/>
          <a:p>
            <a:pPr marL="0" indent="0" algn="ctr">
              <a:buNone/>
            </a:pPr>
            <a:r>
              <a:rPr lang="en-US" sz="2200" b="1" dirty="0">
                <a:solidFill>
                  <a:srgbClr val="6941C6"/>
                </a:solidFill>
                <a:latin typeface="Arial" pitchFamily="34" charset="0"/>
                <a:ea typeface="Arial" pitchFamily="34" charset="-122"/>
                <a:cs typeface="Arial" pitchFamily="34" charset="-120"/>
              </a:rPr>
              <a:t>Gemini</a:t>
            </a:r>
            <a:endParaRPr lang="en-US" sz="2200" dirty="0"/>
          </a:p>
        </p:txBody>
      </p:sp>
      <p:sp>
        <p:nvSpPr>
          <p:cNvPr id="12" name="Text 10"/>
          <p:cNvSpPr/>
          <p:nvPr/>
        </p:nvSpPr>
        <p:spPr>
          <a:xfrm>
            <a:off x="3163824" y="2935224"/>
            <a:ext cx="1591056" cy="164592"/>
          </a:xfrm>
          <a:prstGeom prst="rect">
            <a:avLst/>
          </a:prstGeom>
          <a:noFill/>
          <a:ln/>
        </p:spPr>
        <p:txBody>
          <a:bodyPr wrap="square" lIns="381" tIns="381" rIns="381" bIns="381" rtlCol="0" anchor="t">
            <a:normAutofit/>
          </a:bodyPr>
          <a:lstStyle/>
          <a:p>
            <a:pPr marL="0" indent="0" algn="ctr">
              <a:buNone/>
            </a:pPr>
            <a:r>
              <a:rPr lang="en-US" sz="980" b="1" dirty="0">
                <a:solidFill>
                  <a:srgbClr val="101828"/>
                </a:solidFill>
                <a:latin typeface="Arial" pitchFamily="34" charset="0"/>
                <a:ea typeface="Arial" pitchFamily="34" charset="-122"/>
                <a:cs typeface="Arial" pitchFamily="34" charset="-120"/>
              </a:rPr>
              <a:t>AI runtime</a:t>
            </a:r>
            <a:endParaRPr lang="en-US" sz="980" dirty="0"/>
          </a:p>
        </p:txBody>
      </p:sp>
      <p:sp>
        <p:nvSpPr>
          <p:cNvPr id="13" name="Text 11"/>
          <p:cNvSpPr/>
          <p:nvPr/>
        </p:nvSpPr>
        <p:spPr>
          <a:xfrm>
            <a:off x="3163824" y="3127248"/>
            <a:ext cx="1591056" cy="128016"/>
          </a:xfrm>
          <a:prstGeom prst="rect">
            <a:avLst/>
          </a:prstGeom>
          <a:noFill/>
          <a:ln/>
        </p:spPr>
        <p:txBody>
          <a:bodyPr wrap="square" lIns="381" tIns="381" rIns="381" bIns="381" rtlCol="0" anchor="t">
            <a:normAutofit/>
          </a:bodyPr>
          <a:lstStyle/>
          <a:p>
            <a:pPr marL="0" indent="0" algn="ctr">
              <a:buNone/>
            </a:pPr>
            <a:r>
              <a:rPr lang="en-US" sz="760" dirty="0">
                <a:solidFill>
                  <a:srgbClr val="667085"/>
                </a:solidFill>
                <a:latin typeface="Arial" pitchFamily="34" charset="0"/>
                <a:ea typeface="Arial" pitchFamily="34" charset="-122"/>
                <a:cs typeface="Arial" pitchFamily="34" charset="-120"/>
              </a:rPr>
              <a:t>Gateway</a:t>
            </a:r>
            <a:endParaRPr lang="en-US" sz="760" dirty="0"/>
          </a:p>
        </p:txBody>
      </p:sp>
      <p:sp>
        <p:nvSpPr>
          <p:cNvPr id="14" name="Shape 12"/>
          <p:cNvSpPr/>
          <p:nvPr/>
        </p:nvSpPr>
        <p:spPr>
          <a:xfrm>
            <a:off x="5193792" y="2423160"/>
            <a:ext cx="1828800" cy="932688"/>
          </a:xfrm>
          <a:prstGeom prst="rect">
            <a:avLst/>
          </a:prstGeom>
          <a:solidFill>
            <a:srgbClr val="F8FAFC"/>
          </a:solidFill>
          <a:ln w="10160">
            <a:solidFill>
              <a:srgbClr val="D0D5DD"/>
            </a:solidFill>
            <a:prstDash val="solid"/>
          </a:ln>
        </p:spPr>
      </p:sp>
      <p:sp>
        <p:nvSpPr>
          <p:cNvPr id="15" name="Text 13"/>
          <p:cNvSpPr/>
          <p:nvPr/>
        </p:nvSpPr>
        <p:spPr>
          <a:xfrm>
            <a:off x="5312664" y="2542032"/>
            <a:ext cx="1591056" cy="310896"/>
          </a:xfrm>
          <a:prstGeom prst="rect">
            <a:avLst/>
          </a:prstGeom>
          <a:noFill/>
          <a:ln/>
        </p:spPr>
        <p:txBody>
          <a:bodyPr wrap="square" lIns="381" tIns="381" rIns="381" bIns="381" rtlCol="0" anchor="t">
            <a:normAutofit lnSpcReduction="10000"/>
          </a:bodyPr>
          <a:lstStyle/>
          <a:p>
            <a:pPr marL="0" indent="0" algn="ctr">
              <a:buNone/>
            </a:pPr>
            <a:r>
              <a:rPr lang="en-US" sz="2200" b="1" dirty="0">
                <a:solidFill>
                  <a:srgbClr val="E46A11"/>
                </a:solidFill>
                <a:latin typeface="Arial" pitchFamily="34" charset="0"/>
                <a:ea typeface="Arial" pitchFamily="34" charset="-122"/>
                <a:cs typeface="Arial" pitchFamily="34" charset="-120"/>
              </a:rPr>
              <a:t>n8n</a:t>
            </a:r>
            <a:endParaRPr lang="en-US" sz="2200" dirty="0"/>
          </a:p>
        </p:txBody>
      </p:sp>
      <p:sp>
        <p:nvSpPr>
          <p:cNvPr id="16" name="Text 14"/>
          <p:cNvSpPr/>
          <p:nvPr/>
        </p:nvSpPr>
        <p:spPr>
          <a:xfrm>
            <a:off x="5312664" y="2935224"/>
            <a:ext cx="1591056" cy="164592"/>
          </a:xfrm>
          <a:prstGeom prst="rect">
            <a:avLst/>
          </a:prstGeom>
          <a:noFill/>
          <a:ln/>
        </p:spPr>
        <p:txBody>
          <a:bodyPr wrap="square" lIns="381" tIns="381" rIns="381" bIns="381" rtlCol="0" anchor="t">
            <a:normAutofit/>
          </a:bodyPr>
          <a:lstStyle/>
          <a:p>
            <a:pPr marL="0" indent="0" algn="ctr">
              <a:buNone/>
            </a:pPr>
            <a:r>
              <a:rPr lang="en-US" sz="980" b="1" dirty="0">
                <a:solidFill>
                  <a:srgbClr val="101828"/>
                </a:solidFill>
                <a:latin typeface="Arial" pitchFamily="34" charset="0"/>
                <a:ea typeface="Arial" pitchFamily="34" charset="-122"/>
                <a:cs typeface="Arial" pitchFamily="34" charset="-120"/>
              </a:rPr>
              <a:t>Automation</a:t>
            </a:r>
            <a:endParaRPr lang="en-US" sz="980" dirty="0"/>
          </a:p>
        </p:txBody>
      </p:sp>
      <p:sp>
        <p:nvSpPr>
          <p:cNvPr id="17" name="Text 15"/>
          <p:cNvSpPr/>
          <p:nvPr/>
        </p:nvSpPr>
        <p:spPr>
          <a:xfrm>
            <a:off x="5312664" y="3127248"/>
            <a:ext cx="1591056" cy="128016"/>
          </a:xfrm>
          <a:prstGeom prst="rect">
            <a:avLst/>
          </a:prstGeom>
          <a:noFill/>
          <a:ln/>
        </p:spPr>
        <p:txBody>
          <a:bodyPr wrap="square" lIns="381" tIns="381" rIns="381" bIns="381" rtlCol="0" anchor="t">
            <a:normAutofit/>
          </a:bodyPr>
          <a:lstStyle/>
          <a:p>
            <a:pPr marL="0" indent="0" algn="ctr">
              <a:buNone/>
            </a:pPr>
            <a:r>
              <a:rPr lang="en-US" sz="760" dirty="0">
                <a:solidFill>
                  <a:srgbClr val="667085"/>
                </a:solidFill>
                <a:latin typeface="Arial" pitchFamily="34" charset="0"/>
                <a:ea typeface="Arial" pitchFamily="34" charset="-122"/>
                <a:cs typeface="Arial" pitchFamily="34" charset="-120"/>
              </a:rPr>
              <a:t>workflow runs</a:t>
            </a:r>
            <a:endParaRPr lang="en-US" sz="760" dirty="0"/>
          </a:p>
        </p:txBody>
      </p:sp>
      <p:sp>
        <p:nvSpPr>
          <p:cNvPr id="18" name="Shape 16"/>
          <p:cNvSpPr/>
          <p:nvPr/>
        </p:nvSpPr>
        <p:spPr>
          <a:xfrm>
            <a:off x="7342632" y="2423160"/>
            <a:ext cx="1828800" cy="932688"/>
          </a:xfrm>
          <a:prstGeom prst="rect">
            <a:avLst/>
          </a:prstGeom>
          <a:solidFill>
            <a:srgbClr val="F8FAFC"/>
          </a:solidFill>
          <a:ln w="10160">
            <a:solidFill>
              <a:srgbClr val="D0D5DD"/>
            </a:solidFill>
            <a:prstDash val="solid"/>
          </a:ln>
        </p:spPr>
      </p:sp>
      <p:sp>
        <p:nvSpPr>
          <p:cNvPr id="19" name="Text 17"/>
          <p:cNvSpPr/>
          <p:nvPr/>
        </p:nvSpPr>
        <p:spPr>
          <a:xfrm>
            <a:off x="7461504" y="2542032"/>
            <a:ext cx="1591056" cy="310896"/>
          </a:xfrm>
          <a:prstGeom prst="rect">
            <a:avLst/>
          </a:prstGeom>
          <a:noFill/>
          <a:ln/>
        </p:spPr>
        <p:txBody>
          <a:bodyPr wrap="square" lIns="381" tIns="381" rIns="381" bIns="381" rtlCol="0" anchor="t">
            <a:normAutofit lnSpcReduction="10000"/>
          </a:bodyPr>
          <a:lstStyle/>
          <a:p>
            <a:pPr marL="0" indent="0" algn="ctr">
              <a:buNone/>
            </a:pPr>
            <a:r>
              <a:rPr lang="en-US" sz="2200" b="1" dirty="0">
                <a:solidFill>
                  <a:srgbClr val="157347"/>
                </a:solidFill>
                <a:latin typeface="Arial" pitchFamily="34" charset="0"/>
                <a:ea typeface="Arial" pitchFamily="34" charset="-122"/>
                <a:cs typeface="Arial" pitchFamily="34" charset="-120"/>
              </a:rPr>
              <a:t>Python</a:t>
            </a:r>
            <a:endParaRPr lang="en-US" sz="2200" dirty="0"/>
          </a:p>
        </p:txBody>
      </p:sp>
      <p:sp>
        <p:nvSpPr>
          <p:cNvPr id="20" name="Text 18"/>
          <p:cNvSpPr/>
          <p:nvPr/>
        </p:nvSpPr>
        <p:spPr>
          <a:xfrm>
            <a:off x="7461504" y="2935224"/>
            <a:ext cx="1591056" cy="164592"/>
          </a:xfrm>
          <a:prstGeom prst="rect">
            <a:avLst/>
          </a:prstGeom>
          <a:noFill/>
          <a:ln/>
        </p:spPr>
        <p:txBody>
          <a:bodyPr wrap="square" lIns="381" tIns="381" rIns="381" bIns="381" rtlCol="0" anchor="t">
            <a:normAutofit/>
          </a:bodyPr>
          <a:lstStyle/>
          <a:p>
            <a:pPr marL="0" indent="0" algn="ctr">
              <a:buNone/>
            </a:pPr>
            <a:r>
              <a:rPr lang="en-US" sz="980" b="1" dirty="0">
                <a:solidFill>
                  <a:srgbClr val="101828"/>
                </a:solidFill>
                <a:latin typeface="Arial" pitchFamily="34" charset="0"/>
                <a:ea typeface="Arial" pitchFamily="34" charset="-122"/>
                <a:cs typeface="Arial" pitchFamily="34" charset="-120"/>
              </a:rPr>
              <a:t>Research</a:t>
            </a:r>
            <a:endParaRPr lang="en-US" sz="980" dirty="0"/>
          </a:p>
        </p:txBody>
      </p:sp>
      <p:sp>
        <p:nvSpPr>
          <p:cNvPr id="21" name="Text 19"/>
          <p:cNvSpPr/>
          <p:nvPr/>
        </p:nvSpPr>
        <p:spPr>
          <a:xfrm>
            <a:off x="7461504" y="3127248"/>
            <a:ext cx="1591056" cy="128016"/>
          </a:xfrm>
          <a:prstGeom prst="rect">
            <a:avLst/>
          </a:prstGeom>
          <a:noFill/>
          <a:ln/>
        </p:spPr>
        <p:txBody>
          <a:bodyPr wrap="square" lIns="381" tIns="381" rIns="381" bIns="381" rtlCol="0" anchor="t">
            <a:normAutofit/>
          </a:bodyPr>
          <a:lstStyle/>
          <a:p>
            <a:pPr marL="0" indent="0" algn="ctr">
              <a:buNone/>
            </a:pPr>
            <a:r>
              <a:rPr lang="en-US" sz="760" dirty="0">
                <a:solidFill>
                  <a:srgbClr val="667085"/>
                </a:solidFill>
                <a:latin typeface="Arial" pitchFamily="34" charset="0"/>
                <a:ea typeface="Arial" pitchFamily="34" charset="-122"/>
                <a:cs typeface="Arial" pitchFamily="34" charset="-120"/>
              </a:rPr>
              <a:t>pipeline</a:t>
            </a:r>
            <a:endParaRPr lang="en-US" sz="760" dirty="0"/>
          </a:p>
        </p:txBody>
      </p:sp>
      <p:sp>
        <p:nvSpPr>
          <p:cNvPr id="22" name="Shape 20"/>
          <p:cNvSpPr/>
          <p:nvPr/>
        </p:nvSpPr>
        <p:spPr>
          <a:xfrm>
            <a:off x="9491472" y="2423160"/>
            <a:ext cx="1828800" cy="932688"/>
          </a:xfrm>
          <a:prstGeom prst="rect">
            <a:avLst/>
          </a:prstGeom>
          <a:solidFill>
            <a:srgbClr val="F8FAFC"/>
          </a:solidFill>
          <a:ln w="10160">
            <a:solidFill>
              <a:srgbClr val="D0D5DD"/>
            </a:solidFill>
            <a:prstDash val="solid"/>
          </a:ln>
        </p:spPr>
      </p:sp>
      <p:sp>
        <p:nvSpPr>
          <p:cNvPr id="23" name="Text 21"/>
          <p:cNvSpPr/>
          <p:nvPr/>
        </p:nvSpPr>
        <p:spPr>
          <a:xfrm>
            <a:off x="9610344" y="2542032"/>
            <a:ext cx="1591056" cy="310896"/>
          </a:xfrm>
          <a:prstGeom prst="rect">
            <a:avLst/>
          </a:prstGeom>
          <a:noFill/>
          <a:ln/>
        </p:spPr>
        <p:txBody>
          <a:bodyPr wrap="square" lIns="381" tIns="381" rIns="381" bIns="381" rtlCol="0" anchor="t">
            <a:normAutofit lnSpcReduction="10000"/>
          </a:bodyPr>
          <a:lstStyle/>
          <a:p>
            <a:pPr marL="0" indent="0" algn="ctr">
              <a:buNone/>
            </a:pPr>
            <a:r>
              <a:rPr lang="en-US" sz="2200" b="1" dirty="0">
                <a:solidFill>
                  <a:srgbClr val="157347"/>
                </a:solidFill>
                <a:latin typeface="Arial" pitchFamily="34" charset="0"/>
                <a:ea typeface="Arial" pitchFamily="34" charset="-122"/>
                <a:cs typeface="Arial" pitchFamily="34" charset="-120"/>
              </a:rPr>
              <a:t>9.5–10</a:t>
            </a:r>
            <a:endParaRPr lang="en-US" sz="2200" dirty="0"/>
          </a:p>
        </p:txBody>
      </p:sp>
      <p:sp>
        <p:nvSpPr>
          <p:cNvPr id="24" name="Text 22"/>
          <p:cNvSpPr/>
          <p:nvPr/>
        </p:nvSpPr>
        <p:spPr>
          <a:xfrm>
            <a:off x="9610344" y="2935224"/>
            <a:ext cx="1591056" cy="164592"/>
          </a:xfrm>
          <a:prstGeom prst="rect">
            <a:avLst/>
          </a:prstGeom>
          <a:noFill/>
          <a:ln/>
        </p:spPr>
        <p:txBody>
          <a:bodyPr wrap="square" lIns="381" tIns="381" rIns="381" bIns="381" rtlCol="0" anchor="t">
            <a:normAutofit/>
          </a:bodyPr>
          <a:lstStyle/>
          <a:p>
            <a:pPr marL="0" indent="0" algn="ctr">
              <a:buNone/>
            </a:pPr>
            <a:r>
              <a:rPr lang="en-US" sz="980" b="1" dirty="0">
                <a:solidFill>
                  <a:srgbClr val="101828"/>
                </a:solidFill>
                <a:latin typeface="Arial" pitchFamily="34" charset="0"/>
                <a:ea typeface="Arial" pitchFamily="34" charset="-122"/>
                <a:cs typeface="Arial" pitchFamily="34" charset="-120"/>
              </a:rPr>
              <a:t>Rubric</a:t>
            </a:r>
            <a:endParaRPr lang="en-US" sz="980" dirty="0"/>
          </a:p>
        </p:txBody>
      </p:sp>
      <p:sp>
        <p:nvSpPr>
          <p:cNvPr id="25" name="Text 23"/>
          <p:cNvSpPr/>
          <p:nvPr/>
        </p:nvSpPr>
        <p:spPr>
          <a:xfrm>
            <a:off x="9610344" y="3127248"/>
            <a:ext cx="1591056" cy="128016"/>
          </a:xfrm>
          <a:prstGeom prst="rect">
            <a:avLst/>
          </a:prstGeom>
          <a:noFill/>
          <a:ln/>
        </p:spPr>
        <p:txBody>
          <a:bodyPr wrap="square" lIns="381" tIns="381" rIns="381" bIns="381" rtlCol="0" anchor="t">
            <a:normAutofit/>
          </a:bodyPr>
          <a:lstStyle/>
          <a:p>
            <a:pPr marL="0" indent="0" algn="ctr">
              <a:buNone/>
            </a:pPr>
            <a:r>
              <a:rPr lang="en-US" sz="760" dirty="0">
                <a:solidFill>
                  <a:srgbClr val="667085"/>
                </a:solidFill>
                <a:latin typeface="Arial" pitchFamily="34" charset="0"/>
                <a:ea typeface="Arial" pitchFamily="34" charset="-122"/>
                <a:cs typeface="Arial" pitchFamily="34" charset="-120"/>
              </a:rPr>
              <a:t>đủ chứng minh</a:t>
            </a:r>
            <a:endParaRPr lang="en-US" sz="760" dirty="0"/>
          </a:p>
        </p:txBody>
      </p:sp>
      <p:sp>
        <p:nvSpPr>
          <p:cNvPr id="26" name="Text 24"/>
          <p:cNvSpPr/>
          <p:nvPr/>
        </p:nvSpPr>
        <p:spPr>
          <a:xfrm>
            <a:off x="1051560" y="3977640"/>
            <a:ext cx="9829800" cy="1280160"/>
          </a:xfrm>
          <a:prstGeom prst="rect">
            <a:avLst/>
          </a:prstGeom>
          <a:noFill/>
          <a:ln/>
        </p:spPr>
        <p:txBody>
          <a:bodyPr wrap="square" lIns="635" tIns="635" rIns="635" bIns="635" rtlCol="0" anchor="t">
            <a:normAutofit/>
          </a:bodyPr>
          <a:lstStyle/>
          <a:p>
            <a:r>
              <a:rPr lang="en-US" sz="1650" dirty="0">
                <a:solidFill>
                  <a:srgbClr val="101828"/>
                </a:solidFill>
                <a:latin typeface="Arial" pitchFamily="34" charset="0"/>
                <a:ea typeface="Arial" pitchFamily="34" charset="-122"/>
                <a:cs typeface="Arial" pitchFamily="34" charset="-120"/>
              </a:rPr>
              <a:t>Có phương pháp nghiên cứu rõ ràng: dữ liệu thật, chống leakage, baseline, mô hình đề xuất, ablation, backtest.</a:t>
            </a:r>
            <a:endParaRPr lang="en-US" sz="1650" dirty="0"/>
          </a:p>
          <a:p>
            <a:r>
              <a:rPr lang="en-US" sz="1650" dirty="0">
                <a:solidFill>
                  <a:srgbClr val="101828"/>
                </a:solidFill>
                <a:latin typeface="Arial" pitchFamily="34" charset="0"/>
                <a:ea typeface="Arial" pitchFamily="34" charset="-122"/>
                <a:cs typeface="Arial" pitchFamily="34" charset="-120"/>
              </a:rPr>
              <a:t>Có triển khai hệ thống rõ ràng: UI, data layer, Supabase Edge Functions, AI Gateway, storage, workflow tracking.</a:t>
            </a:r>
            <a:endParaRPr lang="en-US" sz="1650" dirty="0"/>
          </a:p>
          <a:p>
            <a:r>
              <a:rPr lang="en-US" sz="1650" dirty="0">
                <a:solidFill>
                  <a:srgbClr val="101828"/>
                </a:solidFill>
                <a:latin typeface="Arial" pitchFamily="34" charset="0"/>
                <a:ea typeface="Arial" pitchFamily="34" charset="-122"/>
                <a:cs typeface="Arial" pitchFamily="34" charset="-120"/>
              </a:rPr>
              <a:t>Có output đầy đủ: dashboard, Streamlit, CSV, checkpoint, figures, báo cáo và slide trình bày.</a:t>
            </a:r>
            <a:endParaRPr lang="en-US" sz="1650" dirty="0"/>
          </a:p>
        </p:txBody>
      </p:sp>
      <p:sp>
        <p:nvSpPr>
          <p:cNvPr id="27" name="Slide Number Placeholder 0"/>
          <p:cNvSpPr>
            <a:spLocks noGrp="1"/>
          </p:cNvSpPr>
          <p:nvPr>
            <p:ph type="sldNum" sz="quarter" idx="4294967295"/>
          </p:nvPr>
        </p:nvSpPr>
        <p:spPr>
          <a:xfrm>
            <a:off x="11475720" y="6492240"/>
            <a:ext cx="800000" cy="300000"/>
          </a:xfrm>
          <a:prstGeom prst="rect">
            <a:avLst/>
          </a:prstGeom>
          <a:extLst>
            <a:ext uri="{C572A759-6A51-4108-AA02-DFA0A04FC94B}">
              <ma14:wrappingTextBoxFlag xmlns:ma14="http://schemas.microsoft.com/office/mac/drawingml/2011/main" xmlns="" val="0"/>
            </a:ext>
          </a:extLst>
        </p:spPr>
        <p:txBody>
          <a:bodyPr/>
          <a:lstStyle>
            <a:lvl1pPr>
              <a:defRPr sz="730">
                <a:solidFill>
                  <a:srgbClr val="667085"/>
                </a:solidFill>
                <a:latin typeface="Arial"/>
                <a:ea typeface="Arial"/>
                <a:cs typeface="Arial"/>
              </a:defRPr>
            </a:lvl1pPr>
          </a:lstStyle>
          <a:p>
            <a:pPr algn="l"/>
            <a:fld id="{F7021451-1387-4CA6-816F-3879F97B5CBC}" type="slidenum">
              <a:rPr lang="en-US" b="0"/>
              <a:t>27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2418</Words>
  <Application>Microsoft Office PowerPoint</Application>
  <PresentationFormat>Widescreen</PresentationFormat>
  <Paragraphs>515</Paragraphs>
  <Slides>27</Slides>
  <Notes>27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vt:i4>
      </vt:variant>
    </vt:vector>
  </HeadingPairs>
  <TitlesOfParts>
    <vt:vector size="31"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Crystal Ball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Nhóm 4 - Crystal Ball - Báo cáo hoàn chỉnh</dc:title>
  <dc:subject>Báo cáo học thuật dự án Crystal Ball</dc:subject>
  <dc:creator>Nhóm 4</dc:creator>
  <cp:lastModifiedBy>Admin</cp:lastModifiedBy>
  <cp:revision>2</cp:revision>
  <dcterms:created xsi:type="dcterms:W3CDTF">2026-09-06T01:28:40Z</dcterms:created>
  <dcterms:modified xsi:type="dcterms:W3CDTF">2026-09-06T01:43:41Z</dcterms:modified>
</cp:coreProperties>
</file>