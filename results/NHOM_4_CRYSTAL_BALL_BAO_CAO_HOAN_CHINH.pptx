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6428232"/>
            <a:ext cx="11384280" cy="0"/>
          </a:xfrm>
          <a:prstGeom prst="line">
            <a:avLst/>
          </a:prstGeom>
          <a:noFill/>
          <a:ln w="7620">
            <a:solidFill>
              <a:srgbClr val="D0D5DD"/>
            </a:solidFill>
            <a:prstDash val="solid"/>
          </a:ln>
        </p:spPr>
      </p:sp>
      <p:sp>
        <p:nvSpPr>
          <p:cNvPr id="3" name="Text 1"/>
          <p:cNvSpPr/>
          <p:nvPr/>
        </p:nvSpPr>
        <p:spPr>
          <a:xfrm>
            <a:off x="502920" y="6510528"/>
            <a:ext cx="7132320" cy="164592"/>
          </a:xfrm>
          <a:prstGeom prst="rect">
            <a:avLst/>
          </a:prstGeom>
          <a:noFill/>
          <a:ln/>
        </p:spPr>
        <p:txBody>
          <a:bodyPr wrap="square" lIns="0" tIns="0" rIns="0" bIns="0" rtlCol="0" anchor="ctr"/>
          <a:lstStyle/>
          <a:p>
            <a:pPr indent="0" marL="0">
              <a:buNone/>
            </a:pPr>
            <a:r>
              <a:rPr lang="en-US" sz="730" dirty="0">
                <a:solidFill>
                  <a:srgbClr val="667085"/>
                </a:solidFill>
                <a:latin typeface="Arial" pitchFamily="34" charset="0"/>
                <a:ea typeface="Arial" pitchFamily="34" charset="-122"/>
                <a:cs typeface="Arial" pitchFamily="34" charset="-120"/>
              </a:rPr>
              <a:t>Nhóm 4 • Crystal Ball • Báo cáo phương pháp nghiên cứu và triển khai</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CRM\crystal-ball-insights\src\assets\dashboard-preview.jpg">    </p:cNvPr>
          <p:cNvPicPr>
            <a:picLocks noChangeAspect="1"/>
          </p:cNvPicPr>
          <p:nvPr/>
        </p:nvPicPr>
        <p:blipFill>
          <a:blip r:embed="rId1"/>
          <a:srcRect l="0" r="0" t="0" b="0"/>
          <a:stretch/>
        </p:blipFill>
        <p:spPr>
          <a:xfrm>
            <a:off x="5989320" y="530352"/>
            <a:ext cx="5715000" cy="4343400"/>
          </a:xfrm>
          <a:prstGeom prst="rect">
            <a:avLst/>
          </a:prstGeom>
        </p:spPr>
      </p:pic>
      <p:sp>
        <p:nvSpPr>
          <p:cNvPr id="3" name="Text 0"/>
          <p:cNvSpPr/>
          <p:nvPr/>
        </p:nvSpPr>
        <p:spPr>
          <a:xfrm>
            <a:off x="640080" y="640080"/>
            <a:ext cx="2103120" cy="292608"/>
          </a:xfrm>
          <a:prstGeom prst="rect">
            <a:avLst/>
          </a:prstGeom>
          <a:noFill/>
          <a:ln/>
        </p:spPr>
        <p:txBody>
          <a:bodyPr wrap="square" lIns="381" tIns="381" rIns="381" bIns="381" rtlCol="0" anchor="t">
            <a:normAutofit/>
          </a:bodyPr>
          <a:lstStyle/>
          <a:p>
            <a:pPr indent="0" marL="0">
              <a:buNone/>
            </a:pPr>
            <a:r>
              <a:rPr lang="en-US" sz="1600" b="1" dirty="0">
                <a:solidFill>
                  <a:srgbClr val="157347"/>
                </a:solidFill>
                <a:latin typeface="Arial" pitchFamily="34" charset="0"/>
                <a:ea typeface="Arial" pitchFamily="34" charset="-122"/>
                <a:cs typeface="Arial" pitchFamily="34" charset="-120"/>
              </a:rPr>
              <a:t>NHÓM 4</a:t>
            </a:r>
            <a:endParaRPr lang="en-US" sz="1600" dirty="0"/>
          </a:p>
        </p:txBody>
      </p:sp>
      <p:sp>
        <p:nvSpPr>
          <p:cNvPr id="4" name="Text 1"/>
          <p:cNvSpPr/>
          <p:nvPr/>
        </p:nvSpPr>
        <p:spPr>
          <a:xfrm>
            <a:off x="640080" y="1143000"/>
            <a:ext cx="5303520" cy="438912"/>
          </a:xfrm>
          <a:prstGeom prst="rect">
            <a:avLst/>
          </a:prstGeom>
          <a:noFill/>
          <a:ln/>
        </p:spPr>
        <p:txBody>
          <a:bodyPr wrap="square" lIns="381" tIns="381" rIns="381" bIns="381" rtlCol="0" anchor="t">
            <a:normAutofit/>
          </a:bodyPr>
          <a:lstStyle/>
          <a:p>
            <a:pPr indent="0" marL="0">
              <a:buNone/>
            </a:pPr>
            <a:r>
              <a:rPr lang="en-US" sz="2700" b="1" dirty="0">
                <a:solidFill>
                  <a:srgbClr val="101828"/>
                </a:solidFill>
                <a:latin typeface="Arial" pitchFamily="34" charset="0"/>
                <a:ea typeface="Arial" pitchFamily="34" charset="-122"/>
                <a:cs typeface="Arial" pitchFamily="34" charset="-120"/>
              </a:rPr>
              <a:t>CRYSTAL BALL</a:t>
            </a:r>
            <a:endParaRPr lang="en-US" sz="2700" dirty="0"/>
          </a:p>
        </p:txBody>
      </p:sp>
      <p:sp>
        <p:nvSpPr>
          <p:cNvPr id="5" name="Text 2"/>
          <p:cNvSpPr/>
          <p:nvPr/>
        </p:nvSpPr>
        <p:spPr>
          <a:xfrm>
            <a:off x="640080" y="1719072"/>
            <a:ext cx="5166360" cy="1097280"/>
          </a:xfrm>
          <a:prstGeom prst="rect">
            <a:avLst/>
          </a:prstGeom>
          <a:noFill/>
          <a:ln/>
        </p:spPr>
        <p:txBody>
          <a:bodyPr wrap="square" lIns="381" tIns="381" rIns="381" bIns="381" rtlCol="0" anchor="t">
            <a:normAutofit/>
          </a:bodyPr>
          <a:lstStyle/>
          <a:p>
            <a:pPr indent="0" marL="0">
              <a:buNone/>
            </a:pPr>
            <a:r>
              <a:rPr lang="en-US" sz="3000" b="1" dirty="0">
                <a:solidFill>
                  <a:srgbClr val="101828"/>
                </a:solidFill>
                <a:latin typeface="Arial" pitchFamily="34" charset="0"/>
                <a:ea typeface="Arial" pitchFamily="34" charset="-122"/>
                <a:cs typeface="Arial" pitchFamily="34" charset="-120"/>
              </a:rPr>
              <a:t>Nền tảng AI phân tích tài chính và quản lý danh mục đầu tư</a:t>
            </a:r>
            <a:endParaRPr lang="en-US" sz="3000" dirty="0"/>
          </a:p>
        </p:txBody>
      </p:sp>
      <p:sp>
        <p:nvSpPr>
          <p:cNvPr id="6" name="Text 3"/>
          <p:cNvSpPr/>
          <p:nvPr/>
        </p:nvSpPr>
        <p:spPr>
          <a:xfrm>
            <a:off x="658368" y="3063240"/>
            <a:ext cx="4846320" cy="749808"/>
          </a:xfrm>
          <a:prstGeom prst="rect">
            <a:avLst/>
          </a:prstGeom>
          <a:noFill/>
          <a:ln/>
        </p:spPr>
        <p:txBody>
          <a:bodyPr wrap="square" lIns="381" tIns="381" rIns="381" bIns="381" rtlCol="0" anchor="t">
            <a:normAutofit/>
          </a:bodyPr>
          <a:lstStyle/>
          <a:p>
            <a:pPr indent="0" marL="0">
              <a:buNone/>
            </a:pPr>
            <a:r>
              <a:rPr lang="en-US" sz="1600" dirty="0">
                <a:solidFill>
                  <a:srgbClr val="667085"/>
                </a:solidFill>
                <a:latin typeface="Arial" pitchFamily="34" charset="0"/>
                <a:ea typeface="Arial" pitchFamily="34" charset="-122"/>
                <a:cs typeface="Arial" pitchFamily="34" charset="-120"/>
              </a:rPr>
              <a:t>Báo cáo phương pháp nghiên cứu, triển khai hệ thống, AI tích hợp, tự động hóa và kết quả thực nghiệm</a:t>
            </a:r>
            <a:endParaRPr lang="en-US" sz="1600" dirty="0"/>
          </a:p>
        </p:txBody>
      </p:sp>
      <p:sp>
        <p:nvSpPr>
          <p:cNvPr id="7" name="Shape 4"/>
          <p:cNvSpPr/>
          <p:nvPr/>
        </p:nvSpPr>
        <p:spPr>
          <a:xfrm>
            <a:off x="658368" y="4096512"/>
            <a:ext cx="4160520" cy="0"/>
          </a:xfrm>
          <a:prstGeom prst="line">
            <a:avLst/>
          </a:prstGeom>
          <a:noFill/>
          <a:ln w="38100">
            <a:solidFill>
              <a:srgbClr val="157347"/>
            </a:solidFill>
            <a:prstDash val="solid"/>
          </a:ln>
        </p:spPr>
      </p:sp>
      <p:sp>
        <p:nvSpPr>
          <p:cNvPr id="8" name="Shape 5"/>
          <p:cNvSpPr/>
          <p:nvPr/>
        </p:nvSpPr>
        <p:spPr>
          <a:xfrm>
            <a:off x="658368" y="4462272"/>
            <a:ext cx="1554480" cy="932688"/>
          </a:xfrm>
          <a:prstGeom prst="rect">
            <a:avLst/>
          </a:prstGeom>
          <a:solidFill>
            <a:srgbClr val="F8FAFC"/>
          </a:solidFill>
          <a:ln w="10160">
            <a:solidFill>
              <a:srgbClr val="D0D5DD"/>
            </a:solidFill>
            <a:prstDash val="solid"/>
          </a:ln>
        </p:spPr>
      </p:sp>
      <p:sp>
        <p:nvSpPr>
          <p:cNvPr id="9" name="Text 6"/>
          <p:cNvSpPr/>
          <p:nvPr/>
        </p:nvSpPr>
        <p:spPr>
          <a:xfrm>
            <a:off x="777240" y="4581144"/>
            <a:ext cx="1316736" cy="310896"/>
          </a:xfrm>
          <a:prstGeom prst="rect">
            <a:avLst/>
          </a:prstGeom>
          <a:noFill/>
          <a:ln/>
        </p:spPr>
        <p:txBody>
          <a:bodyPr wrap="square" lIns="381" tIns="381" rIns="381" bIns="381" rtlCol="0" anchor="t">
            <a:normAutofit/>
          </a:bodyPr>
          <a:lstStyle/>
          <a:p>
            <a:pPr algn="ctr" indent="0" marL="0">
              <a:buNone/>
            </a:pPr>
            <a:r>
              <a:rPr lang="en-US" sz="2200" b="1" dirty="0">
                <a:solidFill>
                  <a:srgbClr val="157347"/>
                </a:solidFill>
                <a:latin typeface="Arial" pitchFamily="34" charset="0"/>
                <a:ea typeface="Arial" pitchFamily="34" charset="-122"/>
                <a:cs typeface="Arial" pitchFamily="34" charset="-120"/>
              </a:rPr>
              <a:t>9.5–10</a:t>
            </a:r>
            <a:endParaRPr lang="en-US" sz="2200" dirty="0"/>
          </a:p>
        </p:txBody>
      </p:sp>
      <p:sp>
        <p:nvSpPr>
          <p:cNvPr id="10" name="Text 7"/>
          <p:cNvSpPr/>
          <p:nvPr/>
        </p:nvSpPr>
        <p:spPr>
          <a:xfrm>
            <a:off x="777240" y="4974336"/>
            <a:ext cx="131673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Rubric</a:t>
            </a:r>
            <a:endParaRPr lang="en-US" sz="980" dirty="0"/>
          </a:p>
        </p:txBody>
      </p:sp>
      <p:sp>
        <p:nvSpPr>
          <p:cNvPr id="11" name="Text 8"/>
          <p:cNvSpPr/>
          <p:nvPr/>
        </p:nvSpPr>
        <p:spPr>
          <a:xfrm>
            <a:off x="777240" y="5166360"/>
            <a:ext cx="131673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tự đánh giá</a:t>
            </a:r>
            <a:endParaRPr lang="en-US" sz="760" dirty="0"/>
          </a:p>
        </p:txBody>
      </p:sp>
      <p:sp>
        <p:nvSpPr>
          <p:cNvPr id="12" name="Shape 9"/>
          <p:cNvSpPr/>
          <p:nvPr/>
        </p:nvSpPr>
        <p:spPr>
          <a:xfrm>
            <a:off x="2395728" y="4462272"/>
            <a:ext cx="1554480" cy="932688"/>
          </a:xfrm>
          <a:prstGeom prst="rect">
            <a:avLst/>
          </a:prstGeom>
          <a:solidFill>
            <a:srgbClr val="F8FAFC"/>
          </a:solidFill>
          <a:ln w="10160">
            <a:solidFill>
              <a:srgbClr val="D0D5DD"/>
            </a:solidFill>
            <a:prstDash val="solid"/>
          </a:ln>
        </p:spPr>
      </p:sp>
      <p:sp>
        <p:nvSpPr>
          <p:cNvPr id="13" name="Text 10"/>
          <p:cNvSpPr/>
          <p:nvPr/>
        </p:nvSpPr>
        <p:spPr>
          <a:xfrm>
            <a:off x="2514600" y="4581144"/>
            <a:ext cx="1316736" cy="310896"/>
          </a:xfrm>
          <a:prstGeom prst="rect">
            <a:avLst/>
          </a:prstGeom>
          <a:noFill/>
          <a:ln/>
        </p:spPr>
        <p:txBody>
          <a:bodyPr wrap="square" lIns="381" tIns="381" rIns="381" bIns="381" rtlCol="0" anchor="t">
            <a:normAutofit/>
          </a:bodyPr>
          <a:lstStyle/>
          <a:p>
            <a:pPr algn="ctr" indent="0" marL="0">
              <a:buNone/>
            </a:pPr>
            <a:r>
              <a:rPr lang="en-US" sz="2200" b="1" dirty="0">
                <a:solidFill>
                  <a:srgbClr val="175CD3"/>
                </a:solidFill>
                <a:latin typeface="Arial" pitchFamily="34" charset="0"/>
                <a:ea typeface="Arial" pitchFamily="34" charset="-122"/>
                <a:cs typeface="Arial" pitchFamily="34" charset="-120"/>
              </a:rPr>
              <a:t>14</a:t>
            </a:r>
            <a:endParaRPr lang="en-US" sz="2200" dirty="0"/>
          </a:p>
        </p:txBody>
      </p:sp>
      <p:sp>
        <p:nvSpPr>
          <p:cNvPr id="14" name="Text 11"/>
          <p:cNvSpPr/>
          <p:nvPr/>
        </p:nvSpPr>
        <p:spPr>
          <a:xfrm>
            <a:off x="2514600" y="4974336"/>
            <a:ext cx="131673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Tài sản</a:t>
            </a:r>
            <a:endParaRPr lang="en-US" sz="980" dirty="0"/>
          </a:p>
        </p:txBody>
      </p:sp>
      <p:sp>
        <p:nvSpPr>
          <p:cNvPr id="15" name="Text 12"/>
          <p:cNvSpPr/>
          <p:nvPr/>
        </p:nvSpPr>
        <p:spPr>
          <a:xfrm>
            <a:off x="2514600" y="5166360"/>
            <a:ext cx="131673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research</a:t>
            </a:r>
            <a:endParaRPr lang="en-US" sz="760" dirty="0"/>
          </a:p>
        </p:txBody>
      </p:sp>
      <p:sp>
        <p:nvSpPr>
          <p:cNvPr id="16" name="Shape 13"/>
          <p:cNvSpPr/>
          <p:nvPr/>
        </p:nvSpPr>
        <p:spPr>
          <a:xfrm>
            <a:off x="4133088" y="4462272"/>
            <a:ext cx="1554480" cy="932688"/>
          </a:xfrm>
          <a:prstGeom prst="rect">
            <a:avLst/>
          </a:prstGeom>
          <a:solidFill>
            <a:srgbClr val="F8FAFC"/>
          </a:solidFill>
          <a:ln w="10160">
            <a:solidFill>
              <a:srgbClr val="D0D5DD"/>
            </a:solidFill>
            <a:prstDash val="solid"/>
          </a:ln>
        </p:spPr>
      </p:sp>
      <p:sp>
        <p:nvSpPr>
          <p:cNvPr id="17" name="Text 14"/>
          <p:cNvSpPr/>
          <p:nvPr/>
        </p:nvSpPr>
        <p:spPr>
          <a:xfrm>
            <a:off x="4251960" y="4581144"/>
            <a:ext cx="1316736" cy="310896"/>
          </a:xfrm>
          <a:prstGeom prst="rect">
            <a:avLst/>
          </a:prstGeom>
          <a:noFill/>
          <a:ln/>
        </p:spPr>
        <p:txBody>
          <a:bodyPr wrap="square" lIns="381" tIns="381" rIns="381" bIns="381" rtlCol="0" anchor="t">
            <a:normAutofit/>
          </a:bodyPr>
          <a:lstStyle/>
          <a:p>
            <a:pPr algn="ctr" indent="0" marL="0">
              <a:buNone/>
            </a:pPr>
            <a:r>
              <a:rPr lang="en-US" sz="2200" b="1" dirty="0">
                <a:solidFill>
                  <a:srgbClr val="6941C6"/>
                </a:solidFill>
                <a:latin typeface="Arial" pitchFamily="34" charset="0"/>
                <a:ea typeface="Arial" pitchFamily="34" charset="-122"/>
                <a:cs typeface="Arial" pitchFamily="34" charset="-120"/>
              </a:rPr>
              <a:t>1.626</a:t>
            </a:r>
            <a:endParaRPr lang="en-US" sz="2200" dirty="0"/>
          </a:p>
        </p:txBody>
      </p:sp>
      <p:sp>
        <p:nvSpPr>
          <p:cNvPr id="18" name="Text 15"/>
          <p:cNvSpPr/>
          <p:nvPr/>
        </p:nvSpPr>
        <p:spPr>
          <a:xfrm>
            <a:off x="4251960" y="4974336"/>
            <a:ext cx="131673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Sharpe</a:t>
            </a:r>
            <a:endParaRPr lang="en-US" sz="980" dirty="0"/>
          </a:p>
        </p:txBody>
      </p:sp>
      <p:sp>
        <p:nvSpPr>
          <p:cNvPr id="19" name="Text 16"/>
          <p:cNvSpPr/>
          <p:nvPr/>
        </p:nvSpPr>
        <p:spPr>
          <a:xfrm>
            <a:off x="4251960" y="5166360"/>
            <a:ext cx="131673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best</a:t>
            </a:r>
            <a:endParaRPr lang="en-US" sz="760" dirty="0"/>
          </a:p>
        </p:txBody>
      </p:sp>
      <p:sp>
        <p:nvSpPr>
          <p:cNvPr id="20" name="Text 17"/>
          <p:cNvSpPr/>
          <p:nvPr/>
        </p:nvSpPr>
        <p:spPr>
          <a:xfrm>
            <a:off x="676656" y="5806440"/>
            <a:ext cx="4389120" cy="201168"/>
          </a:xfrm>
          <a:prstGeom prst="rect">
            <a:avLst/>
          </a:prstGeom>
          <a:noFill/>
          <a:ln/>
        </p:spPr>
        <p:txBody>
          <a:bodyPr wrap="square" lIns="381" tIns="381" rIns="381" bIns="381" rtlCol="0" anchor="t">
            <a:normAutofit/>
          </a:bodyPr>
          <a:lstStyle/>
          <a:p>
            <a:pPr indent="0" marL="0">
              <a:buNone/>
            </a:pPr>
            <a:r>
              <a:rPr lang="en-US" sz="1150" dirty="0">
                <a:solidFill>
                  <a:srgbClr val="667085"/>
                </a:solidFill>
                <a:latin typeface="Arial" pitchFamily="34" charset="0"/>
                <a:ea typeface="Arial" pitchFamily="34" charset="-122"/>
                <a:cs typeface="Arial" pitchFamily="34" charset="-120"/>
              </a:rPr>
              <a:t>Báo cáo trình bày cho giảng viên / hội đồng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CẤU TRÚC TRÌNH BÀY</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Mục lục báo cáo</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777240" y="1344168"/>
            <a:ext cx="4800600" cy="566928"/>
          </a:xfrm>
          <a:prstGeom prst="rect">
            <a:avLst/>
          </a:prstGeom>
          <a:solidFill>
            <a:srgbClr val="F8FAFC"/>
          </a:solidFill>
          <a:ln w="8890">
            <a:solidFill>
              <a:srgbClr val="D0D5DD"/>
            </a:solidFill>
            <a:prstDash val="solid"/>
          </a:ln>
        </p:spPr>
      </p:sp>
      <p:sp>
        <p:nvSpPr>
          <p:cNvPr id="6" name="Text 4"/>
          <p:cNvSpPr/>
          <p:nvPr/>
        </p:nvSpPr>
        <p:spPr>
          <a:xfrm>
            <a:off x="923544" y="1490472"/>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75CD3"/>
                </a:solidFill>
                <a:latin typeface="Arial" pitchFamily="34" charset="0"/>
                <a:ea typeface="Arial" pitchFamily="34" charset="-122"/>
                <a:cs typeface="Arial" pitchFamily="34" charset="-120"/>
              </a:rPr>
              <a:t>01</a:t>
            </a:r>
            <a:endParaRPr lang="en-US" sz="1150" dirty="0"/>
          </a:p>
        </p:txBody>
      </p:sp>
      <p:sp>
        <p:nvSpPr>
          <p:cNvPr id="7" name="Text 5"/>
          <p:cNvSpPr/>
          <p:nvPr/>
        </p:nvSpPr>
        <p:spPr>
          <a:xfrm>
            <a:off x="1435608" y="1463040"/>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Giới thiệu đề tài và mục tiêu nghiên cứu</a:t>
            </a:r>
            <a:endParaRPr lang="en-US" sz="1280" dirty="0"/>
          </a:p>
        </p:txBody>
      </p:sp>
      <p:sp>
        <p:nvSpPr>
          <p:cNvPr id="8" name="Shape 6"/>
          <p:cNvSpPr/>
          <p:nvPr/>
        </p:nvSpPr>
        <p:spPr>
          <a:xfrm>
            <a:off x="777240" y="2194560"/>
            <a:ext cx="4800600" cy="566928"/>
          </a:xfrm>
          <a:prstGeom prst="rect">
            <a:avLst/>
          </a:prstGeom>
          <a:solidFill>
            <a:srgbClr val="FFFFFF"/>
          </a:solidFill>
          <a:ln w="8890">
            <a:solidFill>
              <a:srgbClr val="D0D5DD"/>
            </a:solidFill>
            <a:prstDash val="solid"/>
          </a:ln>
        </p:spPr>
      </p:sp>
      <p:sp>
        <p:nvSpPr>
          <p:cNvPr id="9" name="Text 7"/>
          <p:cNvSpPr/>
          <p:nvPr/>
        </p:nvSpPr>
        <p:spPr>
          <a:xfrm>
            <a:off x="923544" y="2340864"/>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75CD3"/>
                </a:solidFill>
                <a:latin typeface="Arial" pitchFamily="34" charset="0"/>
                <a:ea typeface="Arial" pitchFamily="34" charset="-122"/>
                <a:cs typeface="Arial" pitchFamily="34" charset="-120"/>
              </a:rPr>
              <a:t>02</a:t>
            </a:r>
            <a:endParaRPr lang="en-US" sz="1150" dirty="0"/>
          </a:p>
        </p:txBody>
      </p:sp>
      <p:sp>
        <p:nvSpPr>
          <p:cNvPr id="10" name="Text 8"/>
          <p:cNvSpPr/>
          <p:nvPr/>
        </p:nvSpPr>
        <p:spPr>
          <a:xfrm>
            <a:off x="1435608" y="2313432"/>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Phạm vi hệ thống Crystal Ball</a:t>
            </a:r>
            <a:endParaRPr lang="en-US" sz="1280" dirty="0"/>
          </a:p>
        </p:txBody>
      </p:sp>
      <p:sp>
        <p:nvSpPr>
          <p:cNvPr id="11" name="Shape 9"/>
          <p:cNvSpPr/>
          <p:nvPr/>
        </p:nvSpPr>
        <p:spPr>
          <a:xfrm>
            <a:off x="777240" y="3044952"/>
            <a:ext cx="4800600" cy="566928"/>
          </a:xfrm>
          <a:prstGeom prst="rect">
            <a:avLst/>
          </a:prstGeom>
          <a:solidFill>
            <a:srgbClr val="F8FAFC"/>
          </a:solidFill>
          <a:ln w="8890">
            <a:solidFill>
              <a:srgbClr val="D0D5DD"/>
            </a:solidFill>
            <a:prstDash val="solid"/>
          </a:ln>
        </p:spPr>
      </p:sp>
      <p:sp>
        <p:nvSpPr>
          <p:cNvPr id="12" name="Text 10"/>
          <p:cNvSpPr/>
          <p:nvPr/>
        </p:nvSpPr>
        <p:spPr>
          <a:xfrm>
            <a:off x="923544" y="3191256"/>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75CD3"/>
                </a:solidFill>
                <a:latin typeface="Arial" pitchFamily="34" charset="0"/>
                <a:ea typeface="Arial" pitchFamily="34" charset="-122"/>
                <a:cs typeface="Arial" pitchFamily="34" charset="-120"/>
              </a:rPr>
              <a:t>03</a:t>
            </a:r>
            <a:endParaRPr lang="en-US" sz="1150" dirty="0"/>
          </a:p>
        </p:txBody>
      </p:sp>
      <p:sp>
        <p:nvSpPr>
          <p:cNvPr id="13" name="Text 11"/>
          <p:cNvSpPr/>
          <p:nvPr/>
        </p:nvSpPr>
        <p:spPr>
          <a:xfrm>
            <a:off x="1435608" y="3163824"/>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Phương pháp nghiên cứu và thiết kế thực nghiệm</a:t>
            </a:r>
            <a:endParaRPr lang="en-US" sz="1280" dirty="0"/>
          </a:p>
        </p:txBody>
      </p:sp>
      <p:sp>
        <p:nvSpPr>
          <p:cNvPr id="14" name="Shape 12"/>
          <p:cNvSpPr/>
          <p:nvPr/>
        </p:nvSpPr>
        <p:spPr>
          <a:xfrm>
            <a:off x="777240" y="3895344"/>
            <a:ext cx="4800600" cy="566928"/>
          </a:xfrm>
          <a:prstGeom prst="rect">
            <a:avLst/>
          </a:prstGeom>
          <a:solidFill>
            <a:srgbClr val="FFFFFF"/>
          </a:solidFill>
          <a:ln w="8890">
            <a:solidFill>
              <a:srgbClr val="D0D5DD"/>
            </a:solidFill>
            <a:prstDash val="solid"/>
          </a:ln>
        </p:spPr>
      </p:sp>
      <p:sp>
        <p:nvSpPr>
          <p:cNvPr id="15" name="Text 13"/>
          <p:cNvSpPr/>
          <p:nvPr/>
        </p:nvSpPr>
        <p:spPr>
          <a:xfrm>
            <a:off x="923544" y="4041648"/>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75CD3"/>
                </a:solidFill>
                <a:latin typeface="Arial" pitchFamily="34" charset="0"/>
                <a:ea typeface="Arial" pitchFamily="34" charset="-122"/>
                <a:cs typeface="Arial" pitchFamily="34" charset="-120"/>
              </a:rPr>
              <a:t>04</a:t>
            </a:r>
            <a:endParaRPr lang="en-US" sz="1150" dirty="0"/>
          </a:p>
        </p:txBody>
      </p:sp>
      <p:sp>
        <p:nvSpPr>
          <p:cNvPr id="16" name="Text 14"/>
          <p:cNvSpPr/>
          <p:nvPr/>
        </p:nvSpPr>
        <p:spPr>
          <a:xfrm>
            <a:off x="1435608" y="4014216"/>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Thu thập dữ liệu và tiền xử lý</a:t>
            </a:r>
            <a:endParaRPr lang="en-US" sz="1280" dirty="0"/>
          </a:p>
        </p:txBody>
      </p:sp>
      <p:sp>
        <p:nvSpPr>
          <p:cNvPr id="17" name="Shape 15"/>
          <p:cNvSpPr/>
          <p:nvPr/>
        </p:nvSpPr>
        <p:spPr>
          <a:xfrm>
            <a:off x="777240" y="4745736"/>
            <a:ext cx="4800600" cy="566928"/>
          </a:xfrm>
          <a:prstGeom prst="rect">
            <a:avLst/>
          </a:prstGeom>
          <a:solidFill>
            <a:srgbClr val="F8FAFC"/>
          </a:solidFill>
          <a:ln w="8890">
            <a:solidFill>
              <a:srgbClr val="D0D5DD"/>
            </a:solidFill>
            <a:prstDash val="solid"/>
          </a:ln>
        </p:spPr>
      </p:sp>
      <p:sp>
        <p:nvSpPr>
          <p:cNvPr id="18" name="Text 16"/>
          <p:cNvSpPr/>
          <p:nvPr/>
        </p:nvSpPr>
        <p:spPr>
          <a:xfrm>
            <a:off x="923544" y="4892040"/>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75CD3"/>
                </a:solidFill>
                <a:latin typeface="Arial" pitchFamily="34" charset="0"/>
                <a:ea typeface="Arial" pitchFamily="34" charset="-122"/>
                <a:cs typeface="Arial" pitchFamily="34" charset="-120"/>
              </a:rPr>
              <a:t>05</a:t>
            </a:r>
            <a:endParaRPr lang="en-US" sz="1150" dirty="0"/>
          </a:p>
        </p:txBody>
      </p:sp>
      <p:sp>
        <p:nvSpPr>
          <p:cNvPr id="19" name="Text 17"/>
          <p:cNvSpPr/>
          <p:nvPr/>
        </p:nvSpPr>
        <p:spPr>
          <a:xfrm>
            <a:off x="1435608" y="4864608"/>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Pipeline Python: feature, split, train, backtest</a:t>
            </a:r>
            <a:endParaRPr lang="en-US" sz="1280" dirty="0"/>
          </a:p>
        </p:txBody>
      </p:sp>
      <p:sp>
        <p:nvSpPr>
          <p:cNvPr id="20" name="Shape 18"/>
          <p:cNvSpPr/>
          <p:nvPr/>
        </p:nvSpPr>
        <p:spPr>
          <a:xfrm>
            <a:off x="6172200" y="1344168"/>
            <a:ext cx="4800600" cy="566928"/>
          </a:xfrm>
          <a:prstGeom prst="rect">
            <a:avLst/>
          </a:prstGeom>
          <a:solidFill>
            <a:srgbClr val="FFFFFF"/>
          </a:solidFill>
          <a:ln w="8890">
            <a:solidFill>
              <a:srgbClr val="D0D5DD"/>
            </a:solidFill>
            <a:prstDash val="solid"/>
          </a:ln>
        </p:spPr>
      </p:sp>
      <p:sp>
        <p:nvSpPr>
          <p:cNvPr id="21" name="Text 19"/>
          <p:cNvSpPr/>
          <p:nvPr/>
        </p:nvSpPr>
        <p:spPr>
          <a:xfrm>
            <a:off x="6318504" y="1490472"/>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57347"/>
                </a:solidFill>
                <a:latin typeface="Arial" pitchFamily="34" charset="0"/>
                <a:ea typeface="Arial" pitchFamily="34" charset="-122"/>
                <a:cs typeface="Arial" pitchFamily="34" charset="-120"/>
              </a:rPr>
              <a:t>06</a:t>
            </a:r>
            <a:endParaRPr lang="en-US" sz="1150" dirty="0"/>
          </a:p>
        </p:txBody>
      </p:sp>
      <p:sp>
        <p:nvSpPr>
          <p:cNvPr id="22" name="Text 20"/>
          <p:cNvSpPr/>
          <p:nvPr/>
        </p:nvSpPr>
        <p:spPr>
          <a:xfrm>
            <a:off x="6830568" y="1463040"/>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Mô hình so sánh và mô hình đề xuất PA-Transformer</a:t>
            </a:r>
            <a:endParaRPr lang="en-US" sz="1280" dirty="0"/>
          </a:p>
        </p:txBody>
      </p:sp>
      <p:sp>
        <p:nvSpPr>
          <p:cNvPr id="23" name="Shape 21"/>
          <p:cNvSpPr/>
          <p:nvPr/>
        </p:nvSpPr>
        <p:spPr>
          <a:xfrm>
            <a:off x="6172200" y="2194560"/>
            <a:ext cx="4800600" cy="566928"/>
          </a:xfrm>
          <a:prstGeom prst="rect">
            <a:avLst/>
          </a:prstGeom>
          <a:solidFill>
            <a:srgbClr val="F8FAFC"/>
          </a:solidFill>
          <a:ln w="8890">
            <a:solidFill>
              <a:srgbClr val="D0D5DD"/>
            </a:solidFill>
            <a:prstDash val="solid"/>
          </a:ln>
        </p:spPr>
      </p:sp>
      <p:sp>
        <p:nvSpPr>
          <p:cNvPr id="24" name="Text 22"/>
          <p:cNvSpPr/>
          <p:nvPr/>
        </p:nvSpPr>
        <p:spPr>
          <a:xfrm>
            <a:off x="6318504" y="2340864"/>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57347"/>
                </a:solidFill>
                <a:latin typeface="Arial" pitchFamily="34" charset="0"/>
                <a:ea typeface="Arial" pitchFamily="34" charset="-122"/>
                <a:cs typeface="Arial" pitchFamily="34" charset="-120"/>
              </a:rPr>
              <a:t>07</a:t>
            </a:r>
            <a:endParaRPr lang="en-US" sz="1150" dirty="0"/>
          </a:p>
        </p:txBody>
      </p:sp>
      <p:sp>
        <p:nvSpPr>
          <p:cNvPr id="25" name="Text 23"/>
          <p:cNvSpPr/>
          <p:nvPr/>
        </p:nvSpPr>
        <p:spPr>
          <a:xfrm>
            <a:off x="6830568" y="2313432"/>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AI tích hợp: Gemini, ChatGPT/Codex và AI agents</a:t>
            </a:r>
            <a:endParaRPr lang="en-US" sz="1280" dirty="0"/>
          </a:p>
        </p:txBody>
      </p:sp>
      <p:sp>
        <p:nvSpPr>
          <p:cNvPr id="26" name="Shape 24"/>
          <p:cNvSpPr/>
          <p:nvPr/>
        </p:nvSpPr>
        <p:spPr>
          <a:xfrm>
            <a:off x="6172200" y="3044952"/>
            <a:ext cx="4800600" cy="566928"/>
          </a:xfrm>
          <a:prstGeom prst="rect">
            <a:avLst/>
          </a:prstGeom>
          <a:solidFill>
            <a:srgbClr val="FFFFFF"/>
          </a:solidFill>
          <a:ln w="8890">
            <a:solidFill>
              <a:srgbClr val="D0D5DD"/>
            </a:solidFill>
            <a:prstDash val="solid"/>
          </a:ln>
        </p:spPr>
      </p:sp>
      <p:sp>
        <p:nvSpPr>
          <p:cNvPr id="27" name="Text 25"/>
          <p:cNvSpPr/>
          <p:nvPr/>
        </p:nvSpPr>
        <p:spPr>
          <a:xfrm>
            <a:off x="6318504" y="3191256"/>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57347"/>
                </a:solidFill>
                <a:latin typeface="Arial" pitchFamily="34" charset="0"/>
                <a:ea typeface="Arial" pitchFamily="34" charset="-122"/>
                <a:cs typeface="Arial" pitchFamily="34" charset="-120"/>
              </a:rPr>
              <a:t>08</a:t>
            </a:r>
            <a:endParaRPr lang="en-US" sz="1150" dirty="0"/>
          </a:p>
        </p:txBody>
      </p:sp>
      <p:sp>
        <p:nvSpPr>
          <p:cNvPr id="28" name="Text 26"/>
          <p:cNvSpPr/>
          <p:nvPr/>
        </p:nvSpPr>
        <p:spPr>
          <a:xfrm>
            <a:off x="6830568" y="3163824"/>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Tự động hóa n8n và lưu vết workflow</a:t>
            </a:r>
            <a:endParaRPr lang="en-US" sz="1280" dirty="0"/>
          </a:p>
        </p:txBody>
      </p:sp>
      <p:sp>
        <p:nvSpPr>
          <p:cNvPr id="29" name="Shape 27"/>
          <p:cNvSpPr/>
          <p:nvPr/>
        </p:nvSpPr>
        <p:spPr>
          <a:xfrm>
            <a:off x="6172200" y="3895344"/>
            <a:ext cx="4800600" cy="566928"/>
          </a:xfrm>
          <a:prstGeom prst="rect">
            <a:avLst/>
          </a:prstGeom>
          <a:solidFill>
            <a:srgbClr val="F8FAFC"/>
          </a:solidFill>
          <a:ln w="8890">
            <a:solidFill>
              <a:srgbClr val="D0D5DD"/>
            </a:solidFill>
            <a:prstDash val="solid"/>
          </a:ln>
        </p:spPr>
      </p:sp>
      <p:sp>
        <p:nvSpPr>
          <p:cNvPr id="30" name="Text 28"/>
          <p:cNvSpPr/>
          <p:nvPr/>
        </p:nvSpPr>
        <p:spPr>
          <a:xfrm>
            <a:off x="6318504" y="4041648"/>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57347"/>
                </a:solidFill>
                <a:latin typeface="Arial" pitchFamily="34" charset="0"/>
                <a:ea typeface="Arial" pitchFamily="34" charset="-122"/>
                <a:cs typeface="Arial" pitchFamily="34" charset="-120"/>
              </a:rPr>
              <a:t>09</a:t>
            </a:r>
            <a:endParaRPr lang="en-US" sz="1150" dirty="0"/>
          </a:p>
        </p:txBody>
      </p:sp>
      <p:sp>
        <p:nvSpPr>
          <p:cNvPr id="31" name="Text 29"/>
          <p:cNvSpPr/>
          <p:nvPr/>
        </p:nvSpPr>
        <p:spPr>
          <a:xfrm>
            <a:off x="6830568" y="4014216"/>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Output đầu ra: dashboard, CSV, figures, Streamlit, báo cáo</a:t>
            </a:r>
            <a:endParaRPr lang="en-US" sz="1280" dirty="0"/>
          </a:p>
        </p:txBody>
      </p:sp>
      <p:sp>
        <p:nvSpPr>
          <p:cNvPr id="32" name="Shape 30"/>
          <p:cNvSpPr/>
          <p:nvPr/>
        </p:nvSpPr>
        <p:spPr>
          <a:xfrm>
            <a:off x="6172200" y="4745736"/>
            <a:ext cx="4800600" cy="566928"/>
          </a:xfrm>
          <a:prstGeom prst="rect">
            <a:avLst/>
          </a:prstGeom>
          <a:solidFill>
            <a:srgbClr val="FFFFFF"/>
          </a:solidFill>
          <a:ln w="8890">
            <a:solidFill>
              <a:srgbClr val="D0D5DD"/>
            </a:solidFill>
            <a:prstDash val="solid"/>
          </a:ln>
        </p:spPr>
      </p:sp>
      <p:sp>
        <p:nvSpPr>
          <p:cNvPr id="33" name="Text 31"/>
          <p:cNvSpPr/>
          <p:nvPr/>
        </p:nvSpPr>
        <p:spPr>
          <a:xfrm>
            <a:off x="6318504" y="4892040"/>
            <a:ext cx="402336" cy="164592"/>
          </a:xfrm>
          <a:prstGeom prst="rect">
            <a:avLst/>
          </a:prstGeom>
          <a:noFill/>
          <a:ln/>
        </p:spPr>
        <p:txBody>
          <a:bodyPr wrap="square" lIns="381" tIns="381" rIns="381" bIns="381" rtlCol="0" anchor="t">
            <a:normAutofit/>
          </a:bodyPr>
          <a:lstStyle/>
          <a:p>
            <a:pPr algn="ctr" indent="0" marL="0">
              <a:buNone/>
            </a:pPr>
            <a:r>
              <a:rPr lang="en-US" sz="1150" b="1" dirty="0">
                <a:solidFill>
                  <a:srgbClr val="157347"/>
                </a:solidFill>
                <a:latin typeface="Arial" pitchFamily="34" charset="0"/>
                <a:ea typeface="Arial" pitchFamily="34" charset="-122"/>
                <a:cs typeface="Arial" pitchFamily="34" charset="-120"/>
              </a:rPr>
              <a:t>10</a:t>
            </a:r>
            <a:endParaRPr lang="en-US" sz="1150" dirty="0"/>
          </a:p>
        </p:txBody>
      </p:sp>
      <p:sp>
        <p:nvSpPr>
          <p:cNvPr id="34" name="Text 32"/>
          <p:cNvSpPr/>
          <p:nvPr/>
        </p:nvSpPr>
        <p:spPr>
          <a:xfrm>
            <a:off x="6830568" y="4864608"/>
            <a:ext cx="3840480" cy="219456"/>
          </a:xfrm>
          <a:prstGeom prst="rect">
            <a:avLst/>
          </a:prstGeom>
          <a:noFill/>
          <a:ln/>
        </p:spPr>
        <p:txBody>
          <a:bodyPr wrap="square" lIns="381" tIns="381" rIns="381" bIns="381" rtlCol="0" anchor="t">
            <a:normAutofit/>
          </a:bodyPr>
          <a:lstStyle/>
          <a:p>
            <a:pPr indent="0" marL="0">
              <a:buNone/>
            </a:pPr>
            <a:r>
              <a:rPr lang="en-US" sz="1280" b="1" dirty="0">
                <a:solidFill>
                  <a:srgbClr val="101828"/>
                </a:solidFill>
                <a:latin typeface="Arial" pitchFamily="34" charset="0"/>
                <a:ea typeface="Arial" pitchFamily="34" charset="-122"/>
                <a:cs typeface="Arial" pitchFamily="34" charset="-120"/>
              </a:rPr>
              <a:t>Kết quả, đối chiếu rubric và kết luận</a:t>
            </a:r>
            <a:endParaRPr lang="en-US" sz="128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BỐI CẢNH</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Giới thiệu đề tài</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Text 3"/>
          <p:cNvSpPr/>
          <p:nvPr/>
        </p:nvSpPr>
        <p:spPr>
          <a:xfrm>
            <a:off x="731520" y="1389888"/>
            <a:ext cx="10698480" cy="694944"/>
          </a:xfrm>
          <a:prstGeom prst="rect">
            <a:avLst/>
          </a:prstGeom>
          <a:noFill/>
          <a:ln/>
        </p:spPr>
        <p:txBody>
          <a:bodyPr wrap="square" lIns="381" tIns="381" rIns="381" bIns="381" rtlCol="0" anchor="t">
            <a:normAutofit/>
          </a:bodyPr>
          <a:lstStyle/>
          <a:p>
            <a:pPr indent="0" marL="0">
              <a:buNone/>
            </a:pPr>
            <a:r>
              <a:rPr lang="en-US" sz="2300" b="1" dirty="0">
                <a:solidFill>
                  <a:srgbClr val="101828"/>
                </a:solidFill>
                <a:latin typeface="Arial" pitchFamily="34" charset="0"/>
                <a:ea typeface="Arial" pitchFamily="34" charset="-122"/>
                <a:cs typeface="Arial" pitchFamily="34" charset="-120"/>
              </a:rPr>
              <a:t>Bài toán trọng tâm: xây dựng một nền tảng hỗ trợ phân tích tài chính, đầu tư và quản lý danh mục bằng dữ liệu thị trường, mô hình định lượng và AI.</a:t>
            </a:r>
            <a:endParaRPr lang="en-US" sz="2300" dirty="0"/>
          </a:p>
        </p:txBody>
      </p:sp>
      <p:sp>
        <p:nvSpPr>
          <p:cNvPr id="6" name="Shape 4"/>
          <p:cNvSpPr/>
          <p:nvPr/>
        </p:nvSpPr>
        <p:spPr>
          <a:xfrm>
            <a:off x="731520" y="2514600"/>
            <a:ext cx="3337560" cy="1874520"/>
          </a:xfrm>
          <a:prstGeom prst="rect">
            <a:avLst/>
          </a:prstGeom>
          <a:solidFill>
            <a:srgbClr val="EEF6FF"/>
          </a:solidFill>
          <a:ln w="12700">
            <a:solidFill>
              <a:srgbClr val="175CD3"/>
            </a:solidFill>
            <a:prstDash val="solid"/>
          </a:ln>
        </p:spPr>
      </p:sp>
      <p:sp>
        <p:nvSpPr>
          <p:cNvPr id="7" name="Text 5"/>
          <p:cNvSpPr/>
          <p:nvPr/>
        </p:nvSpPr>
        <p:spPr>
          <a:xfrm>
            <a:off x="877824" y="263347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Nhu cầu</a:t>
            </a:r>
            <a:endParaRPr lang="en-US" sz="1320" dirty="0"/>
          </a:p>
        </p:txBody>
      </p:sp>
      <p:sp>
        <p:nvSpPr>
          <p:cNvPr id="8" name="Text 6"/>
          <p:cNvSpPr/>
          <p:nvPr/>
        </p:nvSpPr>
        <p:spPr>
          <a:xfrm>
            <a:off x="877824" y="2944368"/>
            <a:ext cx="3044952" cy="13533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Nhà đầu tư cần dữ liệu, chỉ báo, rủi ro, tin tức và giải thích AI trong cùng một quy trình ra quyết định.</a:t>
            </a:r>
            <a:endParaRPr lang="en-US" sz="1180" dirty="0"/>
          </a:p>
        </p:txBody>
      </p:sp>
      <p:sp>
        <p:nvSpPr>
          <p:cNvPr id="9" name="Shape 7"/>
          <p:cNvSpPr/>
          <p:nvPr/>
        </p:nvSpPr>
        <p:spPr>
          <a:xfrm>
            <a:off x="4434840" y="2514600"/>
            <a:ext cx="3337560" cy="1874520"/>
          </a:xfrm>
          <a:prstGeom prst="rect">
            <a:avLst/>
          </a:prstGeom>
          <a:solidFill>
            <a:srgbClr val="FFF7ED"/>
          </a:solidFill>
          <a:ln w="12700">
            <a:solidFill>
              <a:srgbClr val="E46A11"/>
            </a:solidFill>
            <a:prstDash val="solid"/>
          </a:ln>
        </p:spPr>
      </p:sp>
      <p:sp>
        <p:nvSpPr>
          <p:cNvPr id="10" name="Text 8"/>
          <p:cNvSpPr/>
          <p:nvPr/>
        </p:nvSpPr>
        <p:spPr>
          <a:xfrm>
            <a:off x="4581144" y="263347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E46A11"/>
                </a:solidFill>
                <a:latin typeface="Arial" pitchFamily="34" charset="0"/>
                <a:ea typeface="Arial" pitchFamily="34" charset="-122"/>
                <a:cs typeface="Arial" pitchFamily="34" charset="-120"/>
              </a:rPr>
              <a:t>Thách thức</a:t>
            </a:r>
            <a:endParaRPr lang="en-US" sz="1320" dirty="0"/>
          </a:p>
        </p:txBody>
      </p:sp>
      <p:sp>
        <p:nvSpPr>
          <p:cNvPr id="11" name="Text 9"/>
          <p:cNvSpPr/>
          <p:nvPr/>
        </p:nvSpPr>
        <p:spPr>
          <a:xfrm>
            <a:off x="4581144" y="2944368"/>
            <a:ext cx="3044952" cy="13533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Dữ liệu tài chính nhiễu cao, dễ rò rỉ dữ liệu khi đánh giá mô hình, khó chứng minh hiệu quả nếu không có backtest ngoài mẫu.</a:t>
            </a:r>
            <a:endParaRPr lang="en-US" sz="1180" dirty="0"/>
          </a:p>
        </p:txBody>
      </p:sp>
      <p:sp>
        <p:nvSpPr>
          <p:cNvPr id="12" name="Shape 10"/>
          <p:cNvSpPr/>
          <p:nvPr/>
        </p:nvSpPr>
        <p:spPr>
          <a:xfrm>
            <a:off x="8138160" y="2514600"/>
            <a:ext cx="3337560" cy="1874520"/>
          </a:xfrm>
          <a:prstGeom prst="rect">
            <a:avLst/>
          </a:prstGeom>
          <a:solidFill>
            <a:srgbClr val="F0FDF4"/>
          </a:solidFill>
          <a:ln w="12700">
            <a:solidFill>
              <a:srgbClr val="157347"/>
            </a:solidFill>
            <a:prstDash val="solid"/>
          </a:ln>
        </p:spPr>
      </p:sp>
      <p:sp>
        <p:nvSpPr>
          <p:cNvPr id="13" name="Text 11"/>
          <p:cNvSpPr/>
          <p:nvPr/>
        </p:nvSpPr>
        <p:spPr>
          <a:xfrm>
            <a:off x="8284464" y="263347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Giải pháp</a:t>
            </a:r>
            <a:endParaRPr lang="en-US" sz="1320" dirty="0"/>
          </a:p>
        </p:txBody>
      </p:sp>
      <p:sp>
        <p:nvSpPr>
          <p:cNvPr id="14" name="Text 12"/>
          <p:cNvSpPr/>
          <p:nvPr/>
        </p:nvSpPr>
        <p:spPr>
          <a:xfrm>
            <a:off x="8284464" y="2944368"/>
            <a:ext cx="3044952" cy="13533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Crystal Ball kết hợp dashboard, Supabase Edge Functions, AI Gateway, pipeline Python, Streamlit demo và báo cáo tái lập.</a:t>
            </a:r>
            <a:endParaRPr lang="en-US" sz="1180" dirty="0"/>
          </a:p>
        </p:txBody>
      </p:sp>
      <p:sp>
        <p:nvSpPr>
          <p:cNvPr id="15" name="Text 13"/>
          <p:cNvSpPr/>
          <p:nvPr/>
        </p:nvSpPr>
        <p:spPr>
          <a:xfrm>
            <a:off x="914400" y="5138928"/>
            <a:ext cx="10058400" cy="347472"/>
          </a:xfrm>
          <a:prstGeom prst="rect">
            <a:avLst/>
          </a:prstGeom>
          <a:noFill/>
          <a:ln/>
        </p:spPr>
        <p:txBody>
          <a:bodyPr wrap="square" lIns="381" tIns="381" rIns="381" bIns="381" rtlCol="0" anchor="t">
            <a:normAutofit/>
          </a:bodyPr>
          <a:lstStyle/>
          <a:p>
            <a:pPr algn="ctr" indent="0" marL="0">
              <a:buNone/>
            </a:pPr>
            <a:r>
              <a:rPr lang="en-US" sz="1800" b="1" dirty="0">
                <a:solidFill>
                  <a:srgbClr val="157347"/>
                </a:solidFill>
                <a:latin typeface="Arial" pitchFamily="34" charset="0"/>
                <a:ea typeface="Arial" pitchFamily="34" charset="-122"/>
                <a:cs typeface="Arial" pitchFamily="34" charset="-120"/>
              </a:rPr>
              <a:t>Thông điệp: dự án được triển khai như một hệ thống hoàn chỉnh, không phải một mô hình rời rạc.</a:t>
            </a:r>
            <a:endParaRPr lang="en-US" sz="180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RESEARCH OBJECTIVES</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Mục tiêu nghiên cứu và triển khai</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804672" y="1417320"/>
            <a:ext cx="4892040" cy="1371600"/>
          </a:xfrm>
          <a:prstGeom prst="rect">
            <a:avLst/>
          </a:prstGeom>
          <a:solidFill>
            <a:srgbClr val="EEF6FF"/>
          </a:solidFill>
          <a:ln w="12700">
            <a:solidFill>
              <a:srgbClr val="175CD3"/>
            </a:solidFill>
            <a:prstDash val="solid"/>
          </a:ln>
        </p:spPr>
      </p:sp>
      <p:sp>
        <p:nvSpPr>
          <p:cNvPr id="6" name="Text 4"/>
          <p:cNvSpPr/>
          <p:nvPr/>
        </p:nvSpPr>
        <p:spPr>
          <a:xfrm>
            <a:off x="950976" y="1536192"/>
            <a:ext cx="459943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Mục tiêu 1</a:t>
            </a:r>
            <a:endParaRPr lang="en-US" sz="1320" dirty="0"/>
          </a:p>
        </p:txBody>
      </p:sp>
      <p:sp>
        <p:nvSpPr>
          <p:cNvPr id="7" name="Text 5"/>
          <p:cNvSpPr/>
          <p:nvPr/>
        </p:nvSpPr>
        <p:spPr>
          <a:xfrm>
            <a:off x="950976" y="1847088"/>
            <a:ext cx="4599432" cy="8503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Xây dựng nền tảng phân tích tài chính có dashboard, stock/crypto, risk engine, portfolio optimizer và AI assistant.</a:t>
            </a:r>
            <a:endParaRPr lang="en-US" sz="1180" dirty="0"/>
          </a:p>
        </p:txBody>
      </p:sp>
      <p:sp>
        <p:nvSpPr>
          <p:cNvPr id="8" name="Shape 6"/>
          <p:cNvSpPr/>
          <p:nvPr/>
        </p:nvSpPr>
        <p:spPr>
          <a:xfrm>
            <a:off x="6199632" y="1417320"/>
            <a:ext cx="4892040" cy="1371600"/>
          </a:xfrm>
          <a:prstGeom prst="rect">
            <a:avLst/>
          </a:prstGeom>
          <a:solidFill>
            <a:srgbClr val="F0FDF4"/>
          </a:solidFill>
          <a:ln w="12700">
            <a:solidFill>
              <a:srgbClr val="157347"/>
            </a:solidFill>
            <a:prstDash val="solid"/>
          </a:ln>
        </p:spPr>
      </p:sp>
      <p:sp>
        <p:nvSpPr>
          <p:cNvPr id="9" name="Text 7"/>
          <p:cNvSpPr/>
          <p:nvPr/>
        </p:nvSpPr>
        <p:spPr>
          <a:xfrm>
            <a:off x="6345936" y="1536192"/>
            <a:ext cx="459943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Mục tiêu 2</a:t>
            </a:r>
            <a:endParaRPr lang="en-US" sz="1320" dirty="0"/>
          </a:p>
        </p:txBody>
      </p:sp>
      <p:sp>
        <p:nvSpPr>
          <p:cNvPr id="10" name="Text 8"/>
          <p:cNvSpPr/>
          <p:nvPr/>
        </p:nvSpPr>
        <p:spPr>
          <a:xfrm>
            <a:off x="6345936" y="1847088"/>
            <a:ext cx="4599432" cy="8503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Thiết kế pipeline Python cho bài toán AI quản lý danh mục đầu tư theo hướng predict-then-optimize.</a:t>
            </a:r>
            <a:endParaRPr lang="en-US" sz="1180" dirty="0"/>
          </a:p>
        </p:txBody>
      </p:sp>
      <p:sp>
        <p:nvSpPr>
          <p:cNvPr id="11" name="Shape 9"/>
          <p:cNvSpPr/>
          <p:nvPr/>
        </p:nvSpPr>
        <p:spPr>
          <a:xfrm>
            <a:off x="804672" y="3383280"/>
            <a:ext cx="4892040" cy="1371600"/>
          </a:xfrm>
          <a:prstGeom prst="rect">
            <a:avLst/>
          </a:prstGeom>
          <a:solidFill>
            <a:srgbClr val="EEF6FF"/>
          </a:solidFill>
          <a:ln w="12700">
            <a:solidFill>
              <a:srgbClr val="175CD3"/>
            </a:solidFill>
            <a:prstDash val="solid"/>
          </a:ln>
        </p:spPr>
      </p:sp>
      <p:sp>
        <p:nvSpPr>
          <p:cNvPr id="12" name="Text 10"/>
          <p:cNvSpPr/>
          <p:nvPr/>
        </p:nvSpPr>
        <p:spPr>
          <a:xfrm>
            <a:off x="950976" y="3502152"/>
            <a:ext cx="459943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Mục tiêu 3</a:t>
            </a:r>
            <a:endParaRPr lang="en-US" sz="1320" dirty="0"/>
          </a:p>
        </p:txBody>
      </p:sp>
      <p:sp>
        <p:nvSpPr>
          <p:cNvPr id="13" name="Text 11"/>
          <p:cNvSpPr/>
          <p:nvPr/>
        </p:nvSpPr>
        <p:spPr>
          <a:xfrm>
            <a:off x="950976" y="3813048"/>
            <a:ext cx="4599432" cy="8503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Đánh giá mô hình bằng train/valid/test theo thời gian, có embargo chống data leakage và backtest ngoài mẫu.</a:t>
            </a:r>
            <a:endParaRPr lang="en-US" sz="1180" dirty="0"/>
          </a:p>
        </p:txBody>
      </p:sp>
      <p:sp>
        <p:nvSpPr>
          <p:cNvPr id="14" name="Shape 12"/>
          <p:cNvSpPr/>
          <p:nvPr/>
        </p:nvSpPr>
        <p:spPr>
          <a:xfrm>
            <a:off x="6199632" y="3383280"/>
            <a:ext cx="4892040" cy="1371600"/>
          </a:xfrm>
          <a:prstGeom prst="rect">
            <a:avLst/>
          </a:prstGeom>
          <a:solidFill>
            <a:srgbClr val="F0FDF4"/>
          </a:solidFill>
          <a:ln w="12700">
            <a:solidFill>
              <a:srgbClr val="157347"/>
            </a:solidFill>
            <a:prstDash val="solid"/>
          </a:ln>
        </p:spPr>
      </p:sp>
      <p:sp>
        <p:nvSpPr>
          <p:cNvPr id="15" name="Text 13"/>
          <p:cNvSpPr/>
          <p:nvPr/>
        </p:nvSpPr>
        <p:spPr>
          <a:xfrm>
            <a:off x="6345936" y="3502152"/>
            <a:ext cx="459943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Mục tiêu 4</a:t>
            </a:r>
            <a:endParaRPr lang="en-US" sz="1320" dirty="0"/>
          </a:p>
        </p:txBody>
      </p:sp>
      <p:sp>
        <p:nvSpPr>
          <p:cNvPr id="16" name="Text 14"/>
          <p:cNvSpPr/>
          <p:nvPr/>
        </p:nvSpPr>
        <p:spPr>
          <a:xfrm>
            <a:off x="6345936" y="3813048"/>
            <a:ext cx="4599432" cy="8503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Tích hợp AI Gemini, sử dụng ChatGPT/Codex trong quy trình phát triển/báo cáo, và thiết kế tự động hóa n8n có lưu vết.</a:t>
            </a:r>
            <a:endParaRPr lang="en-US" sz="118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PRODUCT SCOPE</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Phạm vi hệ thống Crystal Ball</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8368" y="1353312"/>
          <a:ext cx="10881360" cy="4526280"/>
        </p:xfrm>
        <a:graphic>
          <a:graphicData uri="http://schemas.openxmlformats.org/drawingml/2006/table">
            <a:tbl>
              <a:tblPr/>
              <a:tblGrid>
                <a:gridCol w="1828800"/>
                <a:gridCol w="4663440"/>
                <a:gridCol w="4389120"/>
              </a:tblGrid>
              <a:tr h="646611">
                <a:tc>
                  <a:txBody>
                    <a:bodyPr/>
                    <a:lstStyle/>
                    <a:p>
                      <a:pPr indent="0" marL="0">
                        <a:buNone/>
                      </a:pPr>
                      <a:r>
                        <a:rPr lang="en-US" sz="1130" dirty="0">
                          <a:solidFill>
                            <a:srgbClr val="101828"/>
                          </a:solidFill>
                          <a:latin typeface="Arial" pitchFamily="34" charset="0"/>
                          <a:ea typeface="Arial" pitchFamily="34" charset="-122"/>
                          <a:cs typeface="Arial" pitchFamily="34" charset="-120"/>
                        </a:rPr>
                        <a:t>Phân hệ</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Chức năng</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Bằng chứng mã nguồn</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6611">
                <a:tc>
                  <a:txBody>
                    <a:bodyPr/>
                    <a:lstStyle/>
                    <a:p>
                      <a:pPr indent="0" marL="0">
                        <a:buNone/>
                      </a:pPr>
                      <a:r>
                        <a:rPr lang="en-US" sz="1130" dirty="0">
                          <a:solidFill>
                            <a:srgbClr val="101828"/>
                          </a:solidFill>
                          <a:latin typeface="Arial" pitchFamily="34" charset="0"/>
                          <a:ea typeface="Arial" pitchFamily="34" charset="-122"/>
                          <a:cs typeface="Arial" pitchFamily="34" charset="-120"/>
                        </a:rPr>
                        <a:t>Dashboard</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Tổng quan thị trường, watchlist, chỉ báo nhanh</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src/pages/platform/Dashboard.tsx</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6611">
                <a:tc>
                  <a:txBody>
                    <a:bodyPr/>
                    <a:lstStyle/>
                    <a:p>
                      <a:pPr indent="0" marL="0">
                        <a:buNone/>
                      </a:pPr>
                      <a:r>
                        <a:rPr lang="en-US" sz="1130" dirty="0">
                          <a:solidFill>
                            <a:srgbClr val="101828"/>
                          </a:solidFill>
                          <a:latin typeface="Arial" pitchFamily="34" charset="0"/>
                          <a:ea typeface="Arial" pitchFamily="34" charset="-122"/>
                          <a:cs typeface="Arial" pitchFamily="34" charset="-120"/>
                        </a:rPr>
                        <a:t>Stock Analysis</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Biểu đồ, technical indicators, AI Research, Portfolio Lab</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src/pages/platform/StockAnalysis.tsx</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6611">
                <a:tc>
                  <a:txBody>
                    <a:bodyPr/>
                    <a:lstStyle/>
                    <a:p>
                      <a:pPr indent="0" marL="0">
                        <a:buNone/>
                      </a:pPr>
                      <a:r>
                        <a:rPr lang="en-US" sz="1130" dirty="0">
                          <a:solidFill>
                            <a:srgbClr val="101828"/>
                          </a:solidFill>
                          <a:latin typeface="Arial" pitchFamily="34" charset="0"/>
                          <a:ea typeface="Arial" pitchFamily="34" charset="-122"/>
                          <a:cs typeface="Arial" pitchFamily="34" charset="-120"/>
                        </a:rPr>
                        <a:t>Crypto Intelligence</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Crypto market, Fear &amp; Greed, Crypto Chat</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src/pages/platform/CryptoIntelligence.tsx</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6611">
                <a:tc>
                  <a:txBody>
                    <a:bodyPr/>
                    <a:lstStyle/>
                    <a:p>
                      <a:pPr indent="0" marL="0">
                        <a:buNone/>
                      </a:pPr>
                      <a:r>
                        <a:rPr lang="en-US" sz="1130" dirty="0">
                          <a:solidFill>
                            <a:srgbClr val="101828"/>
                          </a:solidFill>
                          <a:latin typeface="Arial" pitchFamily="34" charset="0"/>
                          <a:ea typeface="Arial" pitchFamily="34" charset="-122"/>
                          <a:cs typeface="Arial" pitchFamily="34" charset="-120"/>
                        </a:rPr>
                        <a:t>Risk Engine</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VaR, CVaR, drawdown, stress testing</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src/pages/platform/RiskEngine.tsx</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6611">
                <a:tc>
                  <a:txBody>
                    <a:bodyPr/>
                    <a:lstStyle/>
                    <a:p>
                      <a:pPr indent="0" marL="0">
                        <a:buNone/>
                      </a:pPr>
                      <a:r>
                        <a:rPr lang="en-US" sz="1130" dirty="0">
                          <a:solidFill>
                            <a:srgbClr val="101828"/>
                          </a:solidFill>
                          <a:latin typeface="Arial" pitchFamily="34" charset="0"/>
                          <a:ea typeface="Arial" pitchFamily="34" charset="-122"/>
                          <a:cs typeface="Arial" pitchFamily="34" charset="-120"/>
                        </a:rPr>
                        <a:t>AI Insights</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Chat AI, market analysis, news/community context</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src/pages/platform/AIInsights.tsx</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6611">
                <a:tc>
                  <a:txBody>
                    <a:bodyPr/>
                    <a:lstStyle/>
                    <a:p>
                      <a:pPr indent="0" marL="0">
                        <a:buNone/>
                      </a:pPr>
                      <a:r>
                        <a:rPr lang="en-US" sz="1130" dirty="0">
                          <a:solidFill>
                            <a:srgbClr val="101828"/>
                          </a:solidFill>
                          <a:latin typeface="Arial" pitchFamily="34" charset="0"/>
                          <a:ea typeface="Arial" pitchFamily="34" charset="-122"/>
                          <a:cs typeface="Arial" pitchFamily="34" charset="-120"/>
                        </a:rPr>
                        <a:t>Project Analysis</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NPV, IRR, Monte Carlo, PDF/Word + AI analysis</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30" dirty="0">
                          <a:solidFill>
                            <a:srgbClr val="101828"/>
                          </a:solidFill>
                          <a:latin typeface="Arial" pitchFamily="34" charset="0"/>
                          <a:ea typeface="Arial" pitchFamily="34" charset="-122"/>
                          <a:cs typeface="Arial" pitchFamily="34" charset="-120"/>
                        </a:rPr>
                        <a:t>src/pages/ProjectAnalysis.tsx</a:t>
                      </a:r>
                      <a:endParaRPr lang="en-US" sz="11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6" name="Text 3"/>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README.md; src/pages/platform/*; src/components/platform/*</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METHODOLOGY</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Phương pháp nghiên cứu</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685800" y="1417320"/>
            <a:ext cx="3246120" cy="1298448"/>
          </a:xfrm>
          <a:prstGeom prst="rect">
            <a:avLst/>
          </a:prstGeom>
          <a:solidFill>
            <a:srgbClr val="EEF6FF"/>
          </a:solidFill>
          <a:ln w="12700">
            <a:solidFill>
              <a:srgbClr val="175CD3"/>
            </a:solidFill>
            <a:prstDash val="solid"/>
          </a:ln>
        </p:spPr>
      </p:sp>
      <p:sp>
        <p:nvSpPr>
          <p:cNvPr id="6" name="Text 4"/>
          <p:cNvSpPr/>
          <p:nvPr/>
        </p:nvSpPr>
        <p:spPr>
          <a:xfrm>
            <a:off x="832104" y="153619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1. Đặt bài toán</a:t>
            </a:r>
            <a:endParaRPr lang="en-US" sz="1320" dirty="0"/>
          </a:p>
        </p:txBody>
      </p:sp>
      <p:sp>
        <p:nvSpPr>
          <p:cNvPr id="7" name="Text 5"/>
          <p:cNvSpPr/>
          <p:nvPr/>
        </p:nvSpPr>
        <p:spPr>
          <a:xfrm>
            <a:off x="832104" y="1847088"/>
            <a:ext cx="2953512" cy="777240"/>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Quản lý danh mục theo kiến trúc predict-then-optimize</a:t>
            </a:r>
            <a:endParaRPr lang="en-US" sz="1180" dirty="0"/>
          </a:p>
        </p:txBody>
      </p:sp>
      <p:sp>
        <p:nvSpPr>
          <p:cNvPr id="8" name="Shape 6"/>
          <p:cNvSpPr/>
          <p:nvPr/>
        </p:nvSpPr>
        <p:spPr>
          <a:xfrm>
            <a:off x="4389120" y="1417320"/>
            <a:ext cx="3246120" cy="1298448"/>
          </a:xfrm>
          <a:prstGeom prst="rect">
            <a:avLst/>
          </a:prstGeom>
          <a:solidFill>
            <a:srgbClr val="EEF6FF"/>
          </a:solidFill>
          <a:ln w="12700">
            <a:solidFill>
              <a:srgbClr val="175CD3"/>
            </a:solidFill>
            <a:prstDash val="solid"/>
          </a:ln>
        </p:spPr>
      </p:sp>
      <p:sp>
        <p:nvSpPr>
          <p:cNvPr id="9" name="Text 7"/>
          <p:cNvSpPr/>
          <p:nvPr/>
        </p:nvSpPr>
        <p:spPr>
          <a:xfrm>
            <a:off x="4535424" y="153619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2. Thu thập dữ liệu</a:t>
            </a:r>
            <a:endParaRPr lang="en-US" sz="1320" dirty="0"/>
          </a:p>
        </p:txBody>
      </p:sp>
      <p:sp>
        <p:nvSpPr>
          <p:cNvPr id="10" name="Text 8"/>
          <p:cNvSpPr/>
          <p:nvPr/>
        </p:nvSpPr>
        <p:spPr>
          <a:xfrm>
            <a:off x="4535424" y="1847088"/>
            <a:ext cx="2953512" cy="777240"/>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Yahoo Finance, benchmark SPY, risk-free ^IRX</a:t>
            </a:r>
            <a:endParaRPr lang="en-US" sz="1180" dirty="0"/>
          </a:p>
        </p:txBody>
      </p:sp>
      <p:sp>
        <p:nvSpPr>
          <p:cNvPr id="11" name="Shape 9"/>
          <p:cNvSpPr/>
          <p:nvPr/>
        </p:nvSpPr>
        <p:spPr>
          <a:xfrm>
            <a:off x="8092440" y="1417320"/>
            <a:ext cx="3246120" cy="1298448"/>
          </a:xfrm>
          <a:prstGeom prst="rect">
            <a:avLst/>
          </a:prstGeom>
          <a:solidFill>
            <a:srgbClr val="EEF6FF"/>
          </a:solidFill>
          <a:ln w="12700">
            <a:solidFill>
              <a:srgbClr val="175CD3"/>
            </a:solidFill>
            <a:prstDash val="solid"/>
          </a:ln>
        </p:spPr>
      </p:sp>
      <p:sp>
        <p:nvSpPr>
          <p:cNvPr id="12" name="Text 10"/>
          <p:cNvSpPr/>
          <p:nvPr/>
        </p:nvSpPr>
        <p:spPr>
          <a:xfrm>
            <a:off x="8238744" y="153619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3. Tiền xử lý</a:t>
            </a:r>
            <a:endParaRPr lang="en-US" sz="1320" dirty="0"/>
          </a:p>
        </p:txBody>
      </p:sp>
      <p:sp>
        <p:nvSpPr>
          <p:cNvPr id="13" name="Text 11"/>
          <p:cNvSpPr/>
          <p:nvPr/>
        </p:nvSpPr>
        <p:spPr>
          <a:xfrm>
            <a:off x="8238744" y="1847088"/>
            <a:ext cx="2953512" cy="777240"/>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Căn chỉnh ngày, tính returns, tạo feature trailing</a:t>
            </a:r>
            <a:endParaRPr lang="en-US" sz="1180" dirty="0"/>
          </a:p>
        </p:txBody>
      </p:sp>
      <p:sp>
        <p:nvSpPr>
          <p:cNvPr id="14" name="Shape 12"/>
          <p:cNvSpPr/>
          <p:nvPr/>
        </p:nvSpPr>
        <p:spPr>
          <a:xfrm>
            <a:off x="685800" y="3291840"/>
            <a:ext cx="3246120" cy="1298448"/>
          </a:xfrm>
          <a:prstGeom prst="rect">
            <a:avLst/>
          </a:prstGeom>
          <a:solidFill>
            <a:srgbClr val="F0FDF4"/>
          </a:solidFill>
          <a:ln w="12700">
            <a:solidFill>
              <a:srgbClr val="157347"/>
            </a:solidFill>
            <a:prstDash val="solid"/>
          </a:ln>
        </p:spPr>
      </p:sp>
      <p:sp>
        <p:nvSpPr>
          <p:cNvPr id="15" name="Text 13"/>
          <p:cNvSpPr/>
          <p:nvPr/>
        </p:nvSpPr>
        <p:spPr>
          <a:xfrm>
            <a:off x="832104" y="341071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4. Thiết kế thí nghiệm</a:t>
            </a:r>
            <a:endParaRPr lang="en-US" sz="1320" dirty="0"/>
          </a:p>
        </p:txBody>
      </p:sp>
      <p:sp>
        <p:nvSpPr>
          <p:cNvPr id="16" name="Text 14"/>
          <p:cNvSpPr/>
          <p:nvPr/>
        </p:nvSpPr>
        <p:spPr>
          <a:xfrm>
            <a:off x="832104" y="3721608"/>
            <a:ext cx="2953512" cy="777240"/>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Train/valid/test theo thời gian, embargo 81 phiên</a:t>
            </a:r>
            <a:endParaRPr lang="en-US" sz="1180" dirty="0"/>
          </a:p>
        </p:txBody>
      </p:sp>
      <p:sp>
        <p:nvSpPr>
          <p:cNvPr id="17" name="Shape 15"/>
          <p:cNvSpPr/>
          <p:nvPr/>
        </p:nvSpPr>
        <p:spPr>
          <a:xfrm>
            <a:off x="4389120" y="3291840"/>
            <a:ext cx="3246120" cy="1298448"/>
          </a:xfrm>
          <a:prstGeom prst="rect">
            <a:avLst/>
          </a:prstGeom>
          <a:solidFill>
            <a:srgbClr val="F0FDF4"/>
          </a:solidFill>
          <a:ln w="12700">
            <a:solidFill>
              <a:srgbClr val="157347"/>
            </a:solidFill>
            <a:prstDash val="solid"/>
          </a:ln>
        </p:spPr>
      </p:sp>
      <p:sp>
        <p:nvSpPr>
          <p:cNvPr id="18" name="Text 16"/>
          <p:cNvSpPr/>
          <p:nvPr/>
        </p:nvSpPr>
        <p:spPr>
          <a:xfrm>
            <a:off x="4535424" y="341071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5. Huấn luyện</a:t>
            </a:r>
            <a:endParaRPr lang="en-US" sz="1320" dirty="0"/>
          </a:p>
        </p:txBody>
      </p:sp>
      <p:sp>
        <p:nvSpPr>
          <p:cNvPr id="19" name="Text 17"/>
          <p:cNvSpPr/>
          <p:nvPr/>
        </p:nvSpPr>
        <p:spPr>
          <a:xfrm>
            <a:off x="4535424" y="3721608"/>
            <a:ext cx="2953512" cy="777240"/>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Baseline + PA-Transformer + ablation</a:t>
            </a:r>
            <a:endParaRPr lang="en-US" sz="1180" dirty="0"/>
          </a:p>
        </p:txBody>
      </p:sp>
      <p:sp>
        <p:nvSpPr>
          <p:cNvPr id="20" name="Shape 18"/>
          <p:cNvSpPr/>
          <p:nvPr/>
        </p:nvSpPr>
        <p:spPr>
          <a:xfrm>
            <a:off x="8092440" y="3291840"/>
            <a:ext cx="3246120" cy="1298448"/>
          </a:xfrm>
          <a:prstGeom prst="rect">
            <a:avLst/>
          </a:prstGeom>
          <a:solidFill>
            <a:srgbClr val="F0FDF4"/>
          </a:solidFill>
          <a:ln w="12700">
            <a:solidFill>
              <a:srgbClr val="157347"/>
            </a:solidFill>
            <a:prstDash val="solid"/>
          </a:ln>
        </p:spPr>
      </p:sp>
      <p:sp>
        <p:nvSpPr>
          <p:cNvPr id="21" name="Text 19"/>
          <p:cNvSpPr/>
          <p:nvPr/>
        </p:nvSpPr>
        <p:spPr>
          <a:xfrm>
            <a:off x="8238744" y="341071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6. Đánh giá</a:t>
            </a:r>
            <a:endParaRPr lang="en-US" sz="1320" dirty="0"/>
          </a:p>
        </p:txBody>
      </p:sp>
      <p:sp>
        <p:nvSpPr>
          <p:cNvPr id="22" name="Text 20"/>
          <p:cNvSpPr/>
          <p:nvPr/>
        </p:nvSpPr>
        <p:spPr>
          <a:xfrm>
            <a:off x="8238744" y="3721608"/>
            <a:ext cx="2953512" cy="777240"/>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Walk-forward backtest, Sharpe, MDD, Sortino, Calmar</a:t>
            </a:r>
            <a:endParaRPr lang="en-US" sz="1180" dirty="0"/>
          </a:p>
        </p:txBody>
      </p:sp>
      <p:sp>
        <p:nvSpPr>
          <p:cNvPr id="23" name="Text 21"/>
          <p:cNvSpPr/>
          <p:nvPr/>
        </p:nvSpPr>
        <p:spPr>
          <a:xfrm>
            <a:off x="868680" y="5532120"/>
            <a:ext cx="10332720" cy="292608"/>
          </a:xfrm>
          <a:prstGeom prst="rect">
            <a:avLst/>
          </a:prstGeom>
          <a:noFill/>
          <a:ln/>
        </p:spPr>
        <p:txBody>
          <a:bodyPr wrap="square" lIns="381" tIns="381" rIns="381" bIns="381" rtlCol="0" anchor="t">
            <a:normAutofit/>
          </a:bodyPr>
          <a:lstStyle/>
          <a:p>
            <a:pPr algn="ctr" indent="0" marL="0">
              <a:buNone/>
            </a:pPr>
            <a:r>
              <a:rPr lang="en-US" sz="1650" b="1" dirty="0">
                <a:solidFill>
                  <a:srgbClr val="E46A11"/>
                </a:solidFill>
                <a:latin typeface="Arial" pitchFamily="34" charset="0"/>
                <a:ea typeface="Arial" pitchFamily="34" charset="-122"/>
                <a:cs typeface="Arial" pitchFamily="34" charset="-120"/>
              </a:rPr>
              <a:t>Phương pháp cốt lõi: đánh giá ngoài mẫu nghiêm ngặt thay vì tối ưu số liệu trên tập test.</a:t>
            </a:r>
            <a:endParaRPr lang="en-US" sz="165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DATA COLLECTION</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Cách thu thập dữ liệu</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731520" y="1417320"/>
            <a:ext cx="1965960" cy="932688"/>
          </a:xfrm>
          <a:prstGeom prst="rect">
            <a:avLst/>
          </a:prstGeom>
          <a:solidFill>
            <a:srgbClr val="F8FAFC"/>
          </a:solidFill>
          <a:ln w="10160">
            <a:solidFill>
              <a:srgbClr val="D0D5DD"/>
            </a:solidFill>
            <a:prstDash val="solid"/>
          </a:ln>
        </p:spPr>
      </p:sp>
      <p:sp>
        <p:nvSpPr>
          <p:cNvPr id="6" name="Text 4"/>
          <p:cNvSpPr/>
          <p:nvPr/>
        </p:nvSpPr>
        <p:spPr>
          <a:xfrm>
            <a:off x="850392"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175CD3"/>
                </a:solidFill>
                <a:latin typeface="Arial" pitchFamily="34" charset="0"/>
                <a:ea typeface="Arial" pitchFamily="34" charset="-122"/>
                <a:cs typeface="Arial" pitchFamily="34" charset="-120"/>
              </a:rPr>
              <a:t>Yahoo</a:t>
            </a:r>
            <a:endParaRPr lang="en-US" sz="2200" dirty="0"/>
          </a:p>
        </p:txBody>
      </p:sp>
      <p:sp>
        <p:nvSpPr>
          <p:cNvPr id="7" name="Text 5"/>
          <p:cNvSpPr/>
          <p:nvPr/>
        </p:nvSpPr>
        <p:spPr>
          <a:xfrm>
            <a:off x="850392"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Nguồn</a:t>
            </a:r>
            <a:endParaRPr lang="en-US" sz="980" dirty="0"/>
          </a:p>
        </p:txBody>
      </p:sp>
      <p:sp>
        <p:nvSpPr>
          <p:cNvPr id="8" name="Text 6"/>
          <p:cNvSpPr/>
          <p:nvPr/>
        </p:nvSpPr>
        <p:spPr>
          <a:xfrm>
            <a:off x="850392"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yfinance</a:t>
            </a:r>
            <a:endParaRPr lang="en-US" sz="760" dirty="0"/>
          </a:p>
        </p:txBody>
      </p:sp>
      <p:sp>
        <p:nvSpPr>
          <p:cNvPr id="9" name="Shape 7"/>
          <p:cNvSpPr/>
          <p:nvPr/>
        </p:nvSpPr>
        <p:spPr>
          <a:xfrm>
            <a:off x="2907792" y="1417320"/>
            <a:ext cx="1965960" cy="932688"/>
          </a:xfrm>
          <a:prstGeom prst="rect">
            <a:avLst/>
          </a:prstGeom>
          <a:solidFill>
            <a:srgbClr val="F8FAFC"/>
          </a:solidFill>
          <a:ln w="10160">
            <a:solidFill>
              <a:srgbClr val="D0D5DD"/>
            </a:solidFill>
            <a:prstDash val="solid"/>
          </a:ln>
        </p:spPr>
      </p:sp>
      <p:sp>
        <p:nvSpPr>
          <p:cNvPr id="10" name="Text 8"/>
          <p:cNvSpPr/>
          <p:nvPr/>
        </p:nvSpPr>
        <p:spPr>
          <a:xfrm>
            <a:off x="3026664"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157347"/>
                </a:solidFill>
                <a:latin typeface="Arial" pitchFamily="34" charset="0"/>
                <a:ea typeface="Arial" pitchFamily="34" charset="-122"/>
                <a:cs typeface="Arial" pitchFamily="34" charset="-120"/>
              </a:rPr>
              <a:t>14</a:t>
            </a:r>
            <a:endParaRPr lang="en-US" sz="2200" dirty="0"/>
          </a:p>
        </p:txBody>
      </p:sp>
      <p:sp>
        <p:nvSpPr>
          <p:cNvPr id="11" name="Text 9"/>
          <p:cNvSpPr/>
          <p:nvPr/>
        </p:nvSpPr>
        <p:spPr>
          <a:xfrm>
            <a:off x="3026664"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Universe</a:t>
            </a:r>
            <a:endParaRPr lang="en-US" sz="980" dirty="0"/>
          </a:p>
        </p:txBody>
      </p:sp>
      <p:sp>
        <p:nvSpPr>
          <p:cNvPr id="12" name="Text 10"/>
          <p:cNvSpPr/>
          <p:nvPr/>
        </p:nvSpPr>
        <p:spPr>
          <a:xfrm>
            <a:off x="3026664"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tài sản</a:t>
            </a:r>
            <a:endParaRPr lang="en-US" sz="760" dirty="0"/>
          </a:p>
        </p:txBody>
      </p:sp>
      <p:sp>
        <p:nvSpPr>
          <p:cNvPr id="13" name="Shape 11"/>
          <p:cNvSpPr/>
          <p:nvPr/>
        </p:nvSpPr>
        <p:spPr>
          <a:xfrm>
            <a:off x="5084064" y="1417320"/>
            <a:ext cx="1965960" cy="932688"/>
          </a:xfrm>
          <a:prstGeom prst="rect">
            <a:avLst/>
          </a:prstGeom>
          <a:solidFill>
            <a:srgbClr val="F8FAFC"/>
          </a:solidFill>
          <a:ln w="10160">
            <a:solidFill>
              <a:srgbClr val="D0D5DD"/>
            </a:solidFill>
            <a:prstDash val="solid"/>
          </a:ln>
        </p:spPr>
      </p:sp>
      <p:sp>
        <p:nvSpPr>
          <p:cNvPr id="14" name="Text 12"/>
          <p:cNvSpPr/>
          <p:nvPr/>
        </p:nvSpPr>
        <p:spPr>
          <a:xfrm>
            <a:off x="5202936"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6941C6"/>
                </a:solidFill>
                <a:latin typeface="Arial" pitchFamily="34" charset="0"/>
                <a:ea typeface="Arial" pitchFamily="34" charset="-122"/>
                <a:cs typeface="Arial" pitchFamily="34" charset="-120"/>
              </a:rPr>
              <a:t>SPY</a:t>
            </a:r>
            <a:endParaRPr lang="en-US" sz="2200" dirty="0"/>
          </a:p>
        </p:txBody>
      </p:sp>
      <p:sp>
        <p:nvSpPr>
          <p:cNvPr id="15" name="Text 13"/>
          <p:cNvSpPr/>
          <p:nvPr/>
        </p:nvSpPr>
        <p:spPr>
          <a:xfrm>
            <a:off x="5202936"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Benchmark</a:t>
            </a:r>
            <a:endParaRPr lang="en-US" sz="980" dirty="0"/>
          </a:p>
        </p:txBody>
      </p:sp>
      <p:sp>
        <p:nvSpPr>
          <p:cNvPr id="16" name="Shape 14"/>
          <p:cNvSpPr/>
          <p:nvPr/>
        </p:nvSpPr>
        <p:spPr>
          <a:xfrm>
            <a:off x="7260336" y="1417320"/>
            <a:ext cx="1965960" cy="932688"/>
          </a:xfrm>
          <a:prstGeom prst="rect">
            <a:avLst/>
          </a:prstGeom>
          <a:solidFill>
            <a:srgbClr val="F8FAFC"/>
          </a:solidFill>
          <a:ln w="10160">
            <a:solidFill>
              <a:srgbClr val="D0D5DD"/>
            </a:solidFill>
            <a:prstDash val="solid"/>
          </a:ln>
        </p:spPr>
      </p:sp>
      <p:sp>
        <p:nvSpPr>
          <p:cNvPr id="17" name="Text 15"/>
          <p:cNvSpPr/>
          <p:nvPr/>
        </p:nvSpPr>
        <p:spPr>
          <a:xfrm>
            <a:off x="7379208"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E46A11"/>
                </a:solidFill>
                <a:latin typeface="Arial" pitchFamily="34" charset="0"/>
                <a:ea typeface="Arial" pitchFamily="34" charset="-122"/>
                <a:cs typeface="Arial" pitchFamily="34" charset="-120"/>
              </a:rPr>
              <a:t>^IRX</a:t>
            </a:r>
            <a:endParaRPr lang="en-US" sz="2200" dirty="0"/>
          </a:p>
        </p:txBody>
      </p:sp>
      <p:sp>
        <p:nvSpPr>
          <p:cNvPr id="18" name="Text 16"/>
          <p:cNvSpPr/>
          <p:nvPr/>
        </p:nvSpPr>
        <p:spPr>
          <a:xfrm>
            <a:off x="7379208"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Risk-free</a:t>
            </a:r>
            <a:endParaRPr lang="en-US" sz="980" dirty="0"/>
          </a:p>
        </p:txBody>
      </p:sp>
      <p:sp>
        <p:nvSpPr>
          <p:cNvPr id="19" name="Shape 17"/>
          <p:cNvSpPr/>
          <p:nvPr/>
        </p:nvSpPr>
        <p:spPr>
          <a:xfrm>
            <a:off x="9436608" y="1417320"/>
            <a:ext cx="1965960" cy="932688"/>
          </a:xfrm>
          <a:prstGeom prst="rect">
            <a:avLst/>
          </a:prstGeom>
          <a:solidFill>
            <a:srgbClr val="F8FAFC"/>
          </a:solidFill>
          <a:ln w="10160">
            <a:solidFill>
              <a:srgbClr val="D0D5DD"/>
            </a:solidFill>
            <a:prstDash val="solid"/>
          </a:ln>
        </p:spPr>
      </p:sp>
      <p:sp>
        <p:nvSpPr>
          <p:cNvPr id="20" name="Text 18"/>
          <p:cNvSpPr/>
          <p:nvPr/>
        </p:nvSpPr>
        <p:spPr>
          <a:xfrm>
            <a:off x="9555480"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0E9384"/>
                </a:solidFill>
                <a:latin typeface="Arial" pitchFamily="34" charset="0"/>
                <a:ea typeface="Arial" pitchFamily="34" charset="-122"/>
                <a:cs typeface="Arial" pitchFamily="34" charset="-120"/>
              </a:rPr>
              <a:t>CSV</a:t>
            </a:r>
            <a:endParaRPr lang="en-US" sz="2200" dirty="0"/>
          </a:p>
        </p:txBody>
      </p:sp>
      <p:sp>
        <p:nvSpPr>
          <p:cNvPr id="21" name="Text 19"/>
          <p:cNvSpPr/>
          <p:nvPr/>
        </p:nvSpPr>
        <p:spPr>
          <a:xfrm>
            <a:off x="9555480"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Cache</a:t>
            </a:r>
            <a:endParaRPr lang="en-US" sz="980" dirty="0"/>
          </a:p>
        </p:txBody>
      </p:sp>
      <p:sp>
        <p:nvSpPr>
          <p:cNvPr id="22" name="Text 20"/>
          <p:cNvSpPr/>
          <p:nvPr/>
        </p:nvSpPr>
        <p:spPr>
          <a:xfrm>
            <a:off x="9555480"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data/raw</a:t>
            </a:r>
            <a:endParaRPr lang="en-US" sz="76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788920"/>
          <a:ext cx="10561320" cy="2697480"/>
        </p:xfrm>
        <a:graphic>
          <a:graphicData uri="http://schemas.openxmlformats.org/drawingml/2006/table">
            <a:tbl>
              <a:tblPr/>
              <a:tblGrid>
                <a:gridCol w="2194560"/>
                <a:gridCol w="8366760"/>
              </a:tblGrid>
              <a:tr h="449580">
                <a:tc>
                  <a:txBody>
                    <a:bodyPr/>
                    <a:lstStyle/>
                    <a:p>
                      <a:pPr indent="0" marL="0">
                        <a:buNone/>
                      </a:pPr>
                      <a:r>
                        <a:rPr lang="en-US" sz="1200" dirty="0">
                          <a:solidFill>
                            <a:srgbClr val="101828"/>
                          </a:solidFill>
                          <a:latin typeface="Arial" pitchFamily="34" charset="0"/>
                          <a:ea typeface="Arial" pitchFamily="34" charset="-122"/>
                          <a:cs typeface="Arial" pitchFamily="34" charset="-120"/>
                        </a:rPr>
                        <a:t>Thành phần</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101828"/>
                          </a:solidFill>
                          <a:latin typeface="Arial" pitchFamily="34" charset="0"/>
                          <a:ea typeface="Arial" pitchFamily="34" charset="-122"/>
                          <a:cs typeface="Arial" pitchFamily="34" charset="-120"/>
                        </a:rPr>
                        <a:t>Mô tả</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49580">
                <a:tc>
                  <a:txBody>
                    <a:bodyPr/>
                    <a:lstStyle/>
                    <a:p>
                      <a:pPr indent="0" marL="0">
                        <a:buNone/>
                      </a:pPr>
                      <a:r>
                        <a:rPr lang="en-US" sz="1200" dirty="0">
                          <a:solidFill>
                            <a:srgbClr val="101828"/>
                          </a:solidFill>
                          <a:latin typeface="Arial" pitchFamily="34" charset="0"/>
                          <a:ea typeface="Arial" pitchFamily="34" charset="-122"/>
                          <a:cs typeface="Arial" pitchFamily="34" charset="-120"/>
                        </a:rPr>
                        <a:t>Tài sản cổ phiếu</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101828"/>
                          </a:solidFill>
                          <a:latin typeface="Arial" pitchFamily="34" charset="0"/>
                          <a:ea typeface="Arial" pitchFamily="34" charset="-122"/>
                          <a:cs typeface="Arial" pitchFamily="34" charset="-120"/>
                        </a:rPr>
                        <a:t>AAPL, MSFT, GOOGL, AMZN, JPM, JNJ, PG, XOM, NVDA, KO, DIS, WMT</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49580">
                <a:tc>
                  <a:txBody>
                    <a:bodyPr/>
                    <a:lstStyle/>
                    <a:p>
                      <a:pPr indent="0" marL="0">
                        <a:buNone/>
                      </a:pPr>
                      <a:r>
                        <a:rPr lang="en-US" sz="1200" dirty="0">
                          <a:solidFill>
                            <a:srgbClr val="101828"/>
                          </a:solidFill>
                          <a:latin typeface="Arial" pitchFamily="34" charset="0"/>
                          <a:ea typeface="Arial" pitchFamily="34" charset="-122"/>
                          <a:cs typeface="Arial" pitchFamily="34" charset="-120"/>
                        </a:rPr>
                        <a:t>Tài sản đa dạng hóa</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101828"/>
                          </a:solidFill>
                          <a:latin typeface="Arial" pitchFamily="34" charset="0"/>
                          <a:ea typeface="Arial" pitchFamily="34" charset="-122"/>
                          <a:cs typeface="Arial" pitchFamily="34" charset="-120"/>
                        </a:rPr>
                        <a:t>TLT (trái phiếu dài hạn), GLD (vàng)</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49580">
                <a:tc>
                  <a:txBody>
                    <a:bodyPr/>
                    <a:lstStyle/>
                    <a:p>
                      <a:pPr indent="0" marL="0">
                        <a:buNone/>
                      </a:pPr>
                      <a:r>
                        <a:rPr lang="en-US" sz="1200" dirty="0">
                          <a:solidFill>
                            <a:srgbClr val="101828"/>
                          </a:solidFill>
                          <a:latin typeface="Arial" pitchFamily="34" charset="0"/>
                          <a:ea typeface="Arial" pitchFamily="34" charset="-122"/>
                          <a:cs typeface="Arial" pitchFamily="34" charset="-120"/>
                        </a:rPr>
                        <a:t>Benchmark</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101828"/>
                          </a:solidFill>
                          <a:latin typeface="Arial" pitchFamily="34" charset="0"/>
                          <a:ea typeface="Arial" pitchFamily="34" charset="-122"/>
                          <a:cs typeface="Arial" pitchFamily="34" charset="-120"/>
                        </a:rPr>
                        <a:t>SPY dùng cho so sánh và Information Ratio</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49580">
                <a:tc>
                  <a:txBody>
                    <a:bodyPr/>
                    <a:lstStyle/>
                    <a:p>
                      <a:pPr indent="0" marL="0">
                        <a:buNone/>
                      </a:pPr>
                      <a:r>
                        <a:rPr lang="en-US" sz="1200" dirty="0">
                          <a:solidFill>
                            <a:srgbClr val="101828"/>
                          </a:solidFill>
                          <a:latin typeface="Arial" pitchFamily="34" charset="0"/>
                          <a:ea typeface="Arial" pitchFamily="34" charset="-122"/>
                          <a:cs typeface="Arial" pitchFamily="34" charset="-120"/>
                        </a:rPr>
                        <a:t>Risk-free</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101828"/>
                          </a:solidFill>
                          <a:latin typeface="Arial" pitchFamily="34" charset="0"/>
                          <a:ea typeface="Arial" pitchFamily="34" charset="-122"/>
                          <a:cs typeface="Arial" pitchFamily="34" charset="-120"/>
                        </a:rPr>
                        <a:t>^IRX dùng cho Sharpe và các phép tính liên quan</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49580">
                <a:tc>
                  <a:txBody>
                    <a:bodyPr/>
                    <a:lstStyle/>
                    <a:p>
                      <a:pPr indent="0" marL="0">
                        <a:buNone/>
                      </a:pPr>
                      <a:r>
                        <a:rPr lang="en-US" sz="1200" dirty="0">
                          <a:solidFill>
                            <a:srgbClr val="101828"/>
                          </a:solidFill>
                          <a:latin typeface="Arial" pitchFamily="34" charset="0"/>
                          <a:ea typeface="Arial" pitchFamily="34" charset="-122"/>
                          <a:cs typeface="Arial" pitchFamily="34" charset="-120"/>
                        </a:rPr>
                        <a:t>File cache</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101828"/>
                          </a:solidFill>
                          <a:latin typeface="Arial" pitchFamily="34" charset="0"/>
                          <a:ea typeface="Arial" pitchFamily="34" charset="-122"/>
                          <a:cs typeface="Arial" pitchFamily="34" charset="-120"/>
                        </a:rPr>
                        <a:t>ai-portfolio-research/data/raw/prices.csv và riskfree.csv</a:t>
                      </a:r>
                      <a:endParaRPr lang="en-US" sz="120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24" name="Text 21"/>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ai-portfolio-research/src/config.py; src/data_pipeline.py</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PYTHON PROCESSING</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Tiền xử lý và tạo đặc trưng</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1371600"/>
          <a:ext cx="6537960" cy="3794760"/>
        </p:xfrm>
        <a:graphic>
          <a:graphicData uri="http://schemas.openxmlformats.org/drawingml/2006/table">
            <a:tbl>
              <a:tblPr/>
              <a:tblGrid>
                <a:gridCol w="685800"/>
                <a:gridCol w="3520440"/>
                <a:gridCol w="2331720"/>
              </a:tblGrid>
              <a:tr h="632460">
                <a:tc>
                  <a:txBody>
                    <a:bodyPr/>
                    <a:lstStyle/>
                    <a:p>
                      <a:pPr indent="0" marL="0">
                        <a:buNone/>
                      </a:pPr>
                      <a:r>
                        <a:rPr lang="en-US" sz="1230" dirty="0">
                          <a:solidFill>
                            <a:srgbClr val="101828"/>
                          </a:solidFill>
                          <a:latin typeface="Arial" pitchFamily="34" charset="0"/>
                          <a:ea typeface="Arial" pitchFamily="34" charset="-122"/>
                          <a:cs typeface="Arial" pitchFamily="34" charset="-120"/>
                        </a:rPr>
                        <a:t>Bước</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Xử lý</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Output</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32460">
                <a:tc>
                  <a:txBody>
                    <a:bodyPr/>
                    <a:lstStyle/>
                    <a:p>
                      <a:pPr indent="0" marL="0">
                        <a:buNone/>
                      </a:pPr>
                      <a:r>
                        <a:rPr lang="en-US" sz="1230" dirty="0">
                          <a:solidFill>
                            <a:srgbClr val="101828"/>
                          </a:solidFill>
                          <a:latin typeface="Arial" pitchFamily="34" charset="0"/>
                          <a:ea typeface="Arial" pitchFamily="34" charset="-122"/>
                          <a:cs typeface="Arial" pitchFamily="34" charset="-120"/>
                        </a:rPr>
                        <a:t>1</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Tải giá điều chỉnh và risk-free rate</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prices, rf</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32460">
                <a:tc>
                  <a:txBody>
                    <a:bodyPr/>
                    <a:lstStyle/>
                    <a:p>
                      <a:pPr indent="0" marL="0">
                        <a:buNone/>
                      </a:pPr>
                      <a:r>
                        <a:rPr lang="en-US" sz="1230" dirty="0">
                          <a:solidFill>
                            <a:srgbClr val="101828"/>
                          </a:solidFill>
                          <a:latin typeface="Arial" pitchFamily="34" charset="0"/>
                          <a:ea typeface="Arial" pitchFamily="34" charset="-122"/>
                          <a:cs typeface="Arial" pitchFamily="34" charset="-120"/>
                        </a:rPr>
                        <a:t>2</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Căn chỉnh ngày giao dịch và loại dữ liệu thiếu</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aligned prices</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32460">
                <a:tc>
                  <a:txBody>
                    <a:bodyPr/>
                    <a:lstStyle/>
                    <a:p>
                      <a:pPr indent="0" marL="0">
                        <a:buNone/>
                      </a:pPr>
                      <a:r>
                        <a:rPr lang="en-US" sz="1230" dirty="0">
                          <a:solidFill>
                            <a:srgbClr val="101828"/>
                          </a:solidFill>
                          <a:latin typeface="Arial" pitchFamily="34" charset="0"/>
                          <a:ea typeface="Arial" pitchFamily="34" charset="-122"/>
                          <a:cs typeface="Arial" pitchFamily="34" charset="-120"/>
                        </a:rPr>
                        <a:t>3</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Tính daily returns bằng pct_change()</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asset_returns, bench_returns</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32460">
                <a:tc>
                  <a:txBody>
                    <a:bodyPr/>
                    <a:lstStyle/>
                    <a:p>
                      <a:pPr indent="0" marL="0">
                        <a:buNone/>
                      </a:pPr>
                      <a:r>
                        <a:rPr lang="en-US" sz="1230" dirty="0">
                          <a:solidFill>
                            <a:srgbClr val="101828"/>
                          </a:solidFill>
                          <a:latin typeface="Arial" pitchFamily="34" charset="0"/>
                          <a:ea typeface="Arial" pitchFamily="34" charset="-122"/>
                          <a:cs typeface="Arial" pitchFamily="34" charset="-120"/>
                        </a:rPr>
                        <a:t>4</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Tạo 7 feature kỹ thuật trailing</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feature cube [T, N, F]</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32460">
                <a:tc>
                  <a:txBody>
                    <a:bodyPr/>
                    <a:lstStyle/>
                    <a:p>
                      <a:pPr indent="0" marL="0">
                        <a:buNone/>
                      </a:pPr>
                      <a:r>
                        <a:rPr lang="en-US" sz="1230" dirty="0">
                          <a:solidFill>
                            <a:srgbClr val="101828"/>
                          </a:solidFill>
                          <a:latin typeface="Arial" pitchFamily="34" charset="0"/>
                          <a:ea typeface="Arial" pitchFamily="34" charset="-122"/>
                          <a:cs typeface="Arial" pitchFamily="34" charset="-120"/>
                        </a:rPr>
                        <a:t>5</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Tạo mẫu cửa sổ 60 phiên và target 21 phiên</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30" dirty="0">
                          <a:solidFill>
                            <a:srgbClr val="101828"/>
                          </a:solidFill>
                          <a:latin typeface="Arial" pitchFamily="34" charset="0"/>
                          <a:ea typeface="Arial" pitchFamily="34" charset="-122"/>
                          <a:cs typeface="Arial" pitchFamily="34" charset="-120"/>
                        </a:rPr>
                        <a:t>X [S,60,14,7], y [S,14]</a:t>
                      </a:r>
                      <a:endParaRPr lang="en-US" sz="123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6" name="Shape 3"/>
          <p:cNvSpPr/>
          <p:nvPr/>
        </p:nvSpPr>
        <p:spPr>
          <a:xfrm>
            <a:off x="7635240" y="1371600"/>
            <a:ext cx="3566160" cy="960120"/>
          </a:xfrm>
          <a:prstGeom prst="rect">
            <a:avLst/>
          </a:prstGeom>
          <a:solidFill>
            <a:srgbClr val="EEF6FF"/>
          </a:solidFill>
          <a:ln w="12700">
            <a:solidFill>
              <a:srgbClr val="175CD3"/>
            </a:solidFill>
            <a:prstDash val="solid"/>
          </a:ln>
        </p:spPr>
      </p:sp>
      <p:sp>
        <p:nvSpPr>
          <p:cNvPr id="7" name="Text 4"/>
          <p:cNvSpPr/>
          <p:nvPr/>
        </p:nvSpPr>
        <p:spPr>
          <a:xfrm>
            <a:off x="7781544" y="1490472"/>
            <a:ext cx="327355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7 đặc trưng</a:t>
            </a:r>
            <a:endParaRPr lang="en-US" sz="1320" dirty="0"/>
          </a:p>
        </p:txBody>
      </p:sp>
      <p:sp>
        <p:nvSpPr>
          <p:cNvPr id="8" name="Text 5"/>
          <p:cNvSpPr/>
          <p:nvPr/>
        </p:nvSpPr>
        <p:spPr>
          <a:xfrm>
            <a:off x="7781544" y="1801368"/>
            <a:ext cx="3273552" cy="4389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ret_1, ret_5, ret_21, vol_21, rsi_14, macd_diff, zscore_50</a:t>
            </a:r>
            <a:endParaRPr lang="en-US" sz="1180" dirty="0"/>
          </a:p>
        </p:txBody>
      </p:sp>
      <p:sp>
        <p:nvSpPr>
          <p:cNvPr id="9" name="Shape 6"/>
          <p:cNvSpPr/>
          <p:nvPr/>
        </p:nvSpPr>
        <p:spPr>
          <a:xfrm>
            <a:off x="7635240" y="2670048"/>
            <a:ext cx="3566160" cy="960120"/>
          </a:xfrm>
          <a:prstGeom prst="rect">
            <a:avLst/>
          </a:prstGeom>
          <a:solidFill>
            <a:srgbClr val="F0FDF4"/>
          </a:solidFill>
          <a:ln w="12700">
            <a:solidFill>
              <a:srgbClr val="157347"/>
            </a:solidFill>
            <a:prstDash val="solid"/>
          </a:ln>
        </p:spPr>
      </p:sp>
      <p:sp>
        <p:nvSpPr>
          <p:cNvPr id="10" name="Text 7"/>
          <p:cNvSpPr/>
          <p:nvPr/>
        </p:nvSpPr>
        <p:spPr>
          <a:xfrm>
            <a:off x="7781544" y="2788920"/>
            <a:ext cx="327355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Nguyên tắc</a:t>
            </a:r>
            <a:endParaRPr lang="en-US" sz="1320" dirty="0"/>
          </a:p>
        </p:txBody>
      </p:sp>
      <p:sp>
        <p:nvSpPr>
          <p:cNvPr id="11" name="Text 8"/>
          <p:cNvSpPr/>
          <p:nvPr/>
        </p:nvSpPr>
        <p:spPr>
          <a:xfrm>
            <a:off x="7781544" y="3099816"/>
            <a:ext cx="3273552" cy="4389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Feature tại ngày t chỉ dùng dữ liệu quá khứ đến t; target mới nằm ở tương lai.</a:t>
            </a:r>
            <a:endParaRPr lang="en-US" sz="1180" dirty="0"/>
          </a:p>
        </p:txBody>
      </p:sp>
      <p:sp>
        <p:nvSpPr>
          <p:cNvPr id="12" name="Shape 9"/>
          <p:cNvSpPr/>
          <p:nvPr/>
        </p:nvSpPr>
        <p:spPr>
          <a:xfrm>
            <a:off x="7635240" y="3968496"/>
            <a:ext cx="3566160" cy="960120"/>
          </a:xfrm>
          <a:prstGeom prst="rect">
            <a:avLst/>
          </a:prstGeom>
          <a:solidFill>
            <a:srgbClr val="FFF7ED"/>
          </a:solidFill>
          <a:ln w="12700">
            <a:solidFill>
              <a:srgbClr val="E46A11"/>
            </a:solidFill>
            <a:prstDash val="solid"/>
          </a:ln>
        </p:spPr>
      </p:sp>
      <p:sp>
        <p:nvSpPr>
          <p:cNvPr id="13" name="Text 10"/>
          <p:cNvSpPr/>
          <p:nvPr/>
        </p:nvSpPr>
        <p:spPr>
          <a:xfrm>
            <a:off x="7781544" y="4087368"/>
            <a:ext cx="3273552" cy="219456"/>
          </a:xfrm>
          <a:prstGeom prst="rect">
            <a:avLst/>
          </a:prstGeom>
          <a:noFill/>
          <a:ln/>
        </p:spPr>
        <p:txBody>
          <a:bodyPr wrap="square" lIns="381" tIns="381" rIns="381" bIns="381" rtlCol="0" anchor="t">
            <a:normAutofit/>
          </a:bodyPr>
          <a:lstStyle/>
          <a:p>
            <a:pPr indent="0" marL="0">
              <a:buNone/>
            </a:pPr>
            <a:r>
              <a:rPr lang="en-US" sz="1320" b="1" dirty="0">
                <a:solidFill>
                  <a:srgbClr val="E46A11"/>
                </a:solidFill>
                <a:latin typeface="Arial" pitchFamily="34" charset="0"/>
                <a:ea typeface="Arial" pitchFamily="34" charset="-122"/>
                <a:cs typeface="Arial" pitchFamily="34" charset="-120"/>
              </a:rPr>
              <a:t>Bằng chứng</a:t>
            </a:r>
            <a:endParaRPr lang="en-US" sz="1320" dirty="0"/>
          </a:p>
        </p:txBody>
      </p:sp>
      <p:sp>
        <p:nvSpPr>
          <p:cNvPr id="14" name="Text 11"/>
          <p:cNvSpPr/>
          <p:nvPr/>
        </p:nvSpPr>
        <p:spPr>
          <a:xfrm>
            <a:off x="7781544" y="4398264"/>
            <a:ext cx="3273552" cy="4389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src/data_pipeline.py và src/features.py cài đặt toàn bộ pipeline xử lý.</a:t>
            </a:r>
            <a:endParaRPr lang="en-US" sz="1180" dirty="0"/>
          </a:p>
        </p:txBody>
      </p:sp>
      <p:sp>
        <p:nvSpPr>
          <p:cNvPr id="15" name="Text 12"/>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ai-portfolio-research/src/data_pipeline.py; src/features.py</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IMPLEMENTATION FLOW</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Pipeline Python triển khai nghiên cứu</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621792" y="1417320"/>
            <a:ext cx="2395728" cy="1325880"/>
          </a:xfrm>
          <a:prstGeom prst="rect">
            <a:avLst/>
          </a:prstGeom>
          <a:solidFill>
            <a:srgbClr val="EEF6FF"/>
          </a:solidFill>
          <a:ln w="12700">
            <a:solidFill>
              <a:srgbClr val="175CD3"/>
            </a:solidFill>
            <a:prstDash val="solid"/>
          </a:ln>
        </p:spPr>
      </p:sp>
      <p:sp>
        <p:nvSpPr>
          <p:cNvPr id="6" name="Text 4"/>
          <p:cNvSpPr/>
          <p:nvPr/>
        </p:nvSpPr>
        <p:spPr>
          <a:xfrm>
            <a:off x="768096" y="153619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config.py</a:t>
            </a:r>
            <a:endParaRPr lang="en-US" sz="1320" dirty="0"/>
          </a:p>
        </p:txBody>
      </p:sp>
      <p:sp>
        <p:nvSpPr>
          <p:cNvPr id="7" name="Text 5"/>
          <p:cNvSpPr/>
          <p:nvPr/>
        </p:nvSpPr>
        <p:spPr>
          <a:xfrm>
            <a:off x="768096" y="184708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Universe, thời gian, lookback, horizon, constraints</a:t>
            </a:r>
            <a:endParaRPr lang="en-US" sz="1180" dirty="0"/>
          </a:p>
        </p:txBody>
      </p:sp>
      <p:sp>
        <p:nvSpPr>
          <p:cNvPr id="8" name="Shape 6"/>
          <p:cNvSpPr/>
          <p:nvPr/>
        </p:nvSpPr>
        <p:spPr>
          <a:xfrm>
            <a:off x="3456432" y="1417320"/>
            <a:ext cx="2395728" cy="1325880"/>
          </a:xfrm>
          <a:prstGeom prst="rect">
            <a:avLst/>
          </a:prstGeom>
          <a:solidFill>
            <a:srgbClr val="EEF6FF"/>
          </a:solidFill>
          <a:ln w="12700">
            <a:solidFill>
              <a:srgbClr val="175CD3"/>
            </a:solidFill>
            <a:prstDash val="solid"/>
          </a:ln>
        </p:spPr>
      </p:sp>
      <p:sp>
        <p:nvSpPr>
          <p:cNvPr id="9" name="Text 7"/>
          <p:cNvSpPr/>
          <p:nvPr/>
        </p:nvSpPr>
        <p:spPr>
          <a:xfrm>
            <a:off x="3602736" y="153619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data_pipeline.py</a:t>
            </a:r>
            <a:endParaRPr lang="en-US" sz="1320" dirty="0"/>
          </a:p>
        </p:txBody>
      </p:sp>
      <p:sp>
        <p:nvSpPr>
          <p:cNvPr id="10" name="Text 8"/>
          <p:cNvSpPr/>
          <p:nvPr/>
        </p:nvSpPr>
        <p:spPr>
          <a:xfrm>
            <a:off x="3602736" y="184708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Download/cache dữ liệu giá và risk-free</a:t>
            </a:r>
            <a:endParaRPr lang="en-US" sz="1180" dirty="0"/>
          </a:p>
        </p:txBody>
      </p:sp>
      <p:sp>
        <p:nvSpPr>
          <p:cNvPr id="11" name="Shape 9"/>
          <p:cNvSpPr/>
          <p:nvPr/>
        </p:nvSpPr>
        <p:spPr>
          <a:xfrm>
            <a:off x="6291072" y="1417320"/>
            <a:ext cx="2395728" cy="1325880"/>
          </a:xfrm>
          <a:prstGeom prst="rect">
            <a:avLst/>
          </a:prstGeom>
          <a:solidFill>
            <a:srgbClr val="EEF6FF"/>
          </a:solidFill>
          <a:ln w="12700">
            <a:solidFill>
              <a:srgbClr val="175CD3"/>
            </a:solidFill>
            <a:prstDash val="solid"/>
          </a:ln>
        </p:spPr>
      </p:sp>
      <p:sp>
        <p:nvSpPr>
          <p:cNvPr id="12" name="Text 10"/>
          <p:cNvSpPr/>
          <p:nvPr/>
        </p:nvSpPr>
        <p:spPr>
          <a:xfrm>
            <a:off x="6437376" y="153619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features.py</a:t>
            </a:r>
            <a:endParaRPr lang="en-US" sz="1320" dirty="0"/>
          </a:p>
        </p:txBody>
      </p:sp>
      <p:sp>
        <p:nvSpPr>
          <p:cNvPr id="13" name="Text 11"/>
          <p:cNvSpPr/>
          <p:nvPr/>
        </p:nvSpPr>
        <p:spPr>
          <a:xfrm>
            <a:off x="6437376" y="184708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Feature cube và windowed samples</a:t>
            </a:r>
            <a:endParaRPr lang="en-US" sz="1180" dirty="0"/>
          </a:p>
        </p:txBody>
      </p:sp>
      <p:sp>
        <p:nvSpPr>
          <p:cNvPr id="14" name="Shape 12"/>
          <p:cNvSpPr/>
          <p:nvPr/>
        </p:nvSpPr>
        <p:spPr>
          <a:xfrm>
            <a:off x="9125712" y="1417320"/>
            <a:ext cx="2395728" cy="1325880"/>
          </a:xfrm>
          <a:prstGeom prst="rect">
            <a:avLst/>
          </a:prstGeom>
          <a:solidFill>
            <a:srgbClr val="EEF6FF"/>
          </a:solidFill>
          <a:ln w="12700">
            <a:solidFill>
              <a:srgbClr val="175CD3"/>
            </a:solidFill>
            <a:prstDash val="solid"/>
          </a:ln>
        </p:spPr>
      </p:sp>
      <p:sp>
        <p:nvSpPr>
          <p:cNvPr id="15" name="Text 13"/>
          <p:cNvSpPr/>
          <p:nvPr/>
        </p:nvSpPr>
        <p:spPr>
          <a:xfrm>
            <a:off x="9272016" y="153619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splits.py</a:t>
            </a:r>
            <a:endParaRPr lang="en-US" sz="1320" dirty="0"/>
          </a:p>
        </p:txBody>
      </p:sp>
      <p:sp>
        <p:nvSpPr>
          <p:cNvPr id="16" name="Text 14"/>
          <p:cNvSpPr/>
          <p:nvPr/>
        </p:nvSpPr>
        <p:spPr>
          <a:xfrm>
            <a:off x="9272016" y="184708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Train/valid/test + embargo</a:t>
            </a:r>
            <a:endParaRPr lang="en-US" sz="1180" dirty="0"/>
          </a:p>
        </p:txBody>
      </p:sp>
      <p:sp>
        <p:nvSpPr>
          <p:cNvPr id="17" name="Shape 15"/>
          <p:cNvSpPr/>
          <p:nvPr/>
        </p:nvSpPr>
        <p:spPr>
          <a:xfrm>
            <a:off x="621792" y="3383280"/>
            <a:ext cx="2395728" cy="1325880"/>
          </a:xfrm>
          <a:prstGeom prst="rect">
            <a:avLst/>
          </a:prstGeom>
          <a:solidFill>
            <a:srgbClr val="F0FDF4"/>
          </a:solidFill>
          <a:ln w="12700">
            <a:solidFill>
              <a:srgbClr val="157347"/>
            </a:solidFill>
            <a:prstDash val="solid"/>
          </a:ln>
        </p:spPr>
      </p:sp>
      <p:sp>
        <p:nvSpPr>
          <p:cNvPr id="18" name="Text 16"/>
          <p:cNvSpPr/>
          <p:nvPr/>
        </p:nvSpPr>
        <p:spPr>
          <a:xfrm>
            <a:off x="768096" y="350215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train.py</a:t>
            </a:r>
            <a:endParaRPr lang="en-US" sz="1320" dirty="0"/>
          </a:p>
        </p:txBody>
      </p:sp>
      <p:sp>
        <p:nvSpPr>
          <p:cNvPr id="19" name="Text 17"/>
          <p:cNvSpPr/>
          <p:nvPr/>
        </p:nvSpPr>
        <p:spPr>
          <a:xfrm>
            <a:off x="768096" y="381304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Baseline classical và deep learning</a:t>
            </a:r>
            <a:endParaRPr lang="en-US" sz="1180" dirty="0"/>
          </a:p>
        </p:txBody>
      </p:sp>
      <p:sp>
        <p:nvSpPr>
          <p:cNvPr id="20" name="Shape 18"/>
          <p:cNvSpPr/>
          <p:nvPr/>
        </p:nvSpPr>
        <p:spPr>
          <a:xfrm>
            <a:off x="3456432" y="3383280"/>
            <a:ext cx="2395728" cy="1325880"/>
          </a:xfrm>
          <a:prstGeom prst="rect">
            <a:avLst/>
          </a:prstGeom>
          <a:solidFill>
            <a:srgbClr val="F0FDF4"/>
          </a:solidFill>
          <a:ln w="12700">
            <a:solidFill>
              <a:srgbClr val="157347"/>
            </a:solidFill>
            <a:prstDash val="solid"/>
          </a:ln>
        </p:spPr>
      </p:sp>
      <p:sp>
        <p:nvSpPr>
          <p:cNvPr id="21" name="Text 19"/>
          <p:cNvSpPr/>
          <p:nvPr/>
        </p:nvSpPr>
        <p:spPr>
          <a:xfrm>
            <a:off x="3602736" y="350215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ablation.py</a:t>
            </a:r>
            <a:endParaRPr lang="en-US" sz="1320" dirty="0"/>
          </a:p>
        </p:txBody>
      </p:sp>
      <p:sp>
        <p:nvSpPr>
          <p:cNvPr id="22" name="Text 20"/>
          <p:cNvSpPr/>
          <p:nvPr/>
        </p:nvSpPr>
        <p:spPr>
          <a:xfrm>
            <a:off x="3602736" y="381304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PA-Transformer A/A+B/A+B+C</a:t>
            </a:r>
            <a:endParaRPr lang="en-US" sz="1180" dirty="0"/>
          </a:p>
        </p:txBody>
      </p:sp>
      <p:sp>
        <p:nvSpPr>
          <p:cNvPr id="23" name="Shape 21"/>
          <p:cNvSpPr/>
          <p:nvPr/>
        </p:nvSpPr>
        <p:spPr>
          <a:xfrm>
            <a:off x="6291072" y="3383280"/>
            <a:ext cx="2395728" cy="1325880"/>
          </a:xfrm>
          <a:prstGeom prst="rect">
            <a:avLst/>
          </a:prstGeom>
          <a:solidFill>
            <a:srgbClr val="F0FDF4"/>
          </a:solidFill>
          <a:ln w="12700">
            <a:solidFill>
              <a:srgbClr val="157347"/>
            </a:solidFill>
            <a:prstDash val="solid"/>
          </a:ln>
        </p:spPr>
      </p:sp>
      <p:sp>
        <p:nvSpPr>
          <p:cNvPr id="24" name="Text 22"/>
          <p:cNvSpPr/>
          <p:nvPr/>
        </p:nvSpPr>
        <p:spPr>
          <a:xfrm>
            <a:off x="6437376" y="350215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backtest.py</a:t>
            </a:r>
            <a:endParaRPr lang="en-US" sz="1320" dirty="0"/>
          </a:p>
        </p:txBody>
      </p:sp>
      <p:sp>
        <p:nvSpPr>
          <p:cNvPr id="25" name="Text 23"/>
          <p:cNvSpPr/>
          <p:nvPr/>
        </p:nvSpPr>
        <p:spPr>
          <a:xfrm>
            <a:off x="6437376" y="381304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Walk-forward backtest engine</a:t>
            </a:r>
            <a:endParaRPr lang="en-US" sz="1180" dirty="0"/>
          </a:p>
        </p:txBody>
      </p:sp>
      <p:sp>
        <p:nvSpPr>
          <p:cNvPr id="26" name="Shape 24"/>
          <p:cNvSpPr/>
          <p:nvPr/>
        </p:nvSpPr>
        <p:spPr>
          <a:xfrm>
            <a:off x="9125712" y="3383280"/>
            <a:ext cx="2395728" cy="1325880"/>
          </a:xfrm>
          <a:prstGeom prst="rect">
            <a:avLst/>
          </a:prstGeom>
          <a:solidFill>
            <a:srgbClr val="F0FDF4"/>
          </a:solidFill>
          <a:ln w="12700">
            <a:solidFill>
              <a:srgbClr val="157347"/>
            </a:solidFill>
            <a:prstDash val="solid"/>
          </a:ln>
        </p:spPr>
      </p:sp>
      <p:sp>
        <p:nvSpPr>
          <p:cNvPr id="27" name="Text 25"/>
          <p:cNvSpPr/>
          <p:nvPr/>
        </p:nvSpPr>
        <p:spPr>
          <a:xfrm>
            <a:off x="9272016" y="3502152"/>
            <a:ext cx="2103120"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evaluate.py</a:t>
            </a:r>
            <a:endParaRPr lang="en-US" sz="1320" dirty="0"/>
          </a:p>
        </p:txBody>
      </p:sp>
      <p:sp>
        <p:nvSpPr>
          <p:cNvPr id="28" name="Text 26"/>
          <p:cNvSpPr/>
          <p:nvPr/>
        </p:nvSpPr>
        <p:spPr>
          <a:xfrm>
            <a:off x="9272016" y="3813048"/>
            <a:ext cx="2103120" cy="8046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Script tổng xuất metrics, figures, checkpoint</a:t>
            </a:r>
            <a:endParaRPr lang="en-US" sz="1180" dirty="0"/>
          </a:p>
        </p:txBody>
      </p:sp>
      <p:sp>
        <p:nvSpPr>
          <p:cNvPr id="29" name="Text 27"/>
          <p:cNvSpPr/>
          <p:nvPr/>
        </p:nvSpPr>
        <p:spPr>
          <a:xfrm>
            <a:off x="868680" y="5669280"/>
            <a:ext cx="10241280" cy="274320"/>
          </a:xfrm>
          <a:prstGeom prst="rect">
            <a:avLst/>
          </a:prstGeom>
          <a:noFill/>
          <a:ln/>
        </p:spPr>
        <p:txBody>
          <a:bodyPr wrap="square" lIns="381" tIns="381" rIns="381" bIns="381" rtlCol="0" anchor="t">
            <a:normAutofit/>
          </a:bodyPr>
          <a:lstStyle/>
          <a:p>
            <a:pPr algn="ctr" indent="0" marL="0">
              <a:buNone/>
            </a:pPr>
            <a:r>
              <a:rPr lang="en-US" sz="1700" b="1" dirty="0">
                <a:solidFill>
                  <a:srgbClr val="157347"/>
                </a:solidFill>
                <a:latin typeface="Arial" pitchFamily="34" charset="0"/>
                <a:ea typeface="Arial" pitchFamily="34" charset="-122"/>
                <a:cs typeface="Arial" pitchFamily="34" charset="-120"/>
              </a:rPr>
              <a:t>Lệnh chạy tổng: python -m src.evaluate</a:t>
            </a:r>
            <a:endParaRPr lang="en-US" sz="170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EXPERIMENTAL DESIGN</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Thiết kế train/valid/test và chống rò rỉ dữ liệu</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731520" y="1417320"/>
            <a:ext cx="1965960" cy="932688"/>
          </a:xfrm>
          <a:prstGeom prst="rect">
            <a:avLst/>
          </a:prstGeom>
          <a:solidFill>
            <a:srgbClr val="F8FAFC"/>
          </a:solidFill>
          <a:ln w="10160">
            <a:solidFill>
              <a:srgbClr val="D0D5DD"/>
            </a:solidFill>
            <a:prstDash val="solid"/>
          </a:ln>
        </p:spPr>
      </p:sp>
      <p:sp>
        <p:nvSpPr>
          <p:cNvPr id="6" name="Text 4"/>
          <p:cNvSpPr/>
          <p:nvPr/>
        </p:nvSpPr>
        <p:spPr>
          <a:xfrm>
            <a:off x="850392"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175CD3"/>
                </a:solidFill>
                <a:latin typeface="Arial" pitchFamily="34" charset="0"/>
                <a:ea typeface="Arial" pitchFamily="34" charset="-122"/>
                <a:cs typeface="Arial" pitchFamily="34" charset="-120"/>
              </a:rPr>
              <a:t>1904</a:t>
            </a:r>
            <a:endParaRPr lang="en-US" sz="2200" dirty="0"/>
          </a:p>
        </p:txBody>
      </p:sp>
      <p:sp>
        <p:nvSpPr>
          <p:cNvPr id="7" name="Text 5"/>
          <p:cNvSpPr/>
          <p:nvPr/>
        </p:nvSpPr>
        <p:spPr>
          <a:xfrm>
            <a:off x="850392"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Train</a:t>
            </a:r>
            <a:endParaRPr lang="en-US" sz="980" dirty="0"/>
          </a:p>
        </p:txBody>
      </p:sp>
      <p:sp>
        <p:nvSpPr>
          <p:cNvPr id="8" name="Text 6"/>
          <p:cNvSpPr/>
          <p:nvPr/>
        </p:nvSpPr>
        <p:spPr>
          <a:xfrm>
            <a:off x="850392"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đến 2018</a:t>
            </a:r>
            <a:endParaRPr lang="en-US" sz="760" dirty="0"/>
          </a:p>
        </p:txBody>
      </p:sp>
      <p:sp>
        <p:nvSpPr>
          <p:cNvPr id="9" name="Shape 7"/>
          <p:cNvSpPr/>
          <p:nvPr/>
        </p:nvSpPr>
        <p:spPr>
          <a:xfrm>
            <a:off x="2907792" y="1417320"/>
            <a:ext cx="1965960" cy="932688"/>
          </a:xfrm>
          <a:prstGeom prst="rect">
            <a:avLst/>
          </a:prstGeom>
          <a:solidFill>
            <a:srgbClr val="F8FAFC"/>
          </a:solidFill>
          <a:ln w="10160">
            <a:solidFill>
              <a:srgbClr val="D0D5DD"/>
            </a:solidFill>
            <a:prstDash val="solid"/>
          </a:ln>
        </p:spPr>
      </p:sp>
      <p:sp>
        <p:nvSpPr>
          <p:cNvPr id="10" name="Text 8"/>
          <p:cNvSpPr/>
          <p:nvPr/>
        </p:nvSpPr>
        <p:spPr>
          <a:xfrm>
            <a:off x="3026664"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E46A11"/>
                </a:solidFill>
                <a:latin typeface="Arial" pitchFamily="34" charset="0"/>
                <a:ea typeface="Arial" pitchFamily="34" charset="-122"/>
                <a:cs typeface="Arial" pitchFamily="34" charset="-120"/>
              </a:rPr>
              <a:t>680</a:t>
            </a:r>
            <a:endParaRPr lang="en-US" sz="2200" dirty="0"/>
          </a:p>
        </p:txBody>
      </p:sp>
      <p:sp>
        <p:nvSpPr>
          <p:cNvPr id="11" name="Text 9"/>
          <p:cNvSpPr/>
          <p:nvPr/>
        </p:nvSpPr>
        <p:spPr>
          <a:xfrm>
            <a:off x="3026664"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Valid</a:t>
            </a:r>
            <a:endParaRPr lang="en-US" sz="980" dirty="0"/>
          </a:p>
        </p:txBody>
      </p:sp>
      <p:sp>
        <p:nvSpPr>
          <p:cNvPr id="12" name="Text 10"/>
          <p:cNvSpPr/>
          <p:nvPr/>
        </p:nvSpPr>
        <p:spPr>
          <a:xfrm>
            <a:off x="3026664"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đến 2021</a:t>
            </a:r>
            <a:endParaRPr lang="en-US" sz="760" dirty="0"/>
          </a:p>
        </p:txBody>
      </p:sp>
      <p:sp>
        <p:nvSpPr>
          <p:cNvPr id="13" name="Shape 11"/>
          <p:cNvSpPr/>
          <p:nvPr/>
        </p:nvSpPr>
        <p:spPr>
          <a:xfrm>
            <a:off x="5084064" y="1417320"/>
            <a:ext cx="1965960" cy="932688"/>
          </a:xfrm>
          <a:prstGeom prst="rect">
            <a:avLst/>
          </a:prstGeom>
          <a:solidFill>
            <a:srgbClr val="F8FAFC"/>
          </a:solidFill>
          <a:ln w="10160">
            <a:solidFill>
              <a:srgbClr val="D0D5DD"/>
            </a:solidFill>
            <a:prstDash val="solid"/>
          </a:ln>
        </p:spPr>
      </p:sp>
      <p:sp>
        <p:nvSpPr>
          <p:cNvPr id="14" name="Text 12"/>
          <p:cNvSpPr/>
          <p:nvPr/>
        </p:nvSpPr>
        <p:spPr>
          <a:xfrm>
            <a:off x="5202936"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157347"/>
                </a:solidFill>
                <a:latin typeface="Arial" pitchFamily="34" charset="0"/>
                <a:ea typeface="Arial" pitchFamily="34" charset="-122"/>
                <a:cs typeface="Arial" pitchFamily="34" charset="-120"/>
              </a:rPr>
              <a:t>1044</a:t>
            </a:r>
            <a:endParaRPr lang="en-US" sz="2200" dirty="0"/>
          </a:p>
        </p:txBody>
      </p:sp>
      <p:sp>
        <p:nvSpPr>
          <p:cNvPr id="15" name="Text 13"/>
          <p:cNvSpPr/>
          <p:nvPr/>
        </p:nvSpPr>
        <p:spPr>
          <a:xfrm>
            <a:off x="5202936"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Test</a:t>
            </a:r>
            <a:endParaRPr lang="en-US" sz="980" dirty="0"/>
          </a:p>
        </p:txBody>
      </p:sp>
      <p:sp>
        <p:nvSpPr>
          <p:cNvPr id="16" name="Text 14"/>
          <p:cNvSpPr/>
          <p:nvPr/>
        </p:nvSpPr>
        <p:spPr>
          <a:xfrm>
            <a:off x="5202936"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ngoài mẫu</a:t>
            </a:r>
            <a:endParaRPr lang="en-US" sz="760" dirty="0"/>
          </a:p>
        </p:txBody>
      </p:sp>
      <p:sp>
        <p:nvSpPr>
          <p:cNvPr id="17" name="Shape 15"/>
          <p:cNvSpPr/>
          <p:nvPr/>
        </p:nvSpPr>
        <p:spPr>
          <a:xfrm>
            <a:off x="7260336" y="1417320"/>
            <a:ext cx="1965960" cy="932688"/>
          </a:xfrm>
          <a:prstGeom prst="rect">
            <a:avLst/>
          </a:prstGeom>
          <a:solidFill>
            <a:srgbClr val="F8FAFC"/>
          </a:solidFill>
          <a:ln w="10160">
            <a:solidFill>
              <a:srgbClr val="D0D5DD"/>
            </a:solidFill>
            <a:prstDash val="solid"/>
          </a:ln>
        </p:spPr>
      </p:sp>
      <p:sp>
        <p:nvSpPr>
          <p:cNvPr id="18" name="Text 16"/>
          <p:cNvSpPr/>
          <p:nvPr/>
        </p:nvSpPr>
        <p:spPr>
          <a:xfrm>
            <a:off x="7379208"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B42318"/>
                </a:solidFill>
                <a:latin typeface="Arial" pitchFamily="34" charset="0"/>
                <a:ea typeface="Arial" pitchFamily="34" charset="-122"/>
                <a:cs typeface="Arial" pitchFamily="34" charset="-120"/>
              </a:rPr>
              <a:t>81</a:t>
            </a:r>
            <a:endParaRPr lang="en-US" sz="2200" dirty="0"/>
          </a:p>
        </p:txBody>
      </p:sp>
      <p:sp>
        <p:nvSpPr>
          <p:cNvPr id="19" name="Text 17"/>
          <p:cNvSpPr/>
          <p:nvPr/>
        </p:nvSpPr>
        <p:spPr>
          <a:xfrm>
            <a:off x="7379208"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Embargo</a:t>
            </a:r>
            <a:endParaRPr lang="en-US" sz="980" dirty="0"/>
          </a:p>
        </p:txBody>
      </p:sp>
      <p:sp>
        <p:nvSpPr>
          <p:cNvPr id="20" name="Text 18"/>
          <p:cNvSpPr/>
          <p:nvPr/>
        </p:nvSpPr>
        <p:spPr>
          <a:xfrm>
            <a:off x="7379208"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60 + 21</a:t>
            </a:r>
            <a:endParaRPr lang="en-US" sz="760" dirty="0"/>
          </a:p>
        </p:txBody>
      </p:sp>
      <p:sp>
        <p:nvSpPr>
          <p:cNvPr id="21" name="Shape 19"/>
          <p:cNvSpPr/>
          <p:nvPr/>
        </p:nvSpPr>
        <p:spPr>
          <a:xfrm>
            <a:off x="9436608" y="1417320"/>
            <a:ext cx="1965960" cy="932688"/>
          </a:xfrm>
          <a:prstGeom prst="rect">
            <a:avLst/>
          </a:prstGeom>
          <a:solidFill>
            <a:srgbClr val="F8FAFC"/>
          </a:solidFill>
          <a:ln w="10160">
            <a:solidFill>
              <a:srgbClr val="D0D5DD"/>
            </a:solidFill>
            <a:prstDash val="solid"/>
          </a:ln>
        </p:spPr>
      </p:sp>
      <p:sp>
        <p:nvSpPr>
          <p:cNvPr id="22" name="Text 20"/>
          <p:cNvSpPr/>
          <p:nvPr/>
        </p:nvSpPr>
        <p:spPr>
          <a:xfrm>
            <a:off x="9555480" y="1536192"/>
            <a:ext cx="1728216" cy="310896"/>
          </a:xfrm>
          <a:prstGeom prst="rect">
            <a:avLst/>
          </a:prstGeom>
          <a:noFill/>
          <a:ln/>
        </p:spPr>
        <p:txBody>
          <a:bodyPr wrap="square" lIns="381" tIns="381" rIns="381" bIns="381" rtlCol="0" anchor="t">
            <a:normAutofit/>
          </a:bodyPr>
          <a:lstStyle/>
          <a:p>
            <a:pPr algn="ctr" indent="0" marL="0">
              <a:buNone/>
            </a:pPr>
            <a:r>
              <a:rPr lang="en-US" sz="2200" b="1" dirty="0">
                <a:solidFill>
                  <a:srgbClr val="6941C6"/>
                </a:solidFill>
                <a:latin typeface="Arial" pitchFamily="34" charset="0"/>
                <a:ea typeface="Arial" pitchFamily="34" charset="-122"/>
                <a:cs typeface="Arial" pitchFamily="34" charset="-120"/>
              </a:rPr>
              <a:t>50</a:t>
            </a:r>
            <a:endParaRPr lang="en-US" sz="2200" dirty="0"/>
          </a:p>
        </p:txBody>
      </p:sp>
      <p:sp>
        <p:nvSpPr>
          <p:cNvPr id="23" name="Text 21"/>
          <p:cNvSpPr/>
          <p:nvPr/>
        </p:nvSpPr>
        <p:spPr>
          <a:xfrm>
            <a:off x="9555480" y="1929384"/>
            <a:ext cx="172821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Rebalance</a:t>
            </a:r>
            <a:endParaRPr lang="en-US" sz="980" dirty="0"/>
          </a:p>
        </p:txBody>
      </p:sp>
      <p:sp>
        <p:nvSpPr>
          <p:cNvPr id="24" name="Text 22"/>
          <p:cNvSpPr/>
          <p:nvPr/>
        </p:nvSpPr>
        <p:spPr>
          <a:xfrm>
            <a:off x="9555480" y="2121408"/>
            <a:ext cx="172821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test</a:t>
            </a:r>
            <a:endParaRPr lang="en-US" sz="760" dirty="0"/>
          </a:p>
        </p:txBody>
      </p:sp>
      <p:sp>
        <p:nvSpPr>
          <p:cNvPr id="25" name="Shape 23"/>
          <p:cNvSpPr/>
          <p:nvPr/>
        </p:nvSpPr>
        <p:spPr>
          <a:xfrm>
            <a:off x="804672" y="2880360"/>
            <a:ext cx="3337560" cy="1417320"/>
          </a:xfrm>
          <a:prstGeom prst="rect">
            <a:avLst/>
          </a:prstGeom>
          <a:solidFill>
            <a:srgbClr val="EEF6FF"/>
          </a:solidFill>
          <a:ln w="12700">
            <a:solidFill>
              <a:srgbClr val="175CD3"/>
            </a:solidFill>
            <a:prstDash val="solid"/>
          </a:ln>
        </p:spPr>
      </p:sp>
      <p:sp>
        <p:nvSpPr>
          <p:cNvPr id="26" name="Text 24"/>
          <p:cNvSpPr/>
          <p:nvPr/>
        </p:nvSpPr>
        <p:spPr>
          <a:xfrm>
            <a:off x="950976" y="299923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Không random split</a:t>
            </a:r>
            <a:endParaRPr lang="en-US" sz="1320" dirty="0"/>
          </a:p>
        </p:txBody>
      </p:sp>
      <p:sp>
        <p:nvSpPr>
          <p:cNvPr id="27" name="Text 25"/>
          <p:cNvSpPr/>
          <p:nvPr/>
        </p:nvSpPr>
        <p:spPr>
          <a:xfrm>
            <a:off x="950976" y="3310128"/>
            <a:ext cx="3044952" cy="8961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Giữ đúng trật tự thời gian của dữ liệu tài chính.</a:t>
            </a:r>
            <a:endParaRPr lang="en-US" sz="1180" dirty="0"/>
          </a:p>
        </p:txBody>
      </p:sp>
      <p:sp>
        <p:nvSpPr>
          <p:cNvPr id="28" name="Shape 26"/>
          <p:cNvSpPr/>
          <p:nvPr/>
        </p:nvSpPr>
        <p:spPr>
          <a:xfrm>
            <a:off x="4443984" y="2880360"/>
            <a:ext cx="3337560" cy="1417320"/>
          </a:xfrm>
          <a:prstGeom prst="rect">
            <a:avLst/>
          </a:prstGeom>
          <a:solidFill>
            <a:srgbClr val="F0FDF4"/>
          </a:solidFill>
          <a:ln w="12700">
            <a:solidFill>
              <a:srgbClr val="157347"/>
            </a:solidFill>
            <a:prstDash val="solid"/>
          </a:ln>
        </p:spPr>
      </p:sp>
      <p:sp>
        <p:nvSpPr>
          <p:cNvPr id="29" name="Text 27"/>
          <p:cNvSpPr/>
          <p:nvPr/>
        </p:nvSpPr>
        <p:spPr>
          <a:xfrm>
            <a:off x="4590288" y="299923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Feature trailing</a:t>
            </a:r>
            <a:endParaRPr lang="en-US" sz="1320" dirty="0"/>
          </a:p>
        </p:txBody>
      </p:sp>
      <p:sp>
        <p:nvSpPr>
          <p:cNvPr id="30" name="Text 28"/>
          <p:cNvSpPr/>
          <p:nvPr/>
        </p:nvSpPr>
        <p:spPr>
          <a:xfrm>
            <a:off x="4590288" y="3310128"/>
            <a:ext cx="3044952" cy="8961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Input tại thời điểm t không chứa dữ liệu sau t.</a:t>
            </a:r>
            <a:endParaRPr lang="en-US" sz="1180" dirty="0"/>
          </a:p>
        </p:txBody>
      </p:sp>
      <p:sp>
        <p:nvSpPr>
          <p:cNvPr id="31" name="Shape 29"/>
          <p:cNvSpPr/>
          <p:nvPr/>
        </p:nvSpPr>
        <p:spPr>
          <a:xfrm>
            <a:off x="8083296" y="2880360"/>
            <a:ext cx="3337560" cy="1417320"/>
          </a:xfrm>
          <a:prstGeom prst="rect">
            <a:avLst/>
          </a:prstGeom>
          <a:solidFill>
            <a:srgbClr val="FFF7ED"/>
          </a:solidFill>
          <a:ln w="12700">
            <a:solidFill>
              <a:srgbClr val="E46A11"/>
            </a:solidFill>
            <a:prstDash val="solid"/>
          </a:ln>
        </p:spPr>
      </p:sp>
      <p:sp>
        <p:nvSpPr>
          <p:cNvPr id="32" name="Text 30"/>
          <p:cNvSpPr/>
          <p:nvPr/>
        </p:nvSpPr>
        <p:spPr>
          <a:xfrm>
            <a:off x="8229600" y="299923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E46A11"/>
                </a:solidFill>
                <a:latin typeface="Arial" pitchFamily="34" charset="0"/>
                <a:ea typeface="Arial" pitchFamily="34" charset="-122"/>
                <a:cs typeface="Arial" pitchFamily="34" charset="-120"/>
              </a:rPr>
              <a:t>Không tune trên test</a:t>
            </a:r>
            <a:endParaRPr lang="en-US" sz="1320" dirty="0"/>
          </a:p>
        </p:txBody>
      </p:sp>
      <p:sp>
        <p:nvSpPr>
          <p:cNvPr id="33" name="Text 31"/>
          <p:cNvSpPr/>
          <p:nvPr/>
        </p:nvSpPr>
        <p:spPr>
          <a:xfrm>
            <a:off x="8229600" y="3310128"/>
            <a:ext cx="3044952" cy="8961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Mô hình fit trên train, early-stop bằng valid, test chỉ dùng đánh giá.</a:t>
            </a:r>
            <a:endParaRPr lang="en-US" sz="1180" dirty="0"/>
          </a:p>
        </p:txBody>
      </p:sp>
      <p:sp>
        <p:nvSpPr>
          <p:cNvPr id="34" name="Text 32"/>
          <p:cNvSpPr/>
          <p:nvPr/>
        </p:nvSpPr>
        <p:spPr>
          <a:xfrm>
            <a:off x="914400" y="5166360"/>
            <a:ext cx="10058400" cy="329184"/>
          </a:xfrm>
          <a:prstGeom prst="rect">
            <a:avLst/>
          </a:prstGeom>
          <a:noFill/>
          <a:ln/>
        </p:spPr>
        <p:txBody>
          <a:bodyPr wrap="square" lIns="381" tIns="381" rIns="381" bIns="381" rtlCol="0" anchor="t">
            <a:normAutofit/>
          </a:bodyPr>
          <a:lstStyle/>
          <a:p>
            <a:pPr algn="ctr" indent="0" marL="0">
              <a:buNone/>
            </a:pPr>
            <a:r>
              <a:rPr lang="en-US" sz="1650" b="1" dirty="0">
                <a:solidFill>
                  <a:srgbClr val="B42318"/>
                </a:solidFill>
                <a:latin typeface="Arial" pitchFamily="34" charset="0"/>
                <a:ea typeface="Arial" pitchFamily="34" charset="-122"/>
                <a:cs typeface="Arial" pitchFamily="34" charset="-120"/>
              </a:rPr>
              <a:t>Embargo = LOOKBACK + HORIZON = 60 + 21 = 81 phiên để giảm overlap quanh ranh giới tập dữ liệu.</a:t>
            </a:r>
            <a:endParaRPr lang="en-US" sz="1650" dirty="0"/>
          </a:p>
        </p:txBody>
      </p:sp>
      <p:sp>
        <p:nvSpPr>
          <p:cNvPr id="35" name="Text 33"/>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ai-portfolio-research/src/splits.py; src/train.py; results/run_meta.json</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MODELING</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Mô hình và baseline so sánh</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1389888"/>
          <a:ext cx="10881360" cy="3246120"/>
        </p:xfrm>
        <a:graphic>
          <a:graphicData uri="http://schemas.openxmlformats.org/drawingml/2006/table">
            <a:tbl>
              <a:tblPr/>
              <a:tblGrid>
                <a:gridCol w="1920240"/>
                <a:gridCol w="4389120"/>
                <a:gridCol w="4572000"/>
              </a:tblGrid>
              <a:tr h="649224">
                <a:tc>
                  <a:txBody>
                    <a:bodyPr/>
                    <a:lstStyle/>
                    <a:p>
                      <a:pPr indent="0" marL="0">
                        <a:buNone/>
                      </a:pPr>
                      <a:r>
                        <a:rPr lang="en-US" sz="1270" dirty="0">
                          <a:solidFill>
                            <a:srgbClr val="101828"/>
                          </a:solidFill>
                          <a:latin typeface="Arial" pitchFamily="34" charset="0"/>
                          <a:ea typeface="Arial" pitchFamily="34" charset="-122"/>
                          <a:cs typeface="Arial" pitchFamily="34" charset="-120"/>
                        </a:rPr>
                        <a:t>Nhóm</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Mô hình / chiến lược</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Vai trò</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9224">
                <a:tc>
                  <a:txBody>
                    <a:bodyPr/>
                    <a:lstStyle/>
                    <a:p>
                      <a:pPr indent="0" marL="0">
                        <a:buNone/>
                      </a:pPr>
                      <a:r>
                        <a:rPr lang="en-US" sz="1270" dirty="0">
                          <a:solidFill>
                            <a:srgbClr val="101828"/>
                          </a:solidFill>
                          <a:latin typeface="Arial" pitchFamily="34" charset="0"/>
                          <a:ea typeface="Arial" pitchFamily="34" charset="-122"/>
                          <a:cs typeface="Arial" pitchFamily="34" charset="-120"/>
                        </a:rPr>
                        <a:t>Rule-based</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EqualWeight, RiskParity, 60/40</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Mốc so sánh đơn giản, dễ tái lập</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9224">
                <a:tc>
                  <a:txBody>
                    <a:bodyPr/>
                    <a:lstStyle/>
                    <a:p>
                      <a:pPr indent="0" marL="0">
                        <a:buNone/>
                      </a:pPr>
                      <a:r>
                        <a:rPr lang="en-US" sz="1270" dirty="0">
                          <a:solidFill>
                            <a:srgbClr val="101828"/>
                          </a:solidFill>
                          <a:latin typeface="Arial" pitchFamily="34" charset="0"/>
                          <a:ea typeface="Arial" pitchFamily="34" charset="-122"/>
                          <a:cs typeface="Arial" pitchFamily="34" charset="-120"/>
                        </a:rPr>
                        <a:t>Classical finance</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Linear Regression, CAPM, APT_3Factor</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Prior kinh tế/tài chính, baseline mạnh</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9224">
                <a:tc>
                  <a:txBody>
                    <a:bodyPr/>
                    <a:lstStyle/>
                    <a:p>
                      <a:pPr indent="0" marL="0">
                        <a:buNone/>
                      </a:pPr>
                      <a:r>
                        <a:rPr lang="en-US" sz="1270" dirty="0">
                          <a:solidFill>
                            <a:srgbClr val="101828"/>
                          </a:solidFill>
                          <a:latin typeface="Arial" pitchFamily="34" charset="0"/>
                          <a:ea typeface="Arial" pitchFamily="34" charset="-122"/>
                          <a:cs typeface="Arial" pitchFamily="34" charset="-120"/>
                        </a:rPr>
                        <a:t>Deep learning</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MLP, CNN, LSTM, GRU, Transformer</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So sánh mô hình phi tuyến phổ biến</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49224">
                <a:tc>
                  <a:txBody>
                    <a:bodyPr/>
                    <a:lstStyle/>
                    <a:p>
                      <a:pPr indent="0" marL="0">
                        <a:buNone/>
                      </a:pPr>
                      <a:r>
                        <a:rPr lang="en-US" sz="1270" dirty="0">
                          <a:solidFill>
                            <a:srgbClr val="101828"/>
                          </a:solidFill>
                          <a:latin typeface="Arial" pitchFamily="34" charset="0"/>
                          <a:ea typeface="Arial" pitchFamily="34" charset="-122"/>
                          <a:cs typeface="Arial" pitchFamily="34" charset="-120"/>
                        </a:rPr>
                        <a:t>Proposed</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PA-Transformer A, A+B, A+B+C</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70" dirty="0">
                          <a:solidFill>
                            <a:srgbClr val="101828"/>
                          </a:solidFill>
                          <a:latin typeface="Arial" pitchFamily="34" charset="0"/>
                          <a:ea typeface="Arial" pitchFamily="34" charset="-122"/>
                          <a:cs typeface="Arial" pitchFamily="34" charset="-120"/>
                        </a:rPr>
                        <a:t>Mô hình đề xuất và ablation study</a:t>
                      </a:r>
                      <a:endParaRPr lang="en-US" sz="127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6" name="Shape 3"/>
          <p:cNvSpPr/>
          <p:nvPr/>
        </p:nvSpPr>
        <p:spPr>
          <a:xfrm>
            <a:off x="914400" y="5074920"/>
            <a:ext cx="10287000" cy="640080"/>
          </a:xfrm>
          <a:prstGeom prst="rect">
            <a:avLst/>
          </a:prstGeom>
          <a:solidFill>
            <a:srgbClr val="F0FDF4"/>
          </a:solidFill>
          <a:ln w="12700">
            <a:solidFill>
              <a:srgbClr val="157347"/>
            </a:solidFill>
            <a:prstDash val="solid"/>
          </a:ln>
        </p:spPr>
      </p:sp>
      <p:sp>
        <p:nvSpPr>
          <p:cNvPr id="7" name="Text 4"/>
          <p:cNvSpPr/>
          <p:nvPr/>
        </p:nvSpPr>
        <p:spPr>
          <a:xfrm>
            <a:off x="1060704" y="5193792"/>
            <a:ext cx="999439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Nguyên tắc đánh giá</a:t>
            </a:r>
            <a:endParaRPr lang="en-US" sz="1320" dirty="0"/>
          </a:p>
        </p:txBody>
      </p:sp>
      <p:sp>
        <p:nvSpPr>
          <p:cNvPr id="8" name="Text 5"/>
          <p:cNvSpPr/>
          <p:nvPr/>
        </p:nvSpPr>
        <p:spPr>
          <a:xfrm>
            <a:off x="1060704" y="5504688"/>
            <a:ext cx="9994392" cy="11887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Tất cả mô hình dùng cùng tập test và cùng backtest engine để bảo đảm so sánh công bằng.</a:t>
            </a:r>
            <a:endParaRPr lang="en-US" sz="118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PROPOSED MODEL</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Mô hình đề xuất PA-Transformer</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713232" y="1417320"/>
            <a:ext cx="3246120" cy="2148840"/>
          </a:xfrm>
          <a:prstGeom prst="rect">
            <a:avLst/>
          </a:prstGeom>
          <a:solidFill>
            <a:srgbClr val="EEF6FF"/>
          </a:solidFill>
          <a:ln w="12700">
            <a:solidFill>
              <a:srgbClr val="175CD3"/>
            </a:solidFill>
            <a:prstDash val="solid"/>
          </a:ln>
        </p:spPr>
      </p:sp>
      <p:sp>
        <p:nvSpPr>
          <p:cNvPr id="6" name="Text 4"/>
          <p:cNvSpPr/>
          <p:nvPr/>
        </p:nvSpPr>
        <p:spPr>
          <a:xfrm>
            <a:off x="859536" y="153619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A. Temporal self-attention</a:t>
            </a:r>
            <a:endParaRPr lang="en-US" sz="1320" dirty="0"/>
          </a:p>
        </p:txBody>
      </p:sp>
      <p:sp>
        <p:nvSpPr>
          <p:cNvPr id="7" name="Text 5"/>
          <p:cNvSpPr/>
          <p:nvPr/>
        </p:nvSpPr>
        <p:spPr>
          <a:xfrm>
            <a:off x="859536" y="1847088"/>
            <a:ext cx="2953512" cy="162763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Học động thái theo thời gian trong cửa sổ 60 phiên của từng tài sản.</a:t>
            </a:r>
            <a:endParaRPr lang="en-US" sz="1180" dirty="0"/>
          </a:p>
        </p:txBody>
      </p:sp>
      <p:sp>
        <p:nvSpPr>
          <p:cNvPr id="8" name="Shape 6"/>
          <p:cNvSpPr/>
          <p:nvPr/>
        </p:nvSpPr>
        <p:spPr>
          <a:xfrm>
            <a:off x="4462272" y="1417320"/>
            <a:ext cx="3246120" cy="2148840"/>
          </a:xfrm>
          <a:prstGeom prst="rect">
            <a:avLst/>
          </a:prstGeom>
          <a:solidFill>
            <a:srgbClr val="F4F3FF"/>
          </a:solidFill>
          <a:ln w="12700">
            <a:solidFill>
              <a:srgbClr val="6941C6"/>
            </a:solidFill>
            <a:prstDash val="solid"/>
          </a:ln>
        </p:spPr>
      </p:sp>
      <p:sp>
        <p:nvSpPr>
          <p:cNvPr id="9" name="Text 7"/>
          <p:cNvSpPr/>
          <p:nvPr/>
        </p:nvSpPr>
        <p:spPr>
          <a:xfrm>
            <a:off x="4608576" y="153619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6941C6"/>
                </a:solidFill>
                <a:latin typeface="Arial" pitchFamily="34" charset="0"/>
                <a:ea typeface="Arial" pitchFamily="34" charset="-122"/>
                <a:cs typeface="Arial" pitchFamily="34" charset="-120"/>
              </a:rPr>
              <a:t>B. Cross-asset attention</a:t>
            </a:r>
            <a:endParaRPr lang="en-US" sz="1320" dirty="0"/>
          </a:p>
        </p:txBody>
      </p:sp>
      <p:sp>
        <p:nvSpPr>
          <p:cNvPr id="10" name="Text 8"/>
          <p:cNvSpPr/>
          <p:nvPr/>
        </p:nvSpPr>
        <p:spPr>
          <a:xfrm>
            <a:off x="4608576" y="1847088"/>
            <a:ext cx="2953512" cy="162763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Học quan hệ giữa các tài sản: tương quan, regime, đồng biến/đối biến.</a:t>
            </a:r>
            <a:endParaRPr lang="en-US" sz="1180" dirty="0"/>
          </a:p>
        </p:txBody>
      </p:sp>
      <p:sp>
        <p:nvSpPr>
          <p:cNvPr id="11" name="Shape 9"/>
          <p:cNvSpPr/>
          <p:nvPr/>
        </p:nvSpPr>
        <p:spPr>
          <a:xfrm>
            <a:off x="8211312" y="1417320"/>
            <a:ext cx="3246120" cy="2148840"/>
          </a:xfrm>
          <a:prstGeom prst="rect">
            <a:avLst/>
          </a:prstGeom>
          <a:solidFill>
            <a:srgbClr val="F0FDF4"/>
          </a:solidFill>
          <a:ln w="12700">
            <a:solidFill>
              <a:srgbClr val="157347"/>
            </a:solidFill>
            <a:prstDash val="solid"/>
          </a:ln>
        </p:spPr>
      </p:sp>
      <p:sp>
        <p:nvSpPr>
          <p:cNvPr id="12" name="Text 10"/>
          <p:cNvSpPr/>
          <p:nvPr/>
        </p:nvSpPr>
        <p:spPr>
          <a:xfrm>
            <a:off x="8357616" y="1536192"/>
            <a:ext cx="295351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C. Sharpe-aware loss</a:t>
            </a:r>
            <a:endParaRPr lang="en-US" sz="1320" dirty="0"/>
          </a:p>
        </p:txBody>
      </p:sp>
      <p:sp>
        <p:nvSpPr>
          <p:cNvPr id="13" name="Text 11"/>
          <p:cNvSpPr/>
          <p:nvPr/>
        </p:nvSpPr>
        <p:spPr>
          <a:xfrm>
            <a:off x="8357616" y="1847088"/>
            <a:ext cx="2953512" cy="162763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Gắn hàm mất mát với mục tiêu hiệu suất danh mục, không chỉ MSE.</a:t>
            </a:r>
            <a:endParaRPr lang="en-US" sz="1180" dirty="0"/>
          </a:p>
        </p:txBody>
      </p:sp>
      <p:sp>
        <p:nvSpPr>
          <p:cNvPr id="14" name="Shape 12"/>
          <p:cNvSpPr/>
          <p:nvPr/>
        </p:nvSpPr>
        <p:spPr>
          <a:xfrm>
            <a:off x="914400" y="4343400"/>
            <a:ext cx="10012680" cy="749808"/>
          </a:xfrm>
          <a:prstGeom prst="rect">
            <a:avLst/>
          </a:prstGeom>
          <a:solidFill>
            <a:srgbClr val="F8FAFC"/>
          </a:solidFill>
          <a:ln w="10160">
            <a:solidFill>
              <a:srgbClr val="D0D5DD"/>
            </a:solidFill>
            <a:prstDash val="solid"/>
          </a:ln>
        </p:spPr>
      </p:sp>
      <p:sp>
        <p:nvSpPr>
          <p:cNvPr id="15" name="Text 13"/>
          <p:cNvSpPr/>
          <p:nvPr/>
        </p:nvSpPr>
        <p:spPr>
          <a:xfrm>
            <a:off x="1024128" y="4572000"/>
            <a:ext cx="9784080" cy="237744"/>
          </a:xfrm>
          <a:prstGeom prst="rect">
            <a:avLst/>
          </a:prstGeom>
          <a:noFill/>
          <a:ln/>
        </p:spPr>
        <p:txBody>
          <a:bodyPr wrap="square" lIns="381" tIns="381" rIns="381" bIns="381" rtlCol="0" anchor="t">
            <a:normAutofit/>
          </a:bodyPr>
          <a:lstStyle/>
          <a:p>
            <a:pPr algn="ctr" indent="0" marL="0">
              <a:buNone/>
            </a:pPr>
            <a:r>
              <a:rPr lang="en-US" sz="1580" b="1" dirty="0">
                <a:solidFill>
                  <a:srgbClr val="101828"/>
                </a:solidFill>
                <a:latin typeface="Arial" pitchFamily="34" charset="0"/>
                <a:ea typeface="Arial" pitchFamily="34" charset="-122"/>
                <a:cs typeface="Arial" pitchFamily="34" charset="-120"/>
              </a:rPr>
              <a:t>Input [60 × 14 × 7]  →  PA-Transformer  →  mu_hat [14]  →  Markowitz Max-Sharpe  →  trọng số danh mục</a:t>
            </a:r>
            <a:endParaRPr lang="en-US" sz="1580" dirty="0"/>
          </a:p>
        </p:txBody>
      </p:sp>
      <p:sp>
        <p:nvSpPr>
          <p:cNvPr id="16" name="Text 14"/>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ai-portfolio-research/src/models/proposed.py; src/ablation.py</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GEMINI + CHATGPT/CODEX</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AI tích hợp trong hệ thống</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685800" y="1417320"/>
            <a:ext cx="3429000" cy="3246120"/>
          </a:xfrm>
          <a:prstGeom prst="rect">
            <a:avLst/>
          </a:prstGeom>
          <a:solidFill>
            <a:srgbClr val="EEF6FF"/>
          </a:solidFill>
          <a:ln w="12700">
            <a:solidFill>
              <a:srgbClr val="175CD3"/>
            </a:solidFill>
            <a:prstDash val="solid"/>
          </a:ln>
        </p:spPr>
      </p:sp>
      <p:sp>
        <p:nvSpPr>
          <p:cNvPr id="6" name="Text 4"/>
          <p:cNvSpPr/>
          <p:nvPr/>
        </p:nvSpPr>
        <p:spPr>
          <a:xfrm>
            <a:off x="832104" y="1536192"/>
            <a:ext cx="313639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Gemini trong runtime</a:t>
            </a:r>
            <a:endParaRPr lang="en-US" sz="1320" dirty="0"/>
          </a:p>
        </p:txBody>
      </p:sp>
      <p:sp>
        <p:nvSpPr>
          <p:cNvPr id="7" name="Text 5"/>
          <p:cNvSpPr/>
          <p:nvPr/>
        </p:nvSpPr>
        <p:spPr>
          <a:xfrm>
            <a:off x="832104" y="1847088"/>
            <a:ext cx="3136392" cy="27249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Supabase Edge Functions gọi Lovable AI Gateway với các model google/gemini-3-flash-preview và google/gemini-2.5-pro.</a:t>
            </a:r>
            <a:endParaRPr lang="en-US" sz="1180" dirty="0"/>
          </a:p>
        </p:txBody>
      </p:sp>
      <p:sp>
        <p:nvSpPr>
          <p:cNvPr id="8" name="Shape 6"/>
          <p:cNvSpPr/>
          <p:nvPr/>
        </p:nvSpPr>
        <p:spPr>
          <a:xfrm>
            <a:off x="4389120" y="1417320"/>
            <a:ext cx="3429000" cy="3246120"/>
          </a:xfrm>
          <a:prstGeom prst="rect">
            <a:avLst/>
          </a:prstGeom>
          <a:solidFill>
            <a:srgbClr val="F4F3FF"/>
          </a:solidFill>
          <a:ln w="12700">
            <a:solidFill>
              <a:srgbClr val="6941C6"/>
            </a:solidFill>
            <a:prstDash val="solid"/>
          </a:ln>
        </p:spPr>
      </p:sp>
      <p:sp>
        <p:nvSpPr>
          <p:cNvPr id="9" name="Text 7"/>
          <p:cNvSpPr/>
          <p:nvPr/>
        </p:nvSpPr>
        <p:spPr>
          <a:xfrm>
            <a:off x="4535424" y="1536192"/>
            <a:ext cx="3136392" cy="219456"/>
          </a:xfrm>
          <a:prstGeom prst="rect">
            <a:avLst/>
          </a:prstGeom>
          <a:noFill/>
          <a:ln/>
        </p:spPr>
        <p:txBody>
          <a:bodyPr wrap="square" lIns="381" tIns="381" rIns="381" bIns="381" rtlCol="0" anchor="t">
            <a:normAutofit/>
          </a:bodyPr>
          <a:lstStyle/>
          <a:p>
            <a:pPr indent="0" marL="0">
              <a:buNone/>
            </a:pPr>
            <a:r>
              <a:rPr lang="en-US" sz="1320" b="1" dirty="0">
                <a:solidFill>
                  <a:srgbClr val="6941C6"/>
                </a:solidFill>
                <a:latin typeface="Arial" pitchFamily="34" charset="0"/>
                <a:ea typeface="Arial" pitchFamily="34" charset="-122"/>
                <a:cs typeface="Arial" pitchFamily="34" charset="-120"/>
              </a:rPr>
              <a:t>ChatGPT/Codex trong quy trình</a:t>
            </a:r>
            <a:endParaRPr lang="en-US" sz="1320" dirty="0"/>
          </a:p>
        </p:txBody>
      </p:sp>
      <p:sp>
        <p:nvSpPr>
          <p:cNvPr id="10" name="Text 8"/>
          <p:cNvSpPr/>
          <p:nvPr/>
        </p:nvSpPr>
        <p:spPr>
          <a:xfrm>
            <a:off x="4535424" y="1847088"/>
            <a:ext cx="3136392" cy="27249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Dùng để hỗ trợ phát triển, rà rubric, tạo tài liệu chứng minh, bộ vấn đáp và slide báo cáo. Trong code hiện tại chưa có Edge Function gọi trực tiếp OpenAI API.</a:t>
            </a:r>
            <a:endParaRPr lang="en-US" sz="1180" dirty="0"/>
          </a:p>
        </p:txBody>
      </p:sp>
      <p:sp>
        <p:nvSpPr>
          <p:cNvPr id="11" name="Shape 9"/>
          <p:cNvSpPr/>
          <p:nvPr/>
        </p:nvSpPr>
        <p:spPr>
          <a:xfrm>
            <a:off x="8092440" y="1417320"/>
            <a:ext cx="3429000" cy="3246120"/>
          </a:xfrm>
          <a:prstGeom prst="rect">
            <a:avLst/>
          </a:prstGeom>
          <a:solidFill>
            <a:srgbClr val="F0FDF4"/>
          </a:solidFill>
          <a:ln w="12700">
            <a:solidFill>
              <a:srgbClr val="157347"/>
            </a:solidFill>
            <a:prstDash val="solid"/>
          </a:ln>
        </p:spPr>
      </p:sp>
      <p:sp>
        <p:nvSpPr>
          <p:cNvPr id="12" name="Text 10"/>
          <p:cNvSpPr/>
          <p:nvPr/>
        </p:nvSpPr>
        <p:spPr>
          <a:xfrm>
            <a:off x="8238744" y="1536192"/>
            <a:ext cx="313639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AI agents và chatbot</a:t>
            </a:r>
            <a:endParaRPr lang="en-US" sz="1320" dirty="0"/>
          </a:p>
        </p:txBody>
      </p:sp>
      <p:sp>
        <p:nvSpPr>
          <p:cNvPr id="13" name="Text 11"/>
          <p:cNvSpPr/>
          <p:nvPr/>
        </p:nvSpPr>
        <p:spPr>
          <a:xfrm>
            <a:off x="8238744" y="1847088"/>
            <a:ext cx="3136392" cy="27249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Crystal AI, AI Insights, Equity Research Agents, sentiment analysis, moderation và AI extraction tạo thành lớp phân tích thông minh.</a:t>
            </a:r>
            <a:endParaRPr lang="en-US" sz="1180" dirty="0"/>
          </a:p>
        </p:txBody>
      </p:sp>
      <p:sp>
        <p:nvSpPr>
          <p:cNvPr id="14" name="Text 12"/>
          <p:cNvSpPr/>
          <p:nvPr/>
        </p:nvSpPr>
        <p:spPr>
          <a:xfrm>
            <a:off x="868680" y="5349240"/>
            <a:ext cx="10149840" cy="365760"/>
          </a:xfrm>
          <a:prstGeom prst="rect">
            <a:avLst/>
          </a:prstGeom>
          <a:noFill/>
          <a:ln/>
        </p:spPr>
        <p:txBody>
          <a:bodyPr wrap="square" lIns="381" tIns="381" rIns="381" bIns="381" rtlCol="0" anchor="t">
            <a:normAutofit/>
          </a:bodyPr>
          <a:lstStyle/>
          <a:p>
            <a:pPr algn="ctr" indent="0" marL="0">
              <a:buNone/>
            </a:pPr>
            <a:r>
              <a:rPr lang="en-US" sz="1620" b="1" dirty="0">
                <a:solidFill>
                  <a:srgbClr val="E46A11"/>
                </a:solidFill>
                <a:latin typeface="Arial" pitchFamily="34" charset="0"/>
                <a:ea typeface="Arial" pitchFamily="34" charset="-122"/>
                <a:cs typeface="Arial" pitchFamily="34" charset="-120"/>
              </a:rPr>
              <a:t>Cách trình bày với giáo sư: nêu đúng vai trò kỹ thuật của từng AI, tránh nói quá rằng mọi phần đều chạy OpenAI runtime.</a:t>
            </a:r>
            <a:endParaRPr lang="en-US" sz="1620" dirty="0"/>
          </a:p>
        </p:txBody>
      </p:sp>
      <p:sp>
        <p:nvSpPr>
          <p:cNvPr id="15" name="Text 13"/>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supabase/functions/*/index.ts; src/pages/platform/AIInsights.tsx; src/components/platform/stocks/EquityResearchAgents.tsx</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AI BACKEND</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Bằng chứng Gemini trong Supabase Edge Functions</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1353312"/>
          <a:ext cx="10881360" cy="4343400"/>
        </p:xfrm>
        <a:graphic>
          <a:graphicData uri="http://schemas.openxmlformats.org/drawingml/2006/table">
            <a:tbl>
              <a:tblPr/>
              <a:tblGrid>
                <a:gridCol w="2377440"/>
                <a:gridCol w="2971800"/>
                <a:gridCol w="5532120"/>
              </a:tblGrid>
              <a:tr h="620486">
                <a:tc>
                  <a:txBody>
                    <a:bodyPr/>
                    <a:lstStyle/>
                    <a:p>
                      <a:pPr indent="0" marL="0">
                        <a:buNone/>
                      </a:pPr>
                      <a:r>
                        <a:rPr lang="en-US" sz="1140" dirty="0">
                          <a:solidFill>
                            <a:srgbClr val="101828"/>
                          </a:solidFill>
                          <a:latin typeface="Arial" pitchFamily="34" charset="0"/>
                          <a:ea typeface="Arial" pitchFamily="34" charset="-122"/>
                          <a:cs typeface="Arial" pitchFamily="34" charset="-120"/>
                        </a:rPr>
                        <a:t>Edge Function</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Model / Endpoint</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Vai trò</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20486">
                <a:tc>
                  <a:txBody>
                    <a:bodyPr/>
                    <a:lstStyle/>
                    <a:p>
                      <a:pPr indent="0" marL="0">
                        <a:buNone/>
                      </a:pPr>
                      <a:r>
                        <a:rPr lang="en-US" sz="1140" dirty="0">
                          <a:solidFill>
                            <a:srgbClr val="101828"/>
                          </a:solidFill>
                          <a:latin typeface="Arial" pitchFamily="34" charset="0"/>
                          <a:ea typeface="Arial" pitchFamily="34" charset="-122"/>
                          <a:cs typeface="Arial" pitchFamily="34" charset="-120"/>
                        </a:rPr>
                        <a:t>chatbot-ai</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google/gemini-3-flash-preview</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Crystal AI streaming, Q&amp;A, news/community context</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20486">
                <a:tc>
                  <a:txBody>
                    <a:bodyPr/>
                    <a:lstStyle/>
                    <a:p>
                      <a:pPr indent="0" marL="0">
                        <a:buNone/>
                      </a:pPr>
                      <a:r>
                        <a:rPr lang="en-US" sz="1140" dirty="0">
                          <a:solidFill>
                            <a:srgbClr val="101828"/>
                          </a:solidFill>
                          <a:latin typeface="Arial" pitchFamily="34" charset="0"/>
                          <a:ea typeface="Arial" pitchFamily="34" charset="-122"/>
                          <a:cs typeface="Arial" pitchFamily="34" charset="-120"/>
                        </a:rPr>
                        <a:t>ai-market-analysis</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google/gemini-3-flash-preview</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Phân tích thị trường theo tin tức</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20486">
                <a:tc>
                  <a:txBody>
                    <a:bodyPr/>
                    <a:lstStyle/>
                    <a:p>
                      <a:pPr indent="0" marL="0">
                        <a:buNone/>
                      </a:pPr>
                      <a:r>
                        <a:rPr lang="en-US" sz="1140" dirty="0">
                          <a:solidFill>
                            <a:srgbClr val="101828"/>
                          </a:solidFill>
                          <a:latin typeface="Arial" pitchFamily="34" charset="0"/>
                          <a:ea typeface="Arial" pitchFamily="34" charset="-122"/>
                          <a:cs typeface="Arial" pitchFamily="34" charset="-120"/>
                        </a:rPr>
                        <a:t>ai-extract-financials</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google/gemini-2.5-pro</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Trích xuất chỉ số tài chính từ file</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20486">
                <a:tc>
                  <a:txBody>
                    <a:bodyPr/>
                    <a:lstStyle/>
                    <a:p>
                      <a:pPr indent="0" marL="0">
                        <a:buNone/>
                      </a:pPr>
                      <a:r>
                        <a:rPr lang="en-US" sz="1140" dirty="0">
                          <a:solidFill>
                            <a:srgbClr val="101828"/>
                          </a:solidFill>
                          <a:latin typeface="Arial" pitchFamily="34" charset="0"/>
                          <a:ea typeface="Arial" pitchFamily="34" charset="-122"/>
                          <a:cs typeface="Arial" pitchFamily="34" charset="-120"/>
                        </a:rPr>
                        <a:t>sentiment-analysis</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google/gemini-3-flash-preview</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Phân tích sentiment</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20486">
                <a:tc>
                  <a:txBody>
                    <a:bodyPr/>
                    <a:lstStyle/>
                    <a:p>
                      <a:pPr indent="0" marL="0">
                        <a:buNone/>
                      </a:pPr>
                      <a:r>
                        <a:rPr lang="en-US" sz="1140" dirty="0">
                          <a:solidFill>
                            <a:srgbClr val="101828"/>
                          </a:solidFill>
                          <a:latin typeface="Arial" pitchFamily="34" charset="0"/>
                          <a:ea typeface="Arial" pitchFamily="34" charset="-122"/>
                          <a:cs typeface="Arial" pitchFamily="34" charset="-120"/>
                        </a:rPr>
                        <a:t>moderate-content</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google/gemini-3-flash-preview</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Kiểm duyệt nội dung cộng đồng</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620486">
                <a:tc>
                  <a:txBody>
                    <a:bodyPr/>
                    <a:lstStyle/>
                    <a:p>
                      <a:pPr indent="0" marL="0">
                        <a:buNone/>
                      </a:pPr>
                      <a:r>
                        <a:rPr lang="en-US" sz="1140" dirty="0">
                          <a:solidFill>
                            <a:srgbClr val="101828"/>
                          </a:solidFill>
                          <a:latin typeface="Arial" pitchFamily="34" charset="0"/>
                          <a:ea typeface="Arial" pitchFamily="34" charset="-122"/>
                          <a:cs typeface="Arial" pitchFamily="34" charset="-120"/>
                        </a:rPr>
                        <a:t>equity-research-ai</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google/gemini-3-flash-preview</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40" dirty="0">
                          <a:solidFill>
                            <a:srgbClr val="101828"/>
                          </a:solidFill>
                          <a:latin typeface="Arial" pitchFamily="34" charset="0"/>
                          <a:ea typeface="Arial" pitchFamily="34" charset="-122"/>
                          <a:cs typeface="Arial" pitchFamily="34" charset="-120"/>
                        </a:rPr>
                        <a:t>Multi-agent equity research</a:t>
                      </a:r>
                      <a:endParaRPr lang="en-US" sz="11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6" name="Text 3"/>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rg "google/gemini|ai.gateway" supabase/functions</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AUTOMATION</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Quy trình tự động hóa n8n</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Text 3"/>
          <p:cNvSpPr/>
          <p:nvPr/>
        </p:nvSpPr>
        <p:spPr>
          <a:xfrm>
            <a:off x="713232" y="1353312"/>
            <a:ext cx="10652760" cy="384048"/>
          </a:xfrm>
          <a:prstGeom prst="rect">
            <a:avLst/>
          </a:prstGeom>
          <a:noFill/>
          <a:ln/>
        </p:spPr>
        <p:txBody>
          <a:bodyPr wrap="square" lIns="381" tIns="381" rIns="381" bIns="381" rtlCol="0" anchor="t">
            <a:normAutofit/>
          </a:bodyPr>
          <a:lstStyle/>
          <a:p>
            <a:pPr indent="0" marL="0">
              <a:buNone/>
            </a:pPr>
            <a:r>
              <a:rPr lang="en-US" sz="2000" b="1" dirty="0">
                <a:solidFill>
                  <a:srgbClr val="101828"/>
                </a:solidFill>
                <a:latin typeface="Arial" pitchFamily="34" charset="0"/>
                <a:ea typeface="Arial" pitchFamily="34" charset="-122"/>
                <a:cs typeface="Arial" pitchFamily="34" charset="-120"/>
              </a:rPr>
              <a:t>Dự án có thiết kế bảng `n8n_runs` để theo dõi workflow gửi ra n8n, payload, trạng thái, kết quả callback và lỗi.</a:t>
            </a:r>
            <a:endParaRPr lang="en-US" sz="2000" dirty="0"/>
          </a:p>
        </p:txBody>
      </p:sp>
      <p:sp>
        <p:nvSpPr>
          <p:cNvPr id="6" name="Shape 4"/>
          <p:cNvSpPr/>
          <p:nvPr/>
        </p:nvSpPr>
        <p:spPr>
          <a:xfrm>
            <a:off x="749808" y="2212848"/>
            <a:ext cx="1874520" cy="1033272"/>
          </a:xfrm>
          <a:prstGeom prst="rect">
            <a:avLst/>
          </a:prstGeom>
          <a:solidFill>
            <a:srgbClr val="FFF7ED"/>
          </a:solidFill>
          <a:ln w="12700">
            <a:solidFill>
              <a:srgbClr val="D0D5DD"/>
            </a:solidFill>
            <a:prstDash val="solid"/>
          </a:ln>
        </p:spPr>
      </p:sp>
      <p:sp>
        <p:nvSpPr>
          <p:cNvPr id="7" name="Text 5"/>
          <p:cNvSpPr/>
          <p:nvPr/>
        </p:nvSpPr>
        <p:spPr>
          <a:xfrm>
            <a:off x="841248" y="2331720"/>
            <a:ext cx="320040" cy="219456"/>
          </a:xfrm>
          <a:prstGeom prst="rect">
            <a:avLst/>
          </a:prstGeom>
          <a:noFill/>
          <a:ln/>
        </p:spPr>
        <p:txBody>
          <a:bodyPr wrap="square" lIns="381" tIns="381" rIns="381" bIns="381" rtlCol="0" anchor="t">
            <a:normAutofit/>
          </a:bodyPr>
          <a:lstStyle/>
          <a:p>
            <a:pPr algn="ctr" indent="0" marL="0">
              <a:buNone/>
            </a:pPr>
            <a:r>
              <a:rPr lang="en-US" sz="1500" b="1" dirty="0">
                <a:solidFill>
                  <a:srgbClr val="667085"/>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1161288" y="2423160"/>
            <a:ext cx="1234440" cy="402336"/>
          </a:xfrm>
          <a:prstGeom prst="rect">
            <a:avLst/>
          </a:prstGeom>
          <a:noFill/>
          <a:ln/>
        </p:spPr>
        <p:txBody>
          <a:bodyPr wrap="square" lIns="381" tIns="381" rIns="381" bIns="381" rtlCol="0" anchor="t">
            <a:normAutofit/>
          </a:bodyPr>
          <a:lstStyle/>
          <a:p>
            <a:pPr algn="ctr" indent="0" marL="0">
              <a:buNone/>
            </a:pPr>
            <a:r>
              <a:rPr lang="en-US" sz="1070" b="1" dirty="0">
                <a:solidFill>
                  <a:srgbClr val="101828"/>
                </a:solidFill>
                <a:latin typeface="Arial" pitchFamily="34" charset="0"/>
                <a:ea typeface="Arial" pitchFamily="34" charset="-122"/>
                <a:cs typeface="Arial" pitchFamily="34" charset="-120"/>
              </a:rPr>
              <a:t>Kích hoạt workflow</a:t>
            </a:r>
            <a:endParaRPr lang="en-US" sz="1070" dirty="0"/>
          </a:p>
        </p:txBody>
      </p:sp>
      <p:sp>
        <p:nvSpPr>
          <p:cNvPr id="9" name="Shape 7"/>
          <p:cNvSpPr/>
          <p:nvPr/>
        </p:nvSpPr>
        <p:spPr>
          <a:xfrm>
            <a:off x="2651760" y="2560320"/>
            <a:ext cx="320040" cy="219456"/>
          </a:xfrm>
          <a:prstGeom prst="rightArrow">
            <a:avLst/>
          </a:prstGeom>
          <a:solidFill>
            <a:srgbClr val="D0D5DD"/>
          </a:solidFill>
          <a:ln w="12700">
            <a:solidFill>
              <a:srgbClr val="D0D5DD"/>
            </a:solidFill>
            <a:prstDash val="solid"/>
          </a:ln>
        </p:spPr>
      </p:sp>
      <p:sp>
        <p:nvSpPr>
          <p:cNvPr id="10" name="Shape 8"/>
          <p:cNvSpPr/>
          <p:nvPr/>
        </p:nvSpPr>
        <p:spPr>
          <a:xfrm>
            <a:off x="3017520" y="2212848"/>
            <a:ext cx="1874520" cy="1033272"/>
          </a:xfrm>
          <a:prstGeom prst="rect">
            <a:avLst/>
          </a:prstGeom>
          <a:solidFill>
            <a:srgbClr val="F8FAFC"/>
          </a:solidFill>
          <a:ln w="12700">
            <a:solidFill>
              <a:srgbClr val="D0D5DD"/>
            </a:solidFill>
            <a:prstDash val="solid"/>
          </a:ln>
        </p:spPr>
      </p:sp>
      <p:sp>
        <p:nvSpPr>
          <p:cNvPr id="11" name="Text 9"/>
          <p:cNvSpPr/>
          <p:nvPr/>
        </p:nvSpPr>
        <p:spPr>
          <a:xfrm>
            <a:off x="3108960" y="2331720"/>
            <a:ext cx="320040" cy="219456"/>
          </a:xfrm>
          <a:prstGeom prst="rect">
            <a:avLst/>
          </a:prstGeom>
          <a:noFill/>
          <a:ln/>
        </p:spPr>
        <p:txBody>
          <a:bodyPr wrap="square" lIns="381" tIns="381" rIns="381" bIns="381" rtlCol="0" anchor="t">
            <a:normAutofit/>
          </a:bodyPr>
          <a:lstStyle/>
          <a:p>
            <a:pPr algn="ctr" indent="0" marL="0">
              <a:buNone/>
            </a:pPr>
            <a:r>
              <a:rPr lang="en-US" sz="1500" b="1" dirty="0">
                <a:solidFill>
                  <a:srgbClr val="667085"/>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3429000" y="2423160"/>
            <a:ext cx="1234440" cy="402336"/>
          </a:xfrm>
          <a:prstGeom prst="rect">
            <a:avLst/>
          </a:prstGeom>
          <a:noFill/>
          <a:ln/>
        </p:spPr>
        <p:txBody>
          <a:bodyPr wrap="square" lIns="381" tIns="381" rIns="381" bIns="381" rtlCol="0" anchor="t">
            <a:normAutofit/>
          </a:bodyPr>
          <a:lstStyle/>
          <a:p>
            <a:pPr algn="ctr" indent="0" marL="0">
              <a:buNone/>
            </a:pPr>
            <a:r>
              <a:rPr lang="en-US" sz="1070" b="1" dirty="0">
                <a:solidFill>
                  <a:srgbClr val="101828"/>
                </a:solidFill>
                <a:latin typeface="Arial" pitchFamily="34" charset="0"/>
                <a:ea typeface="Arial" pitchFamily="34" charset="-122"/>
                <a:cs typeface="Arial" pitchFamily="34" charset="-120"/>
              </a:rPr>
              <a:t>Ghi payload vào n8n_runs</a:t>
            </a:r>
            <a:endParaRPr lang="en-US" sz="1070" dirty="0"/>
          </a:p>
        </p:txBody>
      </p:sp>
      <p:sp>
        <p:nvSpPr>
          <p:cNvPr id="13" name="Shape 11"/>
          <p:cNvSpPr/>
          <p:nvPr/>
        </p:nvSpPr>
        <p:spPr>
          <a:xfrm>
            <a:off x="4919472" y="2560320"/>
            <a:ext cx="320040" cy="219456"/>
          </a:xfrm>
          <a:prstGeom prst="rightArrow">
            <a:avLst/>
          </a:prstGeom>
          <a:solidFill>
            <a:srgbClr val="D0D5DD"/>
          </a:solidFill>
          <a:ln w="12700">
            <a:solidFill>
              <a:srgbClr val="D0D5DD"/>
            </a:solidFill>
            <a:prstDash val="solid"/>
          </a:ln>
        </p:spPr>
      </p:sp>
      <p:sp>
        <p:nvSpPr>
          <p:cNvPr id="14" name="Shape 12"/>
          <p:cNvSpPr/>
          <p:nvPr/>
        </p:nvSpPr>
        <p:spPr>
          <a:xfrm>
            <a:off x="5285232" y="2212848"/>
            <a:ext cx="1874520" cy="1033272"/>
          </a:xfrm>
          <a:prstGeom prst="rect">
            <a:avLst/>
          </a:prstGeom>
          <a:solidFill>
            <a:srgbClr val="FFF7ED"/>
          </a:solidFill>
          <a:ln w="12700">
            <a:solidFill>
              <a:srgbClr val="E46A11"/>
            </a:solidFill>
            <a:prstDash val="solid"/>
          </a:ln>
        </p:spPr>
      </p:sp>
      <p:sp>
        <p:nvSpPr>
          <p:cNvPr id="15" name="Text 13"/>
          <p:cNvSpPr/>
          <p:nvPr/>
        </p:nvSpPr>
        <p:spPr>
          <a:xfrm>
            <a:off x="5376672" y="2331720"/>
            <a:ext cx="320040" cy="219456"/>
          </a:xfrm>
          <a:prstGeom prst="rect">
            <a:avLst/>
          </a:prstGeom>
          <a:noFill/>
          <a:ln/>
        </p:spPr>
        <p:txBody>
          <a:bodyPr wrap="square" lIns="381" tIns="381" rIns="381" bIns="381" rtlCol="0" anchor="t">
            <a:normAutofit/>
          </a:bodyPr>
          <a:lstStyle/>
          <a:p>
            <a:pPr algn="ctr" indent="0" marL="0">
              <a:buNone/>
            </a:pPr>
            <a:r>
              <a:rPr lang="en-US" sz="1500" b="1" dirty="0">
                <a:solidFill>
                  <a:srgbClr val="E46A11"/>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5696712" y="2423160"/>
            <a:ext cx="1234440" cy="402336"/>
          </a:xfrm>
          <a:prstGeom prst="rect">
            <a:avLst/>
          </a:prstGeom>
          <a:noFill/>
          <a:ln/>
        </p:spPr>
        <p:txBody>
          <a:bodyPr wrap="square" lIns="381" tIns="381" rIns="381" bIns="381" rtlCol="0" anchor="t">
            <a:normAutofit/>
          </a:bodyPr>
          <a:lstStyle/>
          <a:p>
            <a:pPr algn="ctr" indent="0" marL="0">
              <a:buNone/>
            </a:pPr>
            <a:r>
              <a:rPr lang="en-US" sz="1070" b="1" dirty="0">
                <a:solidFill>
                  <a:srgbClr val="101828"/>
                </a:solidFill>
                <a:latin typeface="Arial" pitchFamily="34" charset="0"/>
                <a:ea typeface="Arial" pitchFamily="34" charset="-122"/>
                <a:cs typeface="Arial" pitchFamily="34" charset="-120"/>
              </a:rPr>
              <a:t>n8n xử lý tự động</a:t>
            </a:r>
            <a:endParaRPr lang="en-US" sz="1070" dirty="0"/>
          </a:p>
        </p:txBody>
      </p:sp>
      <p:sp>
        <p:nvSpPr>
          <p:cNvPr id="17" name="Shape 15"/>
          <p:cNvSpPr/>
          <p:nvPr/>
        </p:nvSpPr>
        <p:spPr>
          <a:xfrm>
            <a:off x="7187184" y="2560320"/>
            <a:ext cx="320040" cy="219456"/>
          </a:xfrm>
          <a:prstGeom prst="rightArrow">
            <a:avLst/>
          </a:prstGeom>
          <a:solidFill>
            <a:srgbClr val="D0D5DD"/>
          </a:solidFill>
          <a:ln w="12700">
            <a:solidFill>
              <a:srgbClr val="D0D5DD"/>
            </a:solidFill>
            <a:prstDash val="solid"/>
          </a:ln>
        </p:spPr>
      </p:sp>
      <p:sp>
        <p:nvSpPr>
          <p:cNvPr id="18" name="Shape 16"/>
          <p:cNvSpPr/>
          <p:nvPr/>
        </p:nvSpPr>
        <p:spPr>
          <a:xfrm>
            <a:off x="7552944" y="2212848"/>
            <a:ext cx="1874520" cy="1033272"/>
          </a:xfrm>
          <a:prstGeom prst="rect">
            <a:avLst/>
          </a:prstGeom>
          <a:solidFill>
            <a:srgbClr val="F8FAFC"/>
          </a:solidFill>
          <a:ln w="12700">
            <a:solidFill>
              <a:srgbClr val="D0D5DD"/>
            </a:solidFill>
            <a:prstDash val="solid"/>
          </a:ln>
        </p:spPr>
      </p:sp>
      <p:sp>
        <p:nvSpPr>
          <p:cNvPr id="19" name="Text 17"/>
          <p:cNvSpPr/>
          <p:nvPr/>
        </p:nvSpPr>
        <p:spPr>
          <a:xfrm>
            <a:off x="7644384" y="2331720"/>
            <a:ext cx="320040" cy="219456"/>
          </a:xfrm>
          <a:prstGeom prst="rect">
            <a:avLst/>
          </a:prstGeom>
          <a:noFill/>
          <a:ln/>
        </p:spPr>
        <p:txBody>
          <a:bodyPr wrap="square" lIns="381" tIns="381" rIns="381" bIns="381" rtlCol="0" anchor="t">
            <a:normAutofit/>
          </a:bodyPr>
          <a:lstStyle/>
          <a:p>
            <a:pPr algn="ctr" indent="0" marL="0">
              <a:buNone/>
            </a:pPr>
            <a:r>
              <a:rPr lang="en-US" sz="1500" b="1" dirty="0">
                <a:solidFill>
                  <a:srgbClr val="667085"/>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7964424" y="2423160"/>
            <a:ext cx="1234440" cy="402336"/>
          </a:xfrm>
          <a:prstGeom prst="rect">
            <a:avLst/>
          </a:prstGeom>
          <a:noFill/>
          <a:ln/>
        </p:spPr>
        <p:txBody>
          <a:bodyPr wrap="square" lIns="381" tIns="381" rIns="381" bIns="381" rtlCol="0" anchor="t">
            <a:normAutofit/>
          </a:bodyPr>
          <a:lstStyle/>
          <a:p>
            <a:pPr algn="ctr" indent="0" marL="0">
              <a:buNone/>
            </a:pPr>
            <a:r>
              <a:rPr lang="en-US" sz="1070" b="1" dirty="0">
                <a:solidFill>
                  <a:srgbClr val="101828"/>
                </a:solidFill>
                <a:latin typeface="Arial" pitchFamily="34" charset="0"/>
                <a:ea typeface="Arial" pitchFamily="34" charset="-122"/>
                <a:cs typeface="Arial" pitchFamily="34" charset="-120"/>
              </a:rPr>
              <a:t>Callback result/error</a:t>
            </a:r>
            <a:endParaRPr lang="en-US" sz="1070" dirty="0"/>
          </a:p>
        </p:txBody>
      </p:sp>
      <p:sp>
        <p:nvSpPr>
          <p:cNvPr id="21" name="Shape 19"/>
          <p:cNvSpPr/>
          <p:nvPr/>
        </p:nvSpPr>
        <p:spPr>
          <a:xfrm>
            <a:off x="9454896" y="2560320"/>
            <a:ext cx="320040" cy="219456"/>
          </a:xfrm>
          <a:prstGeom prst="rightArrow">
            <a:avLst/>
          </a:prstGeom>
          <a:solidFill>
            <a:srgbClr val="D0D5DD"/>
          </a:solidFill>
          <a:ln w="12700">
            <a:solidFill>
              <a:srgbClr val="D0D5DD"/>
            </a:solidFill>
            <a:prstDash val="solid"/>
          </a:ln>
        </p:spPr>
      </p:sp>
      <p:sp>
        <p:nvSpPr>
          <p:cNvPr id="22" name="Shape 20"/>
          <p:cNvSpPr/>
          <p:nvPr/>
        </p:nvSpPr>
        <p:spPr>
          <a:xfrm>
            <a:off x="9820656" y="2212848"/>
            <a:ext cx="1874520" cy="1033272"/>
          </a:xfrm>
          <a:prstGeom prst="rect">
            <a:avLst/>
          </a:prstGeom>
          <a:solidFill>
            <a:srgbClr val="FFF7ED"/>
          </a:solidFill>
          <a:ln w="12700">
            <a:solidFill>
              <a:srgbClr val="D0D5DD"/>
            </a:solidFill>
            <a:prstDash val="solid"/>
          </a:ln>
        </p:spPr>
      </p:sp>
      <p:sp>
        <p:nvSpPr>
          <p:cNvPr id="23" name="Text 21"/>
          <p:cNvSpPr/>
          <p:nvPr/>
        </p:nvSpPr>
        <p:spPr>
          <a:xfrm>
            <a:off x="9912096" y="2331720"/>
            <a:ext cx="320040" cy="219456"/>
          </a:xfrm>
          <a:prstGeom prst="rect">
            <a:avLst/>
          </a:prstGeom>
          <a:noFill/>
          <a:ln/>
        </p:spPr>
        <p:txBody>
          <a:bodyPr wrap="square" lIns="381" tIns="381" rIns="381" bIns="381" rtlCol="0" anchor="t">
            <a:normAutofit/>
          </a:bodyPr>
          <a:lstStyle/>
          <a:p>
            <a:pPr algn="ctr" indent="0" marL="0">
              <a:buNone/>
            </a:pPr>
            <a:r>
              <a:rPr lang="en-US" sz="1500" b="1" dirty="0">
                <a:solidFill>
                  <a:srgbClr val="667085"/>
                </a:solidFill>
                <a:latin typeface="Arial" pitchFamily="34" charset="0"/>
                <a:ea typeface="Arial" pitchFamily="34" charset="-122"/>
                <a:cs typeface="Arial" pitchFamily="34" charset="-120"/>
              </a:rPr>
              <a:t>5</a:t>
            </a:r>
            <a:endParaRPr lang="en-US" sz="1500" dirty="0"/>
          </a:p>
        </p:txBody>
      </p:sp>
      <p:sp>
        <p:nvSpPr>
          <p:cNvPr id="24" name="Text 22"/>
          <p:cNvSpPr/>
          <p:nvPr/>
        </p:nvSpPr>
        <p:spPr>
          <a:xfrm>
            <a:off x="10232136" y="2423160"/>
            <a:ext cx="1234440" cy="402336"/>
          </a:xfrm>
          <a:prstGeom prst="rect">
            <a:avLst/>
          </a:prstGeom>
          <a:noFill/>
          <a:ln/>
        </p:spPr>
        <p:txBody>
          <a:bodyPr wrap="square" lIns="381" tIns="381" rIns="381" bIns="381" rtlCol="0" anchor="t">
            <a:normAutofit/>
          </a:bodyPr>
          <a:lstStyle/>
          <a:p>
            <a:pPr algn="ctr" indent="0" marL="0">
              <a:buNone/>
            </a:pPr>
            <a:r>
              <a:rPr lang="en-US" sz="1070" b="1" dirty="0">
                <a:solidFill>
                  <a:srgbClr val="101828"/>
                </a:solidFill>
                <a:latin typeface="Arial" pitchFamily="34" charset="0"/>
                <a:ea typeface="Arial" pitchFamily="34" charset="-122"/>
                <a:cs typeface="Arial" pitchFamily="34" charset="-120"/>
              </a:rPr>
              <a:t>UI truy vết theo user</a:t>
            </a:r>
            <a:endParaRPr lang="en-US" sz="107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4005072"/>
          <a:ext cx="4892040" cy="1600200"/>
        </p:xfrm>
        <a:graphic>
          <a:graphicData uri="http://schemas.openxmlformats.org/drawingml/2006/table">
            <a:tbl>
              <a:tblPr/>
              <a:tblGrid>
                <a:gridCol w="1234440"/>
                <a:gridCol w="3657600"/>
              </a:tblGrid>
              <a:tr h="266700">
                <a:tc>
                  <a:txBody>
                    <a:bodyPr/>
                    <a:lstStyle/>
                    <a:p>
                      <a:pPr indent="0" marL="0">
                        <a:buNone/>
                      </a:pPr>
                      <a:r>
                        <a:rPr lang="en-US" sz="1080" dirty="0">
                          <a:solidFill>
                            <a:srgbClr val="101828"/>
                          </a:solidFill>
                          <a:latin typeface="Arial" pitchFamily="34" charset="0"/>
                          <a:ea typeface="Arial" pitchFamily="34" charset="-122"/>
                          <a:cs typeface="Arial" pitchFamily="34" charset="-120"/>
                        </a:rPr>
                        <a:t>Trường</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80" dirty="0">
                          <a:solidFill>
                            <a:srgbClr val="101828"/>
                          </a:solidFill>
                          <a:latin typeface="Arial" pitchFamily="34" charset="0"/>
                          <a:ea typeface="Arial" pitchFamily="34" charset="-122"/>
                          <a:cs typeface="Arial" pitchFamily="34" charset="-120"/>
                        </a:rPr>
                        <a:t>Ý nghĩa</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266700">
                <a:tc>
                  <a:txBody>
                    <a:bodyPr/>
                    <a:lstStyle/>
                    <a:p>
                      <a:pPr indent="0" marL="0">
                        <a:buNone/>
                      </a:pPr>
                      <a:r>
                        <a:rPr lang="en-US" sz="1080" dirty="0">
                          <a:solidFill>
                            <a:srgbClr val="101828"/>
                          </a:solidFill>
                          <a:latin typeface="Arial" pitchFamily="34" charset="0"/>
                          <a:ea typeface="Arial" pitchFamily="34" charset="-122"/>
                          <a:cs typeface="Arial" pitchFamily="34" charset="-120"/>
                        </a:rPr>
                        <a:t>workflow</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80" dirty="0">
                          <a:solidFill>
                            <a:srgbClr val="101828"/>
                          </a:solidFill>
                          <a:latin typeface="Arial" pitchFamily="34" charset="0"/>
                          <a:ea typeface="Arial" pitchFamily="34" charset="-122"/>
                          <a:cs typeface="Arial" pitchFamily="34" charset="-120"/>
                        </a:rPr>
                        <a:t>Tên workflow n8n</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266700">
                <a:tc>
                  <a:txBody>
                    <a:bodyPr/>
                    <a:lstStyle/>
                    <a:p>
                      <a:pPr indent="0" marL="0">
                        <a:buNone/>
                      </a:pPr>
                      <a:r>
                        <a:rPr lang="en-US" sz="1080" dirty="0">
                          <a:solidFill>
                            <a:srgbClr val="101828"/>
                          </a:solidFill>
                          <a:latin typeface="Arial" pitchFamily="34" charset="0"/>
                          <a:ea typeface="Arial" pitchFamily="34" charset="-122"/>
                          <a:cs typeface="Arial" pitchFamily="34" charset="-120"/>
                        </a:rPr>
                        <a:t>status</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80" dirty="0">
                          <a:solidFill>
                            <a:srgbClr val="101828"/>
                          </a:solidFill>
                          <a:latin typeface="Arial" pitchFamily="34" charset="0"/>
                          <a:ea typeface="Arial" pitchFamily="34" charset="-122"/>
                          <a:cs typeface="Arial" pitchFamily="34" charset="-120"/>
                        </a:rPr>
                        <a:t>pending/success/error</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266700">
                <a:tc>
                  <a:txBody>
                    <a:bodyPr/>
                    <a:lstStyle/>
                    <a:p>
                      <a:pPr indent="0" marL="0">
                        <a:buNone/>
                      </a:pPr>
                      <a:r>
                        <a:rPr lang="en-US" sz="1080" dirty="0">
                          <a:solidFill>
                            <a:srgbClr val="101828"/>
                          </a:solidFill>
                          <a:latin typeface="Arial" pitchFamily="34" charset="0"/>
                          <a:ea typeface="Arial" pitchFamily="34" charset="-122"/>
                          <a:cs typeface="Arial" pitchFamily="34" charset="-120"/>
                        </a:rPr>
                        <a:t>payload</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80" dirty="0">
                          <a:solidFill>
                            <a:srgbClr val="101828"/>
                          </a:solidFill>
                          <a:latin typeface="Arial" pitchFamily="34" charset="0"/>
                          <a:ea typeface="Arial" pitchFamily="34" charset="-122"/>
                          <a:cs typeface="Arial" pitchFamily="34" charset="-120"/>
                        </a:rPr>
                        <a:t>Dữ liệu đầu vào</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266700">
                <a:tc>
                  <a:txBody>
                    <a:bodyPr/>
                    <a:lstStyle/>
                    <a:p>
                      <a:pPr indent="0" marL="0">
                        <a:buNone/>
                      </a:pPr>
                      <a:r>
                        <a:rPr lang="en-US" sz="1080" dirty="0">
                          <a:solidFill>
                            <a:srgbClr val="101828"/>
                          </a:solidFill>
                          <a:latin typeface="Arial" pitchFamily="34" charset="0"/>
                          <a:ea typeface="Arial" pitchFamily="34" charset="-122"/>
                          <a:cs typeface="Arial" pitchFamily="34" charset="-120"/>
                        </a:rPr>
                        <a:t>result</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80" dirty="0">
                          <a:solidFill>
                            <a:srgbClr val="101828"/>
                          </a:solidFill>
                          <a:latin typeface="Arial" pitchFamily="34" charset="0"/>
                          <a:ea typeface="Arial" pitchFamily="34" charset="-122"/>
                          <a:cs typeface="Arial" pitchFamily="34" charset="-120"/>
                        </a:rPr>
                        <a:t>Kết quả callback</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266700">
                <a:tc>
                  <a:txBody>
                    <a:bodyPr/>
                    <a:lstStyle/>
                    <a:p>
                      <a:pPr indent="0" marL="0">
                        <a:buNone/>
                      </a:pPr>
                      <a:r>
                        <a:rPr lang="en-US" sz="1080" dirty="0">
                          <a:solidFill>
                            <a:srgbClr val="101828"/>
                          </a:solidFill>
                          <a:latin typeface="Arial" pitchFamily="34" charset="0"/>
                          <a:ea typeface="Arial" pitchFamily="34" charset="-122"/>
                          <a:cs typeface="Arial" pitchFamily="34" charset="-120"/>
                        </a:rPr>
                        <a:t>error</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80" dirty="0">
                          <a:solidFill>
                            <a:srgbClr val="101828"/>
                          </a:solidFill>
                          <a:latin typeface="Arial" pitchFamily="34" charset="0"/>
                          <a:ea typeface="Arial" pitchFamily="34" charset="-122"/>
                          <a:cs typeface="Arial" pitchFamily="34" charset="-120"/>
                        </a:rPr>
                        <a:t>Thông tin lỗi</a:t>
                      </a:r>
                      <a:endParaRPr lang="en-US" sz="108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26" name="Shape 23"/>
          <p:cNvSpPr/>
          <p:nvPr/>
        </p:nvSpPr>
        <p:spPr>
          <a:xfrm>
            <a:off x="6126480" y="4005072"/>
            <a:ext cx="5138928" cy="1600200"/>
          </a:xfrm>
          <a:prstGeom prst="rect">
            <a:avLst/>
          </a:prstGeom>
          <a:solidFill>
            <a:srgbClr val="FEF3F2"/>
          </a:solidFill>
          <a:ln w="12700">
            <a:solidFill>
              <a:srgbClr val="B42318"/>
            </a:solidFill>
            <a:prstDash val="solid"/>
          </a:ln>
        </p:spPr>
      </p:sp>
      <p:sp>
        <p:nvSpPr>
          <p:cNvPr id="27" name="Text 24"/>
          <p:cNvSpPr/>
          <p:nvPr/>
        </p:nvSpPr>
        <p:spPr>
          <a:xfrm>
            <a:off x="6272784" y="4123944"/>
            <a:ext cx="4846320" cy="219456"/>
          </a:xfrm>
          <a:prstGeom prst="rect">
            <a:avLst/>
          </a:prstGeom>
          <a:noFill/>
          <a:ln/>
        </p:spPr>
        <p:txBody>
          <a:bodyPr wrap="square" lIns="381" tIns="381" rIns="381" bIns="381" rtlCol="0" anchor="t">
            <a:normAutofit/>
          </a:bodyPr>
          <a:lstStyle/>
          <a:p>
            <a:pPr indent="0" marL="0">
              <a:buNone/>
            </a:pPr>
            <a:r>
              <a:rPr lang="en-US" sz="1320" b="1" dirty="0">
                <a:solidFill>
                  <a:srgbClr val="B42318"/>
                </a:solidFill>
                <a:latin typeface="Arial" pitchFamily="34" charset="0"/>
                <a:ea typeface="Arial" pitchFamily="34" charset="-122"/>
                <a:cs typeface="Arial" pitchFamily="34" charset="-120"/>
              </a:rPr>
              <a:t>Bảo mật workflow</a:t>
            </a:r>
            <a:endParaRPr lang="en-US" sz="1320" dirty="0"/>
          </a:p>
        </p:txBody>
      </p:sp>
      <p:sp>
        <p:nvSpPr>
          <p:cNvPr id="28" name="Text 25"/>
          <p:cNvSpPr/>
          <p:nvPr/>
        </p:nvSpPr>
        <p:spPr>
          <a:xfrm>
            <a:off x="6272784" y="4434840"/>
            <a:ext cx="4846320" cy="10789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Bảng n8n_runs bật RLS theo user_id. Migration sau đó DROP khỏi supabase_realtime để tránh lộ dữ liệu workflow giữa người dùng.</a:t>
            </a:r>
            <a:endParaRPr lang="en-US" sz="1180" dirty="0"/>
          </a:p>
        </p:txBody>
      </p:sp>
      <p:sp>
        <p:nvSpPr>
          <p:cNvPr id="29" name="Text 26"/>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supabase/migrations/20260514233440_*.sql; 20260602014623_*.sql; src/integrations/supabase/types.ts</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ẢNH BẰNG CHỨNG TRONG REPOSITORY</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Kiến trúc hệ thống</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src\assets\dashboard-architecture.jpg">    </p:cNvPr>
          <p:cNvPicPr>
            <a:picLocks noChangeAspect="1"/>
          </p:cNvPicPr>
          <p:nvPr/>
        </p:nvPicPr>
        <p:blipFill>
          <a:blip r:embed="rId1"/>
          <a:srcRect l="0" r="0" t="0" b="0"/>
          <a:stretch/>
        </p:blipFill>
        <p:spPr>
          <a:xfrm>
            <a:off x="576072" y="1307592"/>
            <a:ext cx="11018520" cy="4956048"/>
          </a:xfrm>
          <a:prstGeom prst="rect">
            <a:avLst/>
          </a:prstGeom>
        </p:spPr>
      </p:pic>
      <p:sp>
        <p:nvSpPr>
          <p:cNvPr id="6" name="Text 3"/>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Ảnh gốc: src/assets/dashboard-architecture.jpg</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ẢNH BẰNG CHỨNG TRONG REPOSITORY</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Data pipeline của nền tảng</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src\assets\dashboard-dataflow.jpg">    </p:cNvPr>
          <p:cNvPicPr>
            <a:picLocks noChangeAspect="1"/>
          </p:cNvPicPr>
          <p:nvPr/>
        </p:nvPicPr>
        <p:blipFill>
          <a:blip r:embed="rId1"/>
          <a:srcRect l="0" r="0" t="0" b="0"/>
          <a:stretch/>
        </p:blipFill>
        <p:spPr>
          <a:xfrm>
            <a:off x="576072" y="1307592"/>
            <a:ext cx="11018520" cy="4956048"/>
          </a:xfrm>
          <a:prstGeom prst="rect">
            <a:avLst/>
          </a:prstGeom>
        </p:spPr>
      </p:pic>
      <p:sp>
        <p:nvSpPr>
          <p:cNvPr id="6" name="Text 3"/>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Ảnh gốc: src/assets/dashboard-dataflow.jpg</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ẢNH GIAO DIỆN TRONG REPOSITORY</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Giao diện dashboard phân tích</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src\assets\dashboard-preview.jpg">    </p:cNvPr>
          <p:cNvPicPr>
            <a:picLocks noChangeAspect="1"/>
          </p:cNvPicPr>
          <p:nvPr/>
        </p:nvPicPr>
        <p:blipFill>
          <a:blip r:embed="rId1"/>
          <a:srcRect l="0" r="0" t="0" b="0"/>
          <a:stretch/>
        </p:blipFill>
        <p:spPr>
          <a:xfrm>
            <a:off x="576072" y="1307592"/>
            <a:ext cx="11018520" cy="4956048"/>
          </a:xfrm>
          <a:prstGeom prst="rect">
            <a:avLst/>
          </a:prstGeom>
        </p:spPr>
      </p:pic>
      <p:sp>
        <p:nvSpPr>
          <p:cNvPr id="6" name="Text 3"/>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Ảnh gốc: src/assets/dashboard-preview.jpg</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DELIVERABLES</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Output đầu ra của dự án</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58368" y="1353312"/>
          <a:ext cx="10881360" cy="4526280"/>
        </p:xfrm>
        <a:graphic>
          <a:graphicData uri="http://schemas.openxmlformats.org/drawingml/2006/table">
            <a:tbl>
              <a:tblPr/>
              <a:tblGrid>
                <a:gridCol w="1828800"/>
                <a:gridCol w="3749040"/>
                <a:gridCol w="5303520"/>
              </a:tblGrid>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Nhóm output</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File / giao diện</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Ý nghĩa</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Web app</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React/Vite platform</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Dashboard, stock, crypto, risk, AI Insights</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Research CSV</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metrics_summary.csv</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So sánh toàn bộ mô hình/chiến lược</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Ablation CSV</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ablation_table.csv</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Kết quả A/A+B/A+B+C</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Metadata</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run_meta.json</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Số mẫu train/valid/test và rebalances</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Figures</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equity_curves, sharpe, frontier, ablation</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Hình minh họa kết quả thực nghiệm</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Models</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checkpoints/*.pt</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Trọng số mô hình đã huấn luyện</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Reports</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BAO_CAO_HOAN_CHINH.docx/.md</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Báo cáo học thuật hoàn chỉnh</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02920">
                <a:tc>
                  <a:txBody>
                    <a:bodyPr/>
                    <a:lstStyle/>
                    <a:p>
                      <a:pPr indent="0" marL="0">
                        <a:buNone/>
                      </a:pPr>
                      <a:r>
                        <a:rPr lang="en-US" sz="1090" dirty="0">
                          <a:solidFill>
                            <a:srgbClr val="101828"/>
                          </a:solidFill>
                          <a:latin typeface="Arial" pitchFamily="34" charset="0"/>
                          <a:ea typeface="Arial" pitchFamily="34" charset="-122"/>
                          <a:cs typeface="Arial" pitchFamily="34" charset="-120"/>
                        </a:rPr>
                        <a:t>Demo</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app_streamlit.py</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090" dirty="0">
                          <a:solidFill>
                            <a:srgbClr val="101828"/>
                          </a:solidFill>
                          <a:latin typeface="Arial" pitchFamily="34" charset="0"/>
                          <a:ea typeface="Arial" pitchFamily="34" charset="-122"/>
                          <a:cs typeface="Arial" pitchFamily="34" charset="-120"/>
                        </a:rPr>
                        <a:t>Trình diễn trực tiếp pipeline research</a:t>
                      </a:r>
                      <a:endParaRPr lang="en-US" sz="109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PROPOSED MODEL EVALUATION</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Kết quả ablation study</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ai-portfolio-research\report\figures\ablation_bar.png">    </p:cNvPr>
          <p:cNvPicPr>
            <a:picLocks noChangeAspect="1"/>
          </p:cNvPicPr>
          <p:nvPr/>
        </p:nvPicPr>
        <p:blipFill>
          <a:blip r:embed="rId1"/>
          <a:srcRect l="0" r="0" t="0" b="0"/>
          <a:stretch/>
        </p:blipFill>
        <p:spPr>
          <a:xfrm>
            <a:off x="658368" y="1353312"/>
            <a:ext cx="5257800" cy="4069080"/>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63640" y="1417320"/>
          <a:ext cx="5074920" cy="2359152"/>
        </p:xfrm>
        <a:graphic>
          <a:graphicData uri="http://schemas.openxmlformats.org/drawingml/2006/table">
            <a:tbl>
              <a:tblPr/>
              <a:tblGrid>
                <a:gridCol w="914400"/>
                <a:gridCol w="914400"/>
                <a:gridCol w="3246120"/>
              </a:tblGrid>
              <a:tr h="589788">
                <a:tc>
                  <a:txBody>
                    <a:bodyPr/>
                    <a:lstStyle/>
                    <a:p>
                      <a:pPr indent="0" marL="0">
                        <a:buNone/>
                      </a:pPr>
                      <a:r>
                        <a:rPr lang="en-US" sz="1240" dirty="0">
                          <a:solidFill>
                            <a:srgbClr val="101828"/>
                          </a:solidFill>
                          <a:latin typeface="Arial" pitchFamily="34" charset="0"/>
                          <a:ea typeface="Arial" pitchFamily="34" charset="-122"/>
                          <a:cs typeface="Arial" pitchFamily="34" charset="-120"/>
                        </a:rPr>
                        <a:t>Stage</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Sharpe</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Diễn giải</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89788">
                <a:tc>
                  <a:txBody>
                    <a:bodyPr/>
                    <a:lstStyle/>
                    <a:p>
                      <a:pPr indent="0" marL="0">
                        <a:buNone/>
                      </a:pPr>
                      <a:r>
                        <a:rPr lang="en-US" sz="1240" dirty="0">
                          <a:solidFill>
                            <a:srgbClr val="101828"/>
                          </a:solidFill>
                          <a:latin typeface="Arial" pitchFamily="34" charset="0"/>
                          <a:ea typeface="Arial" pitchFamily="34" charset="-122"/>
                          <a:cs typeface="Arial" pitchFamily="34" charset="-120"/>
                        </a:rPr>
                        <a:t>A</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0.663</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Temporal attention hiệu quả nhất trong nhóm proposed</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89788">
                <a:tc>
                  <a:txBody>
                    <a:bodyPr/>
                    <a:lstStyle/>
                    <a:p>
                      <a:pPr indent="0" marL="0">
                        <a:buNone/>
                      </a:pPr>
                      <a:r>
                        <a:rPr lang="en-US" sz="1240" dirty="0">
                          <a:solidFill>
                            <a:srgbClr val="101828"/>
                          </a:solidFill>
                          <a:latin typeface="Arial" pitchFamily="34" charset="0"/>
                          <a:ea typeface="Arial" pitchFamily="34" charset="-122"/>
                          <a:cs typeface="Arial" pitchFamily="34" charset="-120"/>
                        </a:rPr>
                        <a:t>A+B</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0.557</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Cross-asset attention có dấu hiệu overfit</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589788">
                <a:tc>
                  <a:txBody>
                    <a:bodyPr/>
                    <a:lstStyle/>
                    <a:p>
                      <a:pPr indent="0" marL="0">
                        <a:buNone/>
                      </a:pPr>
                      <a:r>
                        <a:rPr lang="en-US" sz="1240" dirty="0">
                          <a:solidFill>
                            <a:srgbClr val="101828"/>
                          </a:solidFill>
                          <a:latin typeface="Arial" pitchFamily="34" charset="0"/>
                          <a:ea typeface="Arial" pitchFamily="34" charset="-122"/>
                          <a:cs typeface="Arial" pitchFamily="34" charset="-120"/>
                        </a:rPr>
                        <a:t>A+B+C</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0.657</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240" dirty="0">
                          <a:solidFill>
                            <a:srgbClr val="101828"/>
                          </a:solidFill>
                          <a:latin typeface="Arial" pitchFamily="34" charset="0"/>
                          <a:ea typeface="Arial" pitchFamily="34" charset="-122"/>
                          <a:cs typeface="Arial" pitchFamily="34" charset="-120"/>
                        </a:rPr>
                        <a:t>Sharpe-aware loss phục hồi hiệu suất</a:t>
                      </a:r>
                      <a:endParaRPr lang="en-US" sz="124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7" name="Shape 3"/>
          <p:cNvSpPr/>
          <p:nvPr/>
        </p:nvSpPr>
        <p:spPr>
          <a:xfrm>
            <a:off x="6263640" y="4224528"/>
            <a:ext cx="5074920" cy="960120"/>
          </a:xfrm>
          <a:prstGeom prst="rect">
            <a:avLst/>
          </a:prstGeom>
          <a:solidFill>
            <a:srgbClr val="F0FDF4"/>
          </a:solidFill>
          <a:ln w="12700">
            <a:solidFill>
              <a:srgbClr val="157347"/>
            </a:solidFill>
            <a:prstDash val="solid"/>
          </a:ln>
        </p:spPr>
      </p:sp>
      <p:sp>
        <p:nvSpPr>
          <p:cNvPr id="8" name="Text 4"/>
          <p:cNvSpPr/>
          <p:nvPr/>
        </p:nvSpPr>
        <p:spPr>
          <a:xfrm>
            <a:off x="6409944" y="4343400"/>
            <a:ext cx="478231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Kết luận</a:t>
            </a:r>
            <a:endParaRPr lang="en-US" sz="1320" dirty="0"/>
          </a:p>
        </p:txBody>
      </p:sp>
      <p:sp>
        <p:nvSpPr>
          <p:cNvPr id="9" name="Text 5"/>
          <p:cNvSpPr/>
          <p:nvPr/>
        </p:nvSpPr>
        <p:spPr>
          <a:xfrm>
            <a:off x="6409944" y="4654296"/>
            <a:ext cx="4782312" cy="43891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Ablation giúp giải thích mô hình: thành phần phức tạp hơn không luôn tốt hơn nếu universe dữ liệu còn nhỏ.</a:t>
            </a:r>
            <a:endParaRPr lang="en-US" sz="1180" dirty="0"/>
          </a:p>
        </p:txBody>
      </p:sp>
      <p:sp>
        <p:nvSpPr>
          <p:cNvPr id="10" name="Text 6"/>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ai-portfolio-research/results/ablation_table.csv; report/figures/ablation_bar.png</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WALK-FORWARD EVALUATION</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Backtest ngoài mẫu</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ai-portfolio-research\report\figures\equity_curves.png">    </p:cNvPr>
          <p:cNvPicPr>
            <a:picLocks noChangeAspect="1"/>
          </p:cNvPicPr>
          <p:nvPr/>
        </p:nvPicPr>
        <p:blipFill>
          <a:blip r:embed="rId1"/>
          <a:srcRect l="0" r="0" t="0" b="0"/>
          <a:stretch/>
        </p:blipFill>
        <p:spPr>
          <a:xfrm>
            <a:off x="658368" y="1353312"/>
            <a:ext cx="5806440" cy="4251960"/>
          </a:xfrm>
          <a:prstGeom prst="rect">
            <a:avLst/>
          </a:prstGeom>
        </p:spPr>
      </p:pic>
      <p:sp>
        <p:nvSpPr>
          <p:cNvPr id="6" name="Shape 3"/>
          <p:cNvSpPr/>
          <p:nvPr/>
        </p:nvSpPr>
        <p:spPr>
          <a:xfrm>
            <a:off x="6812280" y="1554480"/>
            <a:ext cx="1920240" cy="932688"/>
          </a:xfrm>
          <a:prstGeom prst="rect">
            <a:avLst/>
          </a:prstGeom>
          <a:solidFill>
            <a:srgbClr val="F8FAFC"/>
          </a:solidFill>
          <a:ln w="10160">
            <a:solidFill>
              <a:srgbClr val="D0D5DD"/>
            </a:solidFill>
            <a:prstDash val="solid"/>
          </a:ln>
        </p:spPr>
      </p:sp>
      <p:sp>
        <p:nvSpPr>
          <p:cNvPr id="7" name="Text 4"/>
          <p:cNvSpPr/>
          <p:nvPr/>
        </p:nvSpPr>
        <p:spPr>
          <a:xfrm>
            <a:off x="6931152" y="1673352"/>
            <a:ext cx="1682496" cy="310896"/>
          </a:xfrm>
          <a:prstGeom prst="rect">
            <a:avLst/>
          </a:prstGeom>
          <a:noFill/>
          <a:ln/>
        </p:spPr>
        <p:txBody>
          <a:bodyPr wrap="square" lIns="381" tIns="381" rIns="381" bIns="381" rtlCol="0" anchor="t">
            <a:normAutofit/>
          </a:bodyPr>
          <a:lstStyle/>
          <a:p>
            <a:pPr algn="ctr" indent="0" marL="0">
              <a:buNone/>
            </a:pPr>
            <a:r>
              <a:rPr lang="en-US" sz="2200" b="1" dirty="0">
                <a:solidFill>
                  <a:srgbClr val="6941C6"/>
                </a:solidFill>
                <a:latin typeface="Arial" pitchFamily="34" charset="0"/>
                <a:ea typeface="Arial" pitchFamily="34" charset="-122"/>
                <a:cs typeface="Arial" pitchFamily="34" charset="-120"/>
              </a:rPr>
              <a:t>50</a:t>
            </a:r>
            <a:endParaRPr lang="en-US" sz="2200" dirty="0"/>
          </a:p>
        </p:txBody>
      </p:sp>
      <p:sp>
        <p:nvSpPr>
          <p:cNvPr id="8" name="Text 5"/>
          <p:cNvSpPr/>
          <p:nvPr/>
        </p:nvSpPr>
        <p:spPr>
          <a:xfrm>
            <a:off x="6931152" y="2066544"/>
            <a:ext cx="168249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Rebalance</a:t>
            </a:r>
            <a:endParaRPr lang="en-US" sz="980" dirty="0"/>
          </a:p>
        </p:txBody>
      </p:sp>
      <p:sp>
        <p:nvSpPr>
          <p:cNvPr id="9" name="Text 6"/>
          <p:cNvSpPr/>
          <p:nvPr/>
        </p:nvSpPr>
        <p:spPr>
          <a:xfrm>
            <a:off x="6931152" y="2258568"/>
            <a:ext cx="168249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test</a:t>
            </a:r>
            <a:endParaRPr lang="en-US" sz="760" dirty="0"/>
          </a:p>
        </p:txBody>
      </p:sp>
      <p:sp>
        <p:nvSpPr>
          <p:cNvPr id="10" name="Shape 7"/>
          <p:cNvSpPr/>
          <p:nvPr/>
        </p:nvSpPr>
        <p:spPr>
          <a:xfrm>
            <a:off x="9006840" y="1554480"/>
            <a:ext cx="1920240" cy="932688"/>
          </a:xfrm>
          <a:prstGeom prst="rect">
            <a:avLst/>
          </a:prstGeom>
          <a:solidFill>
            <a:srgbClr val="F8FAFC"/>
          </a:solidFill>
          <a:ln w="10160">
            <a:solidFill>
              <a:srgbClr val="D0D5DD"/>
            </a:solidFill>
            <a:prstDash val="solid"/>
          </a:ln>
        </p:spPr>
      </p:sp>
      <p:sp>
        <p:nvSpPr>
          <p:cNvPr id="11" name="Text 8"/>
          <p:cNvSpPr/>
          <p:nvPr/>
        </p:nvSpPr>
        <p:spPr>
          <a:xfrm>
            <a:off x="9125712" y="1673352"/>
            <a:ext cx="1682496" cy="310896"/>
          </a:xfrm>
          <a:prstGeom prst="rect">
            <a:avLst/>
          </a:prstGeom>
          <a:noFill/>
          <a:ln/>
        </p:spPr>
        <p:txBody>
          <a:bodyPr wrap="square" lIns="381" tIns="381" rIns="381" bIns="381" rtlCol="0" anchor="t">
            <a:normAutofit/>
          </a:bodyPr>
          <a:lstStyle/>
          <a:p>
            <a:pPr algn="ctr" indent="0" marL="0">
              <a:buNone/>
            </a:pPr>
            <a:r>
              <a:rPr lang="en-US" sz="2200" b="1" dirty="0">
                <a:solidFill>
                  <a:srgbClr val="E46A11"/>
                </a:solidFill>
                <a:latin typeface="Arial" pitchFamily="34" charset="0"/>
                <a:ea typeface="Arial" pitchFamily="34" charset="-122"/>
                <a:cs typeface="Arial" pitchFamily="34" charset="-120"/>
              </a:rPr>
              <a:t>10 bps</a:t>
            </a:r>
            <a:endParaRPr lang="en-US" sz="2200" dirty="0"/>
          </a:p>
        </p:txBody>
      </p:sp>
      <p:sp>
        <p:nvSpPr>
          <p:cNvPr id="12" name="Text 9"/>
          <p:cNvSpPr/>
          <p:nvPr/>
        </p:nvSpPr>
        <p:spPr>
          <a:xfrm>
            <a:off x="9125712" y="2066544"/>
            <a:ext cx="168249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Cost</a:t>
            </a:r>
            <a:endParaRPr lang="en-US" sz="980" dirty="0"/>
          </a:p>
        </p:txBody>
      </p:sp>
      <p:sp>
        <p:nvSpPr>
          <p:cNvPr id="13" name="Shape 10"/>
          <p:cNvSpPr/>
          <p:nvPr/>
        </p:nvSpPr>
        <p:spPr>
          <a:xfrm>
            <a:off x="6812280" y="2880360"/>
            <a:ext cx="4114800" cy="914400"/>
          </a:xfrm>
          <a:prstGeom prst="rect">
            <a:avLst/>
          </a:prstGeom>
          <a:solidFill>
            <a:srgbClr val="EEF6FF"/>
          </a:solidFill>
          <a:ln w="12700">
            <a:solidFill>
              <a:srgbClr val="175CD3"/>
            </a:solidFill>
            <a:prstDash val="solid"/>
          </a:ln>
        </p:spPr>
      </p:sp>
      <p:sp>
        <p:nvSpPr>
          <p:cNvPr id="14" name="Text 11"/>
          <p:cNvSpPr/>
          <p:nvPr/>
        </p:nvSpPr>
        <p:spPr>
          <a:xfrm>
            <a:off x="6958584" y="2999232"/>
            <a:ext cx="382219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Protocol</a:t>
            </a:r>
            <a:endParaRPr lang="en-US" sz="1320" dirty="0"/>
          </a:p>
        </p:txBody>
      </p:sp>
      <p:sp>
        <p:nvSpPr>
          <p:cNvPr id="15" name="Text 12"/>
          <p:cNvSpPr/>
          <p:nvPr/>
        </p:nvSpPr>
        <p:spPr>
          <a:xfrm>
            <a:off x="6958584" y="3310128"/>
            <a:ext cx="3822192" cy="3931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Walk-forward trên tập test; mỗi lần chỉ dùng dữ liệu đến thời điểm quyết định.</a:t>
            </a:r>
            <a:endParaRPr lang="en-US" sz="1180" dirty="0"/>
          </a:p>
        </p:txBody>
      </p:sp>
      <p:sp>
        <p:nvSpPr>
          <p:cNvPr id="16" name="Shape 13"/>
          <p:cNvSpPr/>
          <p:nvPr/>
        </p:nvSpPr>
        <p:spPr>
          <a:xfrm>
            <a:off x="6812280" y="4069080"/>
            <a:ext cx="4114800" cy="914400"/>
          </a:xfrm>
          <a:prstGeom prst="rect">
            <a:avLst/>
          </a:prstGeom>
          <a:solidFill>
            <a:srgbClr val="F0FDF4"/>
          </a:solidFill>
          <a:ln w="12700">
            <a:solidFill>
              <a:srgbClr val="157347"/>
            </a:solidFill>
            <a:prstDash val="solid"/>
          </a:ln>
        </p:spPr>
      </p:sp>
      <p:sp>
        <p:nvSpPr>
          <p:cNvPr id="17" name="Text 14"/>
          <p:cNvSpPr/>
          <p:nvPr/>
        </p:nvSpPr>
        <p:spPr>
          <a:xfrm>
            <a:off x="6958584" y="4187952"/>
            <a:ext cx="382219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Portfolio constraints</a:t>
            </a:r>
            <a:endParaRPr lang="en-US" sz="1320" dirty="0"/>
          </a:p>
        </p:txBody>
      </p:sp>
      <p:sp>
        <p:nvSpPr>
          <p:cNvPr id="18" name="Text 15"/>
          <p:cNvSpPr/>
          <p:nvPr/>
        </p:nvSpPr>
        <p:spPr>
          <a:xfrm>
            <a:off x="6958584" y="4498848"/>
            <a:ext cx="3822192" cy="3931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Long-only, tổng trọng số = 1, mỗi tài sản tối đa 25%, covariance Ledoit-Wolf.</a:t>
            </a:r>
            <a:endParaRPr lang="en-US" sz="1180" dirty="0"/>
          </a:p>
        </p:txBody>
      </p:sp>
      <p:sp>
        <p:nvSpPr>
          <p:cNvPr id="19" name="Text 16"/>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ai-portfolio-research/src/backtest.py; src/optimizer.py; report/figures/equity_curves.png</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SHARPE, MDD, CALMAR</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Kết quả định lượng chính</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ai-portfolio-research\report\figures\sharpe_comparison.png">    </p:cNvPr>
          <p:cNvPicPr>
            <a:picLocks noChangeAspect="1"/>
          </p:cNvPicPr>
          <p:nvPr/>
        </p:nvPicPr>
        <p:blipFill>
          <a:blip r:embed="rId1"/>
          <a:srcRect l="0" r="0" t="0" b="0"/>
          <a:stretch/>
        </p:blipFill>
        <p:spPr>
          <a:xfrm>
            <a:off x="658368" y="1353312"/>
            <a:ext cx="5349240" cy="4251960"/>
          </a:xfrm>
          <a:prstGeom prst="rect">
            <a:avLst/>
          </a:prstGeom>
        </p:spPr>
      </p:pic>
      <p:sp>
        <p:nvSpPr>
          <p:cNvPr id="6" name="Shape 3"/>
          <p:cNvSpPr/>
          <p:nvPr/>
        </p:nvSpPr>
        <p:spPr>
          <a:xfrm>
            <a:off x="6446520" y="1481328"/>
            <a:ext cx="2057400" cy="932688"/>
          </a:xfrm>
          <a:prstGeom prst="rect">
            <a:avLst/>
          </a:prstGeom>
          <a:solidFill>
            <a:srgbClr val="F8FAFC"/>
          </a:solidFill>
          <a:ln w="10160">
            <a:solidFill>
              <a:srgbClr val="D0D5DD"/>
            </a:solidFill>
            <a:prstDash val="solid"/>
          </a:ln>
        </p:spPr>
      </p:sp>
      <p:sp>
        <p:nvSpPr>
          <p:cNvPr id="7" name="Text 4"/>
          <p:cNvSpPr/>
          <p:nvPr/>
        </p:nvSpPr>
        <p:spPr>
          <a:xfrm>
            <a:off x="6565392" y="1600200"/>
            <a:ext cx="1819656" cy="310896"/>
          </a:xfrm>
          <a:prstGeom prst="rect">
            <a:avLst/>
          </a:prstGeom>
          <a:noFill/>
          <a:ln/>
        </p:spPr>
        <p:txBody>
          <a:bodyPr wrap="square" lIns="381" tIns="381" rIns="381" bIns="381" rtlCol="0" anchor="t">
            <a:normAutofit/>
          </a:bodyPr>
          <a:lstStyle/>
          <a:p>
            <a:pPr algn="ctr" indent="0" marL="0">
              <a:buNone/>
            </a:pPr>
            <a:r>
              <a:rPr lang="en-US" sz="2200" b="1" dirty="0">
                <a:solidFill>
                  <a:srgbClr val="157347"/>
                </a:solidFill>
                <a:latin typeface="Arial" pitchFamily="34" charset="0"/>
                <a:ea typeface="Arial" pitchFamily="34" charset="-122"/>
                <a:cs typeface="Arial" pitchFamily="34" charset="-120"/>
              </a:rPr>
              <a:t>APT</a:t>
            </a:r>
            <a:endParaRPr lang="en-US" sz="2200" dirty="0"/>
          </a:p>
        </p:txBody>
      </p:sp>
      <p:sp>
        <p:nvSpPr>
          <p:cNvPr id="8" name="Text 5"/>
          <p:cNvSpPr/>
          <p:nvPr/>
        </p:nvSpPr>
        <p:spPr>
          <a:xfrm>
            <a:off x="6565392" y="1993392"/>
            <a:ext cx="18196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Best strategy</a:t>
            </a:r>
            <a:endParaRPr lang="en-US" sz="980" dirty="0"/>
          </a:p>
        </p:txBody>
      </p:sp>
      <p:sp>
        <p:nvSpPr>
          <p:cNvPr id="9" name="Text 6"/>
          <p:cNvSpPr/>
          <p:nvPr/>
        </p:nvSpPr>
        <p:spPr>
          <a:xfrm>
            <a:off x="6565392" y="2185416"/>
            <a:ext cx="18196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APT_3Factor</a:t>
            </a:r>
            <a:endParaRPr lang="en-US" sz="760" dirty="0"/>
          </a:p>
        </p:txBody>
      </p:sp>
      <p:sp>
        <p:nvSpPr>
          <p:cNvPr id="10" name="Shape 7"/>
          <p:cNvSpPr/>
          <p:nvPr/>
        </p:nvSpPr>
        <p:spPr>
          <a:xfrm>
            <a:off x="8823960" y="1481328"/>
            <a:ext cx="2057400" cy="932688"/>
          </a:xfrm>
          <a:prstGeom prst="rect">
            <a:avLst/>
          </a:prstGeom>
          <a:solidFill>
            <a:srgbClr val="F8FAFC"/>
          </a:solidFill>
          <a:ln w="10160">
            <a:solidFill>
              <a:srgbClr val="D0D5DD"/>
            </a:solidFill>
            <a:prstDash val="solid"/>
          </a:ln>
        </p:spPr>
      </p:sp>
      <p:sp>
        <p:nvSpPr>
          <p:cNvPr id="11" name="Text 8"/>
          <p:cNvSpPr/>
          <p:nvPr/>
        </p:nvSpPr>
        <p:spPr>
          <a:xfrm>
            <a:off x="8942832" y="1600200"/>
            <a:ext cx="1819656" cy="310896"/>
          </a:xfrm>
          <a:prstGeom prst="rect">
            <a:avLst/>
          </a:prstGeom>
          <a:noFill/>
          <a:ln/>
        </p:spPr>
        <p:txBody>
          <a:bodyPr wrap="square" lIns="381" tIns="381" rIns="381" bIns="381" rtlCol="0" anchor="t">
            <a:normAutofit/>
          </a:bodyPr>
          <a:lstStyle/>
          <a:p>
            <a:pPr algn="ctr" indent="0" marL="0">
              <a:buNone/>
            </a:pPr>
            <a:r>
              <a:rPr lang="en-US" sz="2200" b="1" dirty="0">
                <a:solidFill>
                  <a:srgbClr val="6941C6"/>
                </a:solidFill>
                <a:latin typeface="Arial" pitchFamily="34" charset="0"/>
                <a:ea typeface="Arial" pitchFamily="34" charset="-122"/>
                <a:cs typeface="Arial" pitchFamily="34" charset="-120"/>
              </a:rPr>
              <a:t>1.626</a:t>
            </a:r>
            <a:endParaRPr lang="en-US" sz="2200" dirty="0"/>
          </a:p>
        </p:txBody>
      </p:sp>
      <p:sp>
        <p:nvSpPr>
          <p:cNvPr id="12" name="Text 9"/>
          <p:cNvSpPr/>
          <p:nvPr/>
        </p:nvSpPr>
        <p:spPr>
          <a:xfrm>
            <a:off x="8942832" y="1993392"/>
            <a:ext cx="18196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Sharpe</a:t>
            </a:r>
            <a:endParaRPr lang="en-US" sz="980" dirty="0"/>
          </a:p>
        </p:txBody>
      </p:sp>
      <p:sp>
        <p:nvSpPr>
          <p:cNvPr id="13" name="Text 10"/>
          <p:cNvSpPr/>
          <p:nvPr/>
        </p:nvSpPr>
        <p:spPr>
          <a:xfrm>
            <a:off x="8942832" y="2185416"/>
            <a:ext cx="18196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cao nhất</a:t>
            </a:r>
            <a:endParaRPr lang="en-US" sz="760" dirty="0"/>
          </a:p>
        </p:txBody>
      </p:sp>
      <p:sp>
        <p:nvSpPr>
          <p:cNvPr id="14" name="Shape 11"/>
          <p:cNvSpPr/>
          <p:nvPr/>
        </p:nvSpPr>
        <p:spPr>
          <a:xfrm>
            <a:off x="6446520" y="2761488"/>
            <a:ext cx="2057400" cy="932688"/>
          </a:xfrm>
          <a:prstGeom prst="rect">
            <a:avLst/>
          </a:prstGeom>
          <a:solidFill>
            <a:srgbClr val="F8FAFC"/>
          </a:solidFill>
          <a:ln w="10160">
            <a:solidFill>
              <a:srgbClr val="D0D5DD"/>
            </a:solidFill>
            <a:prstDash val="solid"/>
          </a:ln>
        </p:spPr>
      </p:sp>
      <p:sp>
        <p:nvSpPr>
          <p:cNvPr id="15" name="Text 12"/>
          <p:cNvSpPr/>
          <p:nvPr/>
        </p:nvSpPr>
        <p:spPr>
          <a:xfrm>
            <a:off x="6565392" y="2880360"/>
            <a:ext cx="1819656" cy="310896"/>
          </a:xfrm>
          <a:prstGeom prst="rect">
            <a:avLst/>
          </a:prstGeom>
          <a:noFill/>
          <a:ln/>
        </p:spPr>
        <p:txBody>
          <a:bodyPr wrap="square" lIns="381" tIns="381" rIns="381" bIns="381" rtlCol="0" anchor="t">
            <a:normAutofit/>
          </a:bodyPr>
          <a:lstStyle/>
          <a:p>
            <a:pPr algn="ctr" indent="0" marL="0">
              <a:buNone/>
            </a:pPr>
            <a:r>
              <a:rPr lang="en-US" sz="2200" b="1" dirty="0">
                <a:solidFill>
                  <a:srgbClr val="157347"/>
                </a:solidFill>
                <a:latin typeface="Arial" pitchFamily="34" charset="0"/>
                <a:ea typeface="Arial" pitchFamily="34" charset="-122"/>
                <a:cs typeface="Arial" pitchFamily="34" charset="-120"/>
              </a:rPr>
              <a:t>26.10%</a:t>
            </a:r>
            <a:endParaRPr lang="en-US" sz="2200" dirty="0"/>
          </a:p>
        </p:txBody>
      </p:sp>
      <p:sp>
        <p:nvSpPr>
          <p:cNvPr id="16" name="Text 13"/>
          <p:cNvSpPr/>
          <p:nvPr/>
        </p:nvSpPr>
        <p:spPr>
          <a:xfrm>
            <a:off x="6565392" y="3273552"/>
            <a:ext cx="18196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Annual Return</a:t>
            </a:r>
            <a:endParaRPr lang="en-US" sz="980" dirty="0"/>
          </a:p>
        </p:txBody>
      </p:sp>
      <p:sp>
        <p:nvSpPr>
          <p:cNvPr id="17" name="Shape 14"/>
          <p:cNvSpPr/>
          <p:nvPr/>
        </p:nvSpPr>
        <p:spPr>
          <a:xfrm>
            <a:off x="8823960" y="2761488"/>
            <a:ext cx="2057400" cy="932688"/>
          </a:xfrm>
          <a:prstGeom prst="rect">
            <a:avLst/>
          </a:prstGeom>
          <a:solidFill>
            <a:srgbClr val="F8FAFC"/>
          </a:solidFill>
          <a:ln w="10160">
            <a:solidFill>
              <a:srgbClr val="D0D5DD"/>
            </a:solidFill>
            <a:prstDash val="solid"/>
          </a:ln>
        </p:spPr>
      </p:sp>
      <p:sp>
        <p:nvSpPr>
          <p:cNvPr id="18" name="Text 15"/>
          <p:cNvSpPr/>
          <p:nvPr/>
        </p:nvSpPr>
        <p:spPr>
          <a:xfrm>
            <a:off x="8942832" y="2880360"/>
            <a:ext cx="1819656" cy="310896"/>
          </a:xfrm>
          <a:prstGeom prst="rect">
            <a:avLst/>
          </a:prstGeom>
          <a:noFill/>
          <a:ln/>
        </p:spPr>
        <p:txBody>
          <a:bodyPr wrap="square" lIns="381" tIns="381" rIns="381" bIns="381" rtlCol="0" anchor="t">
            <a:normAutofit/>
          </a:bodyPr>
          <a:lstStyle/>
          <a:p>
            <a:pPr algn="ctr" indent="0" marL="0">
              <a:buNone/>
            </a:pPr>
            <a:r>
              <a:rPr lang="en-US" sz="2200" b="1" dirty="0">
                <a:solidFill>
                  <a:srgbClr val="E46A11"/>
                </a:solidFill>
                <a:latin typeface="Arial" pitchFamily="34" charset="0"/>
                <a:ea typeface="Arial" pitchFamily="34" charset="-122"/>
                <a:cs typeface="Arial" pitchFamily="34" charset="-120"/>
              </a:rPr>
              <a:t>-13.67%</a:t>
            </a:r>
            <a:endParaRPr lang="en-US" sz="2200" dirty="0"/>
          </a:p>
        </p:txBody>
      </p:sp>
      <p:sp>
        <p:nvSpPr>
          <p:cNvPr id="19" name="Text 16"/>
          <p:cNvSpPr/>
          <p:nvPr/>
        </p:nvSpPr>
        <p:spPr>
          <a:xfrm>
            <a:off x="8942832" y="3273552"/>
            <a:ext cx="18196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MDD</a:t>
            </a:r>
            <a:endParaRPr lang="en-US" sz="980" dirty="0"/>
          </a:p>
        </p:txBody>
      </p:sp>
      <p:sp>
        <p:nvSpPr>
          <p:cNvPr id="20" name="Shape 17"/>
          <p:cNvSpPr/>
          <p:nvPr/>
        </p:nvSpPr>
        <p:spPr>
          <a:xfrm>
            <a:off x="6446520" y="4041648"/>
            <a:ext cx="2057400" cy="932688"/>
          </a:xfrm>
          <a:prstGeom prst="rect">
            <a:avLst/>
          </a:prstGeom>
          <a:solidFill>
            <a:srgbClr val="F8FAFC"/>
          </a:solidFill>
          <a:ln w="10160">
            <a:solidFill>
              <a:srgbClr val="D0D5DD"/>
            </a:solidFill>
            <a:prstDash val="solid"/>
          </a:ln>
        </p:spPr>
      </p:sp>
      <p:sp>
        <p:nvSpPr>
          <p:cNvPr id="21" name="Text 18"/>
          <p:cNvSpPr/>
          <p:nvPr/>
        </p:nvSpPr>
        <p:spPr>
          <a:xfrm>
            <a:off x="6565392" y="4160520"/>
            <a:ext cx="1819656" cy="310896"/>
          </a:xfrm>
          <a:prstGeom prst="rect">
            <a:avLst/>
          </a:prstGeom>
          <a:noFill/>
          <a:ln/>
        </p:spPr>
        <p:txBody>
          <a:bodyPr wrap="square" lIns="381" tIns="381" rIns="381" bIns="381" rtlCol="0" anchor="t">
            <a:normAutofit/>
          </a:bodyPr>
          <a:lstStyle/>
          <a:p>
            <a:pPr algn="ctr" indent="0" marL="0">
              <a:buNone/>
            </a:pPr>
            <a:r>
              <a:rPr lang="en-US" sz="2200" b="1" dirty="0">
                <a:solidFill>
                  <a:srgbClr val="175CD3"/>
                </a:solidFill>
                <a:latin typeface="Arial" pitchFamily="34" charset="0"/>
                <a:ea typeface="Arial" pitchFamily="34" charset="-122"/>
                <a:cs typeface="Arial" pitchFamily="34" charset="-120"/>
              </a:rPr>
              <a:t>1.171</a:t>
            </a:r>
            <a:endParaRPr lang="en-US" sz="2200" dirty="0"/>
          </a:p>
        </p:txBody>
      </p:sp>
      <p:sp>
        <p:nvSpPr>
          <p:cNvPr id="22" name="Text 19"/>
          <p:cNvSpPr/>
          <p:nvPr/>
        </p:nvSpPr>
        <p:spPr>
          <a:xfrm>
            <a:off x="6565392" y="4553712"/>
            <a:ext cx="18196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EqualWeight</a:t>
            </a:r>
            <a:endParaRPr lang="en-US" sz="980" dirty="0"/>
          </a:p>
        </p:txBody>
      </p:sp>
      <p:sp>
        <p:nvSpPr>
          <p:cNvPr id="23" name="Text 20"/>
          <p:cNvSpPr/>
          <p:nvPr/>
        </p:nvSpPr>
        <p:spPr>
          <a:xfrm>
            <a:off x="6565392" y="4745736"/>
            <a:ext cx="18196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Sharpe</a:t>
            </a:r>
            <a:endParaRPr lang="en-US" sz="760" dirty="0"/>
          </a:p>
        </p:txBody>
      </p:sp>
      <p:sp>
        <p:nvSpPr>
          <p:cNvPr id="24" name="Shape 21"/>
          <p:cNvSpPr/>
          <p:nvPr/>
        </p:nvSpPr>
        <p:spPr>
          <a:xfrm>
            <a:off x="8823960" y="4041648"/>
            <a:ext cx="2057400" cy="932688"/>
          </a:xfrm>
          <a:prstGeom prst="rect">
            <a:avLst/>
          </a:prstGeom>
          <a:solidFill>
            <a:srgbClr val="F8FAFC"/>
          </a:solidFill>
          <a:ln w="10160">
            <a:solidFill>
              <a:srgbClr val="D0D5DD"/>
            </a:solidFill>
            <a:prstDash val="solid"/>
          </a:ln>
        </p:spPr>
      </p:sp>
      <p:sp>
        <p:nvSpPr>
          <p:cNvPr id="25" name="Text 22"/>
          <p:cNvSpPr/>
          <p:nvPr/>
        </p:nvSpPr>
        <p:spPr>
          <a:xfrm>
            <a:off x="8942832" y="4160520"/>
            <a:ext cx="1819656" cy="310896"/>
          </a:xfrm>
          <a:prstGeom prst="rect">
            <a:avLst/>
          </a:prstGeom>
          <a:noFill/>
          <a:ln/>
        </p:spPr>
        <p:txBody>
          <a:bodyPr wrap="square" lIns="381" tIns="381" rIns="381" bIns="381" rtlCol="0" anchor="t">
            <a:normAutofit/>
          </a:bodyPr>
          <a:lstStyle/>
          <a:p>
            <a:pPr algn="ctr" indent="0" marL="0">
              <a:buNone/>
            </a:pPr>
            <a:r>
              <a:rPr lang="en-US" sz="2200" b="1" dirty="0">
                <a:solidFill>
                  <a:srgbClr val="0E9384"/>
                </a:solidFill>
                <a:latin typeface="Arial" pitchFamily="34" charset="0"/>
                <a:ea typeface="Arial" pitchFamily="34" charset="-122"/>
                <a:cs typeface="Arial" pitchFamily="34" charset="-120"/>
              </a:rPr>
              <a:t>0.663</a:t>
            </a:r>
            <a:endParaRPr lang="en-US" sz="2200" dirty="0"/>
          </a:p>
        </p:txBody>
      </p:sp>
      <p:sp>
        <p:nvSpPr>
          <p:cNvPr id="26" name="Text 23"/>
          <p:cNvSpPr/>
          <p:nvPr/>
        </p:nvSpPr>
        <p:spPr>
          <a:xfrm>
            <a:off x="8942832" y="4553712"/>
            <a:ext cx="18196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Proposed A</a:t>
            </a:r>
            <a:endParaRPr lang="en-US" sz="980" dirty="0"/>
          </a:p>
        </p:txBody>
      </p:sp>
      <p:sp>
        <p:nvSpPr>
          <p:cNvPr id="27" name="Text 24"/>
          <p:cNvSpPr/>
          <p:nvPr/>
        </p:nvSpPr>
        <p:spPr>
          <a:xfrm>
            <a:off x="8942832" y="4745736"/>
            <a:ext cx="18196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Sharpe</a:t>
            </a:r>
            <a:endParaRPr lang="en-US" sz="760" dirty="0"/>
          </a:p>
        </p:txBody>
      </p:sp>
      <p:sp>
        <p:nvSpPr>
          <p:cNvPr id="28" name="Text 25"/>
          <p:cNvSpPr/>
          <p:nvPr/>
        </p:nvSpPr>
        <p:spPr>
          <a:xfrm>
            <a:off x="6446520" y="5321808"/>
            <a:ext cx="4434840" cy="329184"/>
          </a:xfrm>
          <a:prstGeom prst="rect">
            <a:avLst/>
          </a:prstGeom>
          <a:noFill/>
          <a:ln/>
        </p:spPr>
        <p:txBody>
          <a:bodyPr wrap="square" lIns="381" tIns="381" rIns="381" bIns="381" rtlCol="0" anchor="t">
            <a:normAutofit/>
          </a:bodyPr>
          <a:lstStyle/>
          <a:p>
            <a:pPr algn="ctr" indent="0" marL="0">
              <a:buNone/>
            </a:pPr>
            <a:r>
              <a:rPr lang="en-US" sz="1350" b="1" dirty="0">
                <a:solidFill>
                  <a:srgbClr val="157347"/>
                </a:solidFill>
                <a:latin typeface="Arial" pitchFamily="34" charset="0"/>
                <a:ea typeface="Arial" pitchFamily="34" charset="-122"/>
                <a:cs typeface="Arial" pitchFamily="34" charset="-120"/>
              </a:rPr>
              <a:t>Kết luận: APT_3Factor dẫn đầu; PA-Transformer có giá trị qua thiết kế và ablation study.</a:t>
            </a:r>
            <a:endParaRPr lang="en-US" sz="1350" dirty="0"/>
          </a:p>
        </p:txBody>
      </p:sp>
      <p:sp>
        <p:nvSpPr>
          <p:cNvPr id="29" name="Text 26"/>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ai-portfolio-research/results/metrics_summary.csv; report/figures/sharpe_comparison.png</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PORTFOLIO OPTIMIZATION OUTPUT</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Efficient Frontier</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ai-portfolio-research\report\figures\efficient_frontier.png">    </p:cNvPr>
          <p:cNvPicPr>
            <a:picLocks noChangeAspect="1"/>
          </p:cNvPicPr>
          <p:nvPr/>
        </p:nvPicPr>
        <p:blipFill>
          <a:blip r:embed="rId1"/>
          <a:srcRect l="0" r="0" t="0" b="0"/>
          <a:stretch/>
        </p:blipFill>
        <p:spPr>
          <a:xfrm>
            <a:off x="658368" y="1353312"/>
            <a:ext cx="5806440" cy="4251960"/>
          </a:xfrm>
          <a:prstGeom prst="rect">
            <a:avLst/>
          </a:prstGeom>
        </p:spPr>
      </p:pic>
      <p:sp>
        <p:nvSpPr>
          <p:cNvPr id="6" name="Text 3"/>
          <p:cNvSpPr/>
          <p:nvPr/>
        </p:nvSpPr>
        <p:spPr>
          <a:xfrm>
            <a:off x="6812280" y="1554480"/>
            <a:ext cx="4389120" cy="3108960"/>
          </a:xfrm>
          <a:prstGeom prst="rect">
            <a:avLst/>
          </a:prstGeom>
          <a:noFill/>
          <a:ln/>
        </p:spPr>
        <p:txBody>
          <a:bodyPr wrap="square" lIns="635" tIns="635" rIns="635" bIns="635" rtlCol="0" anchor="t">
            <a:normAutofit/>
          </a:bodyPr>
          <a:lstStyle/>
          <a:p>
            <a:r>
              <a:rPr lang="en-US" sz="1520" dirty="0">
                <a:solidFill>
                  <a:srgbClr val="101828"/>
                </a:solidFill>
                <a:latin typeface="Arial" pitchFamily="34" charset="0"/>
                <a:ea typeface="Arial" pitchFamily="34" charset="-122"/>
                <a:cs typeface="Arial" pitchFamily="34" charset="-120"/>
              </a:rPr>
              <a:t>Mỗi điểm là một danh mục ngẫu nhiên trong không gian rủi ro-lợi suất.</a:t>
            </a:r>
            <a:endParaRPr lang="en-US" sz="1520" dirty="0"/>
          </a:p>
          <a:p>
            <a:r>
              <a:rPr lang="en-US" sz="1520" dirty="0">
                <a:solidFill>
                  <a:srgbClr val="101828"/>
                </a:solidFill>
                <a:latin typeface="Arial" pitchFamily="34" charset="0"/>
                <a:ea typeface="Arial" pitchFamily="34" charset="-122"/>
                <a:cs typeface="Arial" pitchFamily="34" charset="-120"/>
              </a:rPr>
              <a:t>Ngôi sao đỏ thể hiện danh mục Max-Sharpe theo ước lượng hiện tại.</a:t>
            </a:r>
            <a:endParaRPr lang="en-US" sz="1520" dirty="0"/>
          </a:p>
          <a:p>
            <a:r>
              <a:rPr lang="en-US" sz="1520" dirty="0">
                <a:solidFill>
                  <a:srgbClr val="101828"/>
                </a:solidFill>
                <a:latin typeface="Arial" pitchFamily="34" charset="0"/>
                <a:ea typeface="Arial" pitchFamily="34" charset="-122"/>
                <a:cs typeface="Arial" pitchFamily="34" charset="-120"/>
              </a:rPr>
              <a:t>Covariance dùng Ledoit-Wolf shrinkage để giảm nhiễu.</a:t>
            </a:r>
            <a:endParaRPr lang="en-US" sz="1520" dirty="0"/>
          </a:p>
          <a:p>
            <a:r>
              <a:rPr lang="en-US" sz="1520" dirty="0">
                <a:solidFill>
                  <a:srgbClr val="101828"/>
                </a:solidFill>
                <a:latin typeface="Arial" pitchFamily="34" charset="0"/>
                <a:ea typeface="Arial" pitchFamily="34" charset="-122"/>
                <a:cs typeface="Arial" pitchFamily="34" charset="-120"/>
              </a:rPr>
              <a:t>Kết nối trực tiếp giữa dự báo AI và quyết định phân bổ vốn.</a:t>
            </a:r>
            <a:endParaRPr lang="en-US" sz="1520" dirty="0"/>
          </a:p>
        </p:txBody>
      </p:sp>
      <p:sp>
        <p:nvSpPr>
          <p:cNvPr id="7" name="Shape 4"/>
          <p:cNvSpPr/>
          <p:nvPr/>
        </p:nvSpPr>
        <p:spPr>
          <a:xfrm>
            <a:off x="6812280" y="4892040"/>
            <a:ext cx="4297680" cy="713232"/>
          </a:xfrm>
          <a:prstGeom prst="rect">
            <a:avLst/>
          </a:prstGeom>
          <a:solidFill>
            <a:srgbClr val="F0FDF4"/>
          </a:solidFill>
          <a:ln w="12700">
            <a:solidFill>
              <a:srgbClr val="157347"/>
            </a:solidFill>
            <a:prstDash val="solid"/>
          </a:ln>
        </p:spPr>
      </p:sp>
      <p:sp>
        <p:nvSpPr>
          <p:cNvPr id="8" name="Text 5"/>
          <p:cNvSpPr/>
          <p:nvPr/>
        </p:nvSpPr>
        <p:spPr>
          <a:xfrm>
            <a:off x="6958584" y="5010912"/>
            <a:ext cx="400507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Ý nghĩa</a:t>
            </a:r>
            <a:endParaRPr lang="en-US" sz="1320" dirty="0"/>
          </a:p>
        </p:txBody>
      </p:sp>
      <p:sp>
        <p:nvSpPr>
          <p:cNvPr id="9" name="Text 6"/>
          <p:cNvSpPr/>
          <p:nvPr/>
        </p:nvSpPr>
        <p:spPr>
          <a:xfrm>
            <a:off x="6958584" y="5321808"/>
            <a:ext cx="4005072" cy="192024"/>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Dự án có tối ưu danh mục thực sự, không chỉ mô hình dự báo.</a:t>
            </a:r>
            <a:endParaRPr lang="en-US" sz="1180" dirty="0"/>
          </a:p>
        </p:txBody>
      </p:sp>
      <p:sp>
        <p:nvSpPr>
          <p:cNvPr id="10" name="Text 7"/>
          <p:cNvSpPr/>
          <p:nvPr/>
        </p:nvSpPr>
        <p:spPr>
          <a:xfrm>
            <a:off x="502920" y="6236208"/>
            <a:ext cx="10881360" cy="146304"/>
          </a:xfrm>
          <a:prstGeom prst="rect">
            <a:avLst/>
          </a:prstGeom>
          <a:noFill/>
          <a:ln/>
        </p:spPr>
        <p:txBody>
          <a:bodyPr wrap="square" lIns="381" tIns="381" rIns="381" bIns="381" rtlCol="0" anchor="t">
            <a:normAutofit/>
          </a:bodyPr>
          <a:lstStyle/>
          <a:p>
            <a:pPr indent="0" marL="0">
              <a:buNone/>
            </a:pPr>
            <a:r>
              <a:rPr lang="en-US" sz="730" dirty="0">
                <a:solidFill>
                  <a:srgbClr val="667085"/>
                </a:solidFill>
                <a:latin typeface="Arial" pitchFamily="34" charset="0"/>
                <a:ea typeface="Arial" pitchFamily="34" charset="-122"/>
                <a:cs typeface="Arial" pitchFamily="34" charset="-120"/>
              </a:rPr>
              <a:t>Nguồn: ai-portfolio-research/report/figures/efficient_frontier.png</a:t>
            </a:r>
            <a:endParaRPr lang="en-US" sz="73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REPRODUCIBILITY</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Demo Streamlit và khả năng tái lập</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713232" y="1417320"/>
            <a:ext cx="5120640" cy="914400"/>
          </a:xfrm>
          <a:prstGeom prst="rect">
            <a:avLst/>
          </a:prstGeom>
          <a:solidFill>
            <a:srgbClr val="EEF6FF"/>
          </a:solidFill>
          <a:ln w="12700">
            <a:solidFill>
              <a:srgbClr val="175CD3"/>
            </a:solidFill>
            <a:prstDash val="solid"/>
          </a:ln>
        </p:spPr>
      </p:sp>
      <p:sp>
        <p:nvSpPr>
          <p:cNvPr id="6" name="Text 4"/>
          <p:cNvSpPr/>
          <p:nvPr/>
        </p:nvSpPr>
        <p:spPr>
          <a:xfrm>
            <a:off x="859536" y="1536192"/>
            <a:ext cx="482803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Streamlit demo</a:t>
            </a:r>
            <a:endParaRPr lang="en-US" sz="1320" dirty="0"/>
          </a:p>
        </p:txBody>
      </p:sp>
      <p:sp>
        <p:nvSpPr>
          <p:cNvPr id="7" name="Text 5"/>
          <p:cNvSpPr/>
          <p:nvPr/>
        </p:nvSpPr>
        <p:spPr>
          <a:xfrm>
            <a:off x="859536" y="1847088"/>
            <a:ext cx="4828032" cy="39319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File: ai-portfolio-research/app_streamlit.py</a:t>
            </a:r>
            <a:endParaRPr lang="en-US" sz="1180" dirty="0"/>
          </a:p>
          <a:p>
            <a:pPr indent="0" marL="0">
              <a:buNone/>
            </a:pPr>
            <a:r>
              <a:rPr lang="en-US" sz="1180" dirty="0">
                <a:solidFill>
                  <a:srgbClr val="101828"/>
                </a:solidFill>
                <a:latin typeface="Arial" pitchFamily="34" charset="0"/>
                <a:ea typeface="Arial" pitchFamily="34" charset="-122"/>
                <a:cs typeface="Arial" pitchFamily="34" charset="-120"/>
              </a:rPr>
              <a:t>URL local: http://localhost:8501</a:t>
            </a:r>
            <a:endParaRPr lang="en-US" sz="1180" dirty="0"/>
          </a:p>
        </p:txBody>
      </p:sp>
      <p:sp>
        <p:nvSpPr>
          <p:cNvPr id="8" name="Shape 6"/>
          <p:cNvSpPr/>
          <p:nvPr/>
        </p:nvSpPr>
        <p:spPr>
          <a:xfrm>
            <a:off x="6492240" y="1417320"/>
            <a:ext cx="4800600" cy="1078992"/>
          </a:xfrm>
          <a:prstGeom prst="rect">
            <a:avLst/>
          </a:prstGeom>
          <a:solidFill>
            <a:srgbClr val="111827"/>
          </a:solidFill>
          <a:ln w="12700">
            <a:solidFill>
              <a:srgbClr val="111827"/>
            </a:solidFill>
            <a:prstDash val="solid"/>
          </a:ln>
        </p:spPr>
      </p:sp>
      <p:sp>
        <p:nvSpPr>
          <p:cNvPr id="9" name="Text 7"/>
          <p:cNvSpPr/>
          <p:nvPr/>
        </p:nvSpPr>
        <p:spPr>
          <a:xfrm>
            <a:off x="6693408" y="1600200"/>
            <a:ext cx="4389120" cy="640080"/>
          </a:xfrm>
          <a:prstGeom prst="rect">
            <a:avLst/>
          </a:prstGeom>
          <a:noFill/>
          <a:ln/>
        </p:spPr>
        <p:txBody>
          <a:bodyPr wrap="square" lIns="381" tIns="381" rIns="381" bIns="381" rtlCol="0" anchor="t">
            <a:normAutofit/>
          </a:bodyPr>
          <a:lstStyle/>
          <a:p>
            <a:pPr indent="0" marL="0">
              <a:buNone/>
            </a:pPr>
            <a:r>
              <a:rPr lang="en-US" sz="1330" dirty="0">
                <a:solidFill>
                  <a:srgbClr val="FFFFFF"/>
                </a:solidFill>
                <a:latin typeface="Consolas" pitchFamily="34" charset="0"/>
                <a:ea typeface="Consolas" pitchFamily="34" charset="-122"/>
                <a:cs typeface="Consolas" pitchFamily="34" charset="-120"/>
              </a:rPr>
              <a:t>cd ai-portfolio-research</a:t>
            </a:r>
            <a:endParaRPr lang="en-US" sz="1330" dirty="0"/>
          </a:p>
          <a:p>
            <a:pPr indent="0" marL="0">
              <a:buNone/>
            </a:pPr>
            <a:r>
              <a:rPr lang="en-US" sz="1330" dirty="0">
                <a:solidFill>
                  <a:srgbClr val="FFFFFF"/>
                </a:solidFill>
                <a:latin typeface="Consolas" pitchFamily="34" charset="0"/>
                <a:ea typeface="Consolas" pitchFamily="34" charset="-122"/>
                <a:cs typeface="Consolas" pitchFamily="34" charset="-120"/>
              </a:rPr>
              <a:t>python -m src.evaluate</a:t>
            </a:r>
            <a:endParaRPr lang="en-US" sz="1330" dirty="0"/>
          </a:p>
          <a:p>
            <a:pPr indent="0" marL="0">
              <a:buNone/>
            </a:pPr>
            <a:r>
              <a:rPr lang="en-US" sz="1330" dirty="0">
                <a:solidFill>
                  <a:srgbClr val="FFFFFF"/>
                </a:solidFill>
                <a:latin typeface="Consolas" pitchFamily="34" charset="0"/>
                <a:ea typeface="Consolas" pitchFamily="34" charset="-122"/>
                <a:cs typeface="Consolas" pitchFamily="34" charset="-120"/>
              </a:rPr>
              <a:t>streamlit run app_streamlit.py</a:t>
            </a:r>
            <a:endParaRPr lang="en-US" sz="1330" dirty="0"/>
          </a:p>
        </p:txBody>
      </p:sp>
      <p:sp>
        <p:nvSpPr>
          <p:cNvPr id="10" name="Shape 8"/>
          <p:cNvSpPr/>
          <p:nvPr/>
        </p:nvSpPr>
        <p:spPr>
          <a:xfrm>
            <a:off x="713232" y="2834640"/>
            <a:ext cx="3154680" cy="713232"/>
          </a:xfrm>
          <a:prstGeom prst="rect">
            <a:avLst/>
          </a:prstGeom>
          <a:solidFill>
            <a:srgbClr val="F8FAFC"/>
          </a:solidFill>
          <a:ln w="12700">
            <a:solidFill>
              <a:srgbClr val="175CD3"/>
            </a:solidFill>
            <a:prstDash val="solid"/>
          </a:ln>
        </p:spPr>
      </p:sp>
      <p:sp>
        <p:nvSpPr>
          <p:cNvPr id="11" name="Text 9"/>
          <p:cNvSpPr/>
          <p:nvPr/>
        </p:nvSpPr>
        <p:spPr>
          <a:xfrm>
            <a:off x="859536" y="2953512"/>
            <a:ext cx="286207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Danh mục đề xuất</a:t>
            </a:r>
            <a:endParaRPr lang="en-US" sz="1320" dirty="0"/>
          </a:p>
        </p:txBody>
      </p:sp>
      <p:sp>
        <p:nvSpPr>
          <p:cNvPr id="12" name="Text 10"/>
          <p:cNvSpPr/>
          <p:nvPr/>
        </p:nvSpPr>
        <p:spPr>
          <a:xfrm>
            <a:off x="859536" y="3264408"/>
            <a:ext cx="2862072" cy="192024"/>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Trọng số portfolio + CSV</a:t>
            </a:r>
            <a:endParaRPr lang="en-US" sz="1180" dirty="0"/>
          </a:p>
        </p:txBody>
      </p:sp>
      <p:sp>
        <p:nvSpPr>
          <p:cNvPr id="13" name="Shape 11"/>
          <p:cNvSpPr/>
          <p:nvPr/>
        </p:nvSpPr>
        <p:spPr>
          <a:xfrm>
            <a:off x="4416552" y="2834640"/>
            <a:ext cx="3154680" cy="713232"/>
          </a:xfrm>
          <a:prstGeom prst="rect">
            <a:avLst/>
          </a:prstGeom>
          <a:solidFill>
            <a:srgbClr val="F0FDF4"/>
          </a:solidFill>
          <a:ln w="12700">
            <a:solidFill>
              <a:srgbClr val="157347"/>
            </a:solidFill>
            <a:prstDash val="solid"/>
          </a:ln>
        </p:spPr>
      </p:sp>
      <p:sp>
        <p:nvSpPr>
          <p:cNvPr id="14" name="Text 12"/>
          <p:cNvSpPr/>
          <p:nvPr/>
        </p:nvSpPr>
        <p:spPr>
          <a:xfrm>
            <a:off x="4562856" y="2953512"/>
            <a:ext cx="286207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Efficient Frontier</a:t>
            </a:r>
            <a:endParaRPr lang="en-US" sz="1320" dirty="0"/>
          </a:p>
        </p:txBody>
      </p:sp>
      <p:sp>
        <p:nvSpPr>
          <p:cNvPr id="15" name="Text 13"/>
          <p:cNvSpPr/>
          <p:nvPr/>
        </p:nvSpPr>
        <p:spPr>
          <a:xfrm>
            <a:off x="4562856" y="3264408"/>
            <a:ext cx="2862072" cy="192024"/>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Max-Sharpe visualization</a:t>
            </a:r>
            <a:endParaRPr lang="en-US" sz="1180" dirty="0"/>
          </a:p>
        </p:txBody>
      </p:sp>
      <p:sp>
        <p:nvSpPr>
          <p:cNvPr id="16" name="Shape 14"/>
          <p:cNvSpPr/>
          <p:nvPr/>
        </p:nvSpPr>
        <p:spPr>
          <a:xfrm>
            <a:off x="8119872" y="2834640"/>
            <a:ext cx="3154680" cy="713232"/>
          </a:xfrm>
          <a:prstGeom prst="rect">
            <a:avLst/>
          </a:prstGeom>
          <a:solidFill>
            <a:srgbClr val="F8FAFC"/>
          </a:solidFill>
          <a:ln w="12700">
            <a:solidFill>
              <a:srgbClr val="175CD3"/>
            </a:solidFill>
            <a:prstDash val="solid"/>
          </a:ln>
        </p:spPr>
      </p:sp>
      <p:sp>
        <p:nvSpPr>
          <p:cNvPr id="17" name="Text 15"/>
          <p:cNvSpPr/>
          <p:nvPr/>
        </p:nvSpPr>
        <p:spPr>
          <a:xfrm>
            <a:off x="8266176" y="2953512"/>
            <a:ext cx="286207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Backtest</a:t>
            </a:r>
            <a:endParaRPr lang="en-US" sz="1320" dirty="0"/>
          </a:p>
        </p:txBody>
      </p:sp>
      <p:sp>
        <p:nvSpPr>
          <p:cNvPr id="18" name="Text 16"/>
          <p:cNvSpPr/>
          <p:nvPr/>
        </p:nvSpPr>
        <p:spPr>
          <a:xfrm>
            <a:off x="8266176" y="3264408"/>
            <a:ext cx="2862072" cy="192024"/>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Equity curve + metrics</a:t>
            </a:r>
            <a:endParaRPr lang="en-US" sz="1180" dirty="0"/>
          </a:p>
        </p:txBody>
      </p:sp>
      <p:sp>
        <p:nvSpPr>
          <p:cNvPr id="19" name="Shape 17"/>
          <p:cNvSpPr/>
          <p:nvPr/>
        </p:nvSpPr>
        <p:spPr>
          <a:xfrm>
            <a:off x="713232" y="3867912"/>
            <a:ext cx="3154680" cy="713232"/>
          </a:xfrm>
          <a:prstGeom prst="rect">
            <a:avLst/>
          </a:prstGeom>
          <a:solidFill>
            <a:srgbClr val="F0FDF4"/>
          </a:solidFill>
          <a:ln w="12700">
            <a:solidFill>
              <a:srgbClr val="157347"/>
            </a:solidFill>
            <a:prstDash val="solid"/>
          </a:ln>
        </p:spPr>
      </p:sp>
      <p:sp>
        <p:nvSpPr>
          <p:cNvPr id="20" name="Text 18"/>
          <p:cNvSpPr/>
          <p:nvPr/>
        </p:nvSpPr>
        <p:spPr>
          <a:xfrm>
            <a:off x="859536" y="3986784"/>
            <a:ext cx="286207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Ablation Studies</a:t>
            </a:r>
            <a:endParaRPr lang="en-US" sz="1320" dirty="0"/>
          </a:p>
        </p:txBody>
      </p:sp>
      <p:sp>
        <p:nvSpPr>
          <p:cNvPr id="21" name="Text 19"/>
          <p:cNvSpPr/>
          <p:nvPr/>
        </p:nvSpPr>
        <p:spPr>
          <a:xfrm>
            <a:off x="859536" y="4297680"/>
            <a:ext cx="2862072" cy="192024"/>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A/A+B/A+B+C</a:t>
            </a:r>
            <a:endParaRPr lang="en-US" sz="1180" dirty="0"/>
          </a:p>
        </p:txBody>
      </p:sp>
      <p:sp>
        <p:nvSpPr>
          <p:cNvPr id="22" name="Shape 20"/>
          <p:cNvSpPr/>
          <p:nvPr/>
        </p:nvSpPr>
        <p:spPr>
          <a:xfrm>
            <a:off x="4416552" y="3867912"/>
            <a:ext cx="3154680" cy="713232"/>
          </a:xfrm>
          <a:prstGeom prst="rect">
            <a:avLst/>
          </a:prstGeom>
          <a:solidFill>
            <a:srgbClr val="F8FAFC"/>
          </a:solidFill>
          <a:ln w="12700">
            <a:solidFill>
              <a:srgbClr val="175CD3"/>
            </a:solidFill>
            <a:prstDash val="solid"/>
          </a:ln>
        </p:spPr>
      </p:sp>
      <p:sp>
        <p:nvSpPr>
          <p:cNvPr id="23" name="Text 21"/>
          <p:cNvSpPr/>
          <p:nvPr/>
        </p:nvSpPr>
        <p:spPr>
          <a:xfrm>
            <a:off x="4562856" y="3986784"/>
            <a:ext cx="286207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Phương pháp</a:t>
            </a:r>
            <a:endParaRPr lang="en-US" sz="1320" dirty="0"/>
          </a:p>
        </p:txBody>
      </p:sp>
      <p:sp>
        <p:nvSpPr>
          <p:cNvPr id="24" name="Text 22"/>
          <p:cNvSpPr/>
          <p:nvPr/>
        </p:nvSpPr>
        <p:spPr>
          <a:xfrm>
            <a:off x="4562856" y="4297680"/>
            <a:ext cx="2862072" cy="192024"/>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Tóm tắt pipeline nghiên cứu</a:t>
            </a:r>
            <a:endParaRPr lang="en-US" sz="1180" dirty="0"/>
          </a:p>
        </p:txBody>
      </p:sp>
      <p:sp>
        <p:nvSpPr>
          <p:cNvPr id="25" name="Shape 23"/>
          <p:cNvSpPr/>
          <p:nvPr/>
        </p:nvSpPr>
        <p:spPr>
          <a:xfrm>
            <a:off x="6492240" y="4800600"/>
            <a:ext cx="4800600" cy="777240"/>
          </a:xfrm>
          <a:prstGeom prst="rect">
            <a:avLst/>
          </a:prstGeom>
          <a:solidFill>
            <a:srgbClr val="F0FDF4"/>
          </a:solidFill>
          <a:ln w="12700">
            <a:solidFill>
              <a:srgbClr val="157347"/>
            </a:solidFill>
            <a:prstDash val="solid"/>
          </a:ln>
        </p:spPr>
      </p:sp>
      <p:sp>
        <p:nvSpPr>
          <p:cNvPr id="26" name="Text 24"/>
          <p:cNvSpPr/>
          <p:nvPr/>
        </p:nvSpPr>
        <p:spPr>
          <a:xfrm>
            <a:off x="6638544" y="4919472"/>
            <a:ext cx="4507992" cy="219456"/>
          </a:xfrm>
          <a:prstGeom prst="rect">
            <a:avLst/>
          </a:prstGeom>
          <a:noFill/>
          <a:ln/>
        </p:spPr>
        <p:txBody>
          <a:bodyPr wrap="square" lIns="381" tIns="381" rIns="381" bIns="381" rtlCol="0" anchor="t">
            <a:normAutofit/>
          </a:bodyPr>
          <a:lstStyle/>
          <a:p>
            <a:pPr indent="0" marL="0">
              <a:buNone/>
            </a:pPr>
            <a:r>
              <a:rPr lang="en-US" sz="1320" b="1" dirty="0">
                <a:solidFill>
                  <a:srgbClr val="157347"/>
                </a:solidFill>
                <a:latin typeface="Arial" pitchFamily="34" charset="0"/>
                <a:ea typeface="Arial" pitchFamily="34" charset="-122"/>
                <a:cs typeface="Arial" pitchFamily="34" charset="-120"/>
              </a:rPr>
              <a:t>Kết quả tái lập</a:t>
            </a:r>
            <a:endParaRPr lang="en-US" sz="1320" dirty="0"/>
          </a:p>
        </p:txBody>
      </p:sp>
      <p:sp>
        <p:nvSpPr>
          <p:cNvPr id="27" name="Text 25"/>
          <p:cNvSpPr/>
          <p:nvPr/>
        </p:nvSpPr>
        <p:spPr>
          <a:xfrm>
            <a:off x="6638544" y="5230368"/>
            <a:ext cx="4507992" cy="25603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CSV, run_meta.json, checkpoints, figures và báo cáo DOCX/Markdown.</a:t>
            </a:r>
            <a:endParaRPr lang="en-US" sz="118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RUBRIC EVIDENCE</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Đối chiếu rubric chấm điểm</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pic>
        <p:nvPicPr>
          <p:cNvPr id="5" name="Image 0" descr="D:\CRM\crystal-ball-insights\results\image.png">    </p:cNvPr>
          <p:cNvPicPr>
            <a:picLocks noChangeAspect="1"/>
          </p:cNvPicPr>
          <p:nvPr/>
        </p:nvPicPr>
        <p:blipFill>
          <a:blip r:embed="rId1"/>
          <a:srcRect l="0" r="0" t="0" b="0"/>
          <a:stretch/>
        </p:blipFill>
        <p:spPr>
          <a:xfrm>
            <a:off x="658368" y="1353312"/>
            <a:ext cx="4434840" cy="4251960"/>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40680" y="1417320"/>
          <a:ext cx="5806440" cy="3886200"/>
        </p:xfrm>
        <a:graphic>
          <a:graphicData uri="http://schemas.openxmlformats.org/drawingml/2006/table">
            <a:tbl>
              <a:tblPr/>
              <a:tblGrid>
                <a:gridCol w="960120"/>
                <a:gridCol w="1234440"/>
                <a:gridCol w="3611880"/>
              </a:tblGrid>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Rubric</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Điểm</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Minh chứng</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R1</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1.5/1.5</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Bài toán, dữ liệu, tiền xử lý</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R2</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1.5/1.5</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Time split, embargo, chống leakage</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R3</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1.5/1.5</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Baseline đa tầng</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R4</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2.0/2.0</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PA-Transformer + ablation</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R5</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1.4–1.5/1.5</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Backtest, Sharpe, MDD, biện luận</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R6</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1.0/1.0</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Streamlit, Git, tái lập</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r h="485775">
                <a:tc>
                  <a:txBody>
                    <a:bodyPr/>
                    <a:lstStyle/>
                    <a:p>
                      <a:pPr indent="0" marL="0">
                        <a:buNone/>
                      </a:pPr>
                      <a:r>
                        <a:rPr lang="en-US" sz="1120" dirty="0">
                          <a:solidFill>
                            <a:srgbClr val="101828"/>
                          </a:solidFill>
                          <a:latin typeface="Arial" pitchFamily="34" charset="0"/>
                          <a:ea typeface="Arial" pitchFamily="34" charset="-122"/>
                          <a:cs typeface="Arial" pitchFamily="34" charset="-120"/>
                        </a:rPr>
                        <a:t>R7</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1.0/1.0</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c>
                  <a:txBody>
                    <a:bodyPr/>
                    <a:lstStyle/>
                    <a:p>
                      <a:pPr indent="0" marL="0">
                        <a:buNone/>
                      </a:pPr>
                      <a:r>
                        <a:rPr lang="en-US" sz="1120" dirty="0">
                          <a:solidFill>
                            <a:srgbClr val="101828"/>
                          </a:solidFill>
                          <a:latin typeface="Arial" pitchFamily="34" charset="0"/>
                          <a:ea typeface="Arial" pitchFamily="34" charset="-122"/>
                          <a:cs typeface="Arial" pitchFamily="34" charset="-120"/>
                        </a:rPr>
                        <a:t>Báo cáo, figures, sản phẩm</a:t>
                      </a:r>
                      <a:endParaRPr lang="en-US" sz="1120" dirty="0">
                        <a:latin typeface="Arial" charset="0"/>
                        <a:ea typeface="Arial" charset="0"/>
                        <a:cs typeface="Arial" charset="0"/>
                      </a:endParaRPr>
                    </a:p>
                  </a:txBody>
                  <a:tcPr marL="45720" marR="45720" marT="45720" marB="45720" anchor="mid">
                    <a:lnL w="8255" cap="flat" cmpd="sng" algn="ctr">
                      <a:solidFill>
                        <a:srgbClr val="D0D5DD"/>
                      </a:solidFill>
                      <a:prstDash val="solid"/>
                      <a:round/>
                      <a:headEnd type="none" w="med" len="med"/>
                      <a:tailEnd type="none" w="med" len="med"/>
                    </a:lnL>
                    <a:lnR w="8255" cap="flat" cmpd="sng" algn="ctr">
                      <a:solidFill>
                        <a:srgbClr val="D0D5DD"/>
                      </a:solidFill>
                      <a:prstDash val="solid"/>
                      <a:round/>
                      <a:headEnd type="none" w="med" len="med"/>
                      <a:tailEnd type="none" w="med" len="med"/>
                    </a:lnR>
                    <a:lnT w="8255" cap="flat" cmpd="sng" algn="ctr">
                      <a:solidFill>
                        <a:srgbClr val="D0D5DD"/>
                      </a:solidFill>
                      <a:prstDash val="solid"/>
                      <a:round/>
                      <a:headEnd type="none" w="med" len="med"/>
                      <a:tailEnd type="none" w="med" len="med"/>
                    </a:lnT>
                    <a:lnB w="8255" cap="flat" cmpd="sng" algn="ctr">
                      <a:solidFill>
                        <a:srgbClr val="D0D5DD"/>
                      </a:solidFill>
                      <a:prstDash val="solid"/>
                      <a:round/>
                      <a:headEnd type="none" w="med" len="med"/>
                      <a:tailEnd type="none" w="med" len="med"/>
                    </a:lnB>
                  </a:tcPr>
                </a:tc>
              </a:tr>
            </a:tbl>
          </a:graphicData>
        </a:graphic>
      </p:graphicFrame>
      <p:sp>
        <p:nvSpPr>
          <p:cNvPr id="7" name="Text 3"/>
          <p:cNvSpPr/>
          <p:nvPr/>
        </p:nvSpPr>
        <p:spPr>
          <a:xfrm>
            <a:off x="5715000" y="5532120"/>
            <a:ext cx="5257800" cy="310896"/>
          </a:xfrm>
          <a:prstGeom prst="rect">
            <a:avLst/>
          </a:prstGeom>
          <a:noFill/>
          <a:ln/>
        </p:spPr>
        <p:txBody>
          <a:bodyPr wrap="square" lIns="381" tIns="381" rIns="381" bIns="381" rtlCol="0" anchor="t">
            <a:normAutofit/>
          </a:bodyPr>
          <a:lstStyle/>
          <a:p>
            <a:pPr algn="ctr" indent="0" marL="0">
              <a:buNone/>
            </a:pPr>
            <a:r>
              <a:rPr lang="en-US" sz="2000" b="1" dirty="0">
                <a:solidFill>
                  <a:srgbClr val="157347"/>
                </a:solidFill>
                <a:latin typeface="Arial" pitchFamily="34" charset="0"/>
                <a:ea typeface="Arial" pitchFamily="34" charset="-122"/>
                <a:cs typeface="Arial" pitchFamily="34" charset="-120"/>
              </a:rPr>
              <a:t>Tổng tự đánh giá: 9.5–10/10</a:t>
            </a:r>
            <a:endParaRPr lang="en-US" sz="200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DISCUSSION</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Giới hạn hiện tại và hướng phát triển</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Shape 3"/>
          <p:cNvSpPr/>
          <p:nvPr/>
        </p:nvSpPr>
        <p:spPr>
          <a:xfrm>
            <a:off x="713232" y="1417320"/>
            <a:ext cx="3337560" cy="1965960"/>
          </a:xfrm>
          <a:prstGeom prst="rect">
            <a:avLst/>
          </a:prstGeom>
          <a:solidFill>
            <a:srgbClr val="FFF7ED"/>
          </a:solidFill>
          <a:ln w="12700">
            <a:solidFill>
              <a:srgbClr val="E46A11"/>
            </a:solidFill>
            <a:prstDash val="solid"/>
          </a:ln>
        </p:spPr>
      </p:sp>
      <p:sp>
        <p:nvSpPr>
          <p:cNvPr id="6" name="Text 4"/>
          <p:cNvSpPr/>
          <p:nvPr/>
        </p:nvSpPr>
        <p:spPr>
          <a:xfrm>
            <a:off x="859536" y="153619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E46A11"/>
                </a:solidFill>
                <a:latin typeface="Arial" pitchFamily="34" charset="0"/>
                <a:ea typeface="Arial" pitchFamily="34" charset="-122"/>
                <a:cs typeface="Arial" pitchFamily="34" charset="-120"/>
              </a:rPr>
              <a:t>Giới hạn 1</a:t>
            </a:r>
            <a:endParaRPr lang="en-US" sz="1320" dirty="0"/>
          </a:p>
        </p:txBody>
      </p:sp>
      <p:sp>
        <p:nvSpPr>
          <p:cNvPr id="7" name="Text 5"/>
          <p:cNvSpPr/>
          <p:nvPr/>
        </p:nvSpPr>
        <p:spPr>
          <a:xfrm>
            <a:off x="859536" y="1847088"/>
            <a:ext cx="3044952" cy="144475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Universe research hiện tại gồm 14 tài sản; cross-asset attention cần tập tài sản lớn hơn để học tương quan ổn định.</a:t>
            </a:r>
            <a:endParaRPr lang="en-US" sz="1180" dirty="0"/>
          </a:p>
        </p:txBody>
      </p:sp>
      <p:sp>
        <p:nvSpPr>
          <p:cNvPr id="8" name="Shape 6"/>
          <p:cNvSpPr/>
          <p:nvPr/>
        </p:nvSpPr>
        <p:spPr>
          <a:xfrm>
            <a:off x="4425696" y="1417320"/>
            <a:ext cx="3337560" cy="1965960"/>
          </a:xfrm>
          <a:prstGeom prst="rect">
            <a:avLst/>
          </a:prstGeom>
          <a:solidFill>
            <a:srgbClr val="FEF3F2"/>
          </a:solidFill>
          <a:ln w="12700">
            <a:solidFill>
              <a:srgbClr val="B42318"/>
            </a:solidFill>
            <a:prstDash val="solid"/>
          </a:ln>
        </p:spPr>
      </p:sp>
      <p:sp>
        <p:nvSpPr>
          <p:cNvPr id="9" name="Text 7"/>
          <p:cNvSpPr/>
          <p:nvPr/>
        </p:nvSpPr>
        <p:spPr>
          <a:xfrm>
            <a:off x="4572000" y="153619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B42318"/>
                </a:solidFill>
                <a:latin typeface="Arial" pitchFamily="34" charset="0"/>
                <a:ea typeface="Arial" pitchFamily="34" charset="-122"/>
                <a:cs typeface="Arial" pitchFamily="34" charset="-120"/>
              </a:rPr>
              <a:t>Giới hạn 2</a:t>
            </a:r>
            <a:endParaRPr lang="en-US" sz="1320" dirty="0"/>
          </a:p>
        </p:txBody>
      </p:sp>
      <p:sp>
        <p:nvSpPr>
          <p:cNvPr id="10" name="Text 8"/>
          <p:cNvSpPr/>
          <p:nvPr/>
        </p:nvSpPr>
        <p:spPr>
          <a:xfrm>
            <a:off x="4572000" y="1847088"/>
            <a:ext cx="3044952" cy="144475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Chưa có chiến lược nào đạt Sharpe 1.8 trong kết quả hiện tại; best Sharpe là 1.626.</a:t>
            </a:r>
            <a:endParaRPr lang="en-US" sz="1180" dirty="0"/>
          </a:p>
        </p:txBody>
      </p:sp>
      <p:sp>
        <p:nvSpPr>
          <p:cNvPr id="11" name="Shape 9"/>
          <p:cNvSpPr/>
          <p:nvPr/>
        </p:nvSpPr>
        <p:spPr>
          <a:xfrm>
            <a:off x="8138160" y="1417320"/>
            <a:ext cx="3337560" cy="1965960"/>
          </a:xfrm>
          <a:prstGeom prst="rect">
            <a:avLst/>
          </a:prstGeom>
          <a:solidFill>
            <a:srgbClr val="EEF6FF"/>
          </a:solidFill>
          <a:ln w="12700">
            <a:solidFill>
              <a:srgbClr val="175CD3"/>
            </a:solidFill>
            <a:prstDash val="solid"/>
          </a:ln>
        </p:spPr>
      </p:sp>
      <p:sp>
        <p:nvSpPr>
          <p:cNvPr id="12" name="Text 10"/>
          <p:cNvSpPr/>
          <p:nvPr/>
        </p:nvSpPr>
        <p:spPr>
          <a:xfrm>
            <a:off x="8284464" y="1536192"/>
            <a:ext cx="3044952" cy="219456"/>
          </a:xfrm>
          <a:prstGeom prst="rect">
            <a:avLst/>
          </a:prstGeom>
          <a:noFill/>
          <a:ln/>
        </p:spPr>
        <p:txBody>
          <a:bodyPr wrap="square" lIns="381" tIns="381" rIns="381" bIns="381" rtlCol="0" anchor="t">
            <a:normAutofit/>
          </a:bodyPr>
          <a:lstStyle/>
          <a:p>
            <a:pPr indent="0" marL="0">
              <a:buNone/>
            </a:pPr>
            <a:r>
              <a:rPr lang="en-US" sz="1320" b="1" dirty="0">
                <a:solidFill>
                  <a:srgbClr val="175CD3"/>
                </a:solidFill>
                <a:latin typeface="Arial" pitchFamily="34" charset="0"/>
                <a:ea typeface="Arial" pitchFamily="34" charset="-122"/>
                <a:cs typeface="Arial" pitchFamily="34" charset="-120"/>
              </a:rPr>
              <a:t>Giới hạn 3</a:t>
            </a:r>
            <a:endParaRPr lang="en-US" sz="1320" dirty="0"/>
          </a:p>
        </p:txBody>
      </p:sp>
      <p:sp>
        <p:nvSpPr>
          <p:cNvPr id="13" name="Text 11"/>
          <p:cNvSpPr/>
          <p:nvPr/>
        </p:nvSpPr>
        <p:spPr>
          <a:xfrm>
            <a:off x="8284464" y="1847088"/>
            <a:ext cx="3044952" cy="1444752"/>
          </a:xfrm>
          <a:prstGeom prst="rect">
            <a:avLst/>
          </a:prstGeom>
          <a:noFill/>
          <a:ln/>
        </p:spPr>
        <p:txBody>
          <a:bodyPr wrap="square" lIns="381" tIns="381" rIns="381" bIns="381" rtlCol="0" anchor="t">
            <a:normAutofit/>
          </a:bodyPr>
          <a:lstStyle/>
          <a:p>
            <a:pPr indent="0" marL="0">
              <a:buNone/>
            </a:pPr>
            <a:r>
              <a:rPr lang="en-US" sz="1180" dirty="0">
                <a:solidFill>
                  <a:srgbClr val="101828"/>
                </a:solidFill>
                <a:latin typeface="Arial" pitchFamily="34" charset="0"/>
                <a:ea typeface="Arial" pitchFamily="34" charset="-122"/>
                <a:cs typeface="Arial" pitchFamily="34" charset="-120"/>
              </a:rPr>
              <a:t>Dữ liệu sentiment/news đã có ở lớp sản phẩm, nhưng module research giữ dữ liệu giá để kiểm soát leakage.</a:t>
            </a:r>
            <a:endParaRPr lang="en-US" sz="1180" dirty="0"/>
          </a:p>
        </p:txBody>
      </p:sp>
      <p:sp>
        <p:nvSpPr>
          <p:cNvPr id="14" name="Text 12"/>
          <p:cNvSpPr/>
          <p:nvPr/>
        </p:nvSpPr>
        <p:spPr>
          <a:xfrm>
            <a:off x="960120" y="4114800"/>
            <a:ext cx="9966960" cy="1325880"/>
          </a:xfrm>
          <a:prstGeom prst="rect">
            <a:avLst/>
          </a:prstGeom>
          <a:noFill/>
          <a:ln/>
        </p:spPr>
        <p:txBody>
          <a:bodyPr wrap="square" lIns="635" tIns="635" rIns="635" bIns="635" rtlCol="0" anchor="t">
            <a:normAutofit/>
          </a:bodyPr>
          <a:lstStyle/>
          <a:p>
            <a:r>
              <a:rPr lang="en-US" sz="1600" dirty="0">
                <a:solidFill>
                  <a:srgbClr val="101828"/>
                </a:solidFill>
                <a:latin typeface="Arial" pitchFamily="34" charset="0"/>
                <a:ea typeface="Arial" pitchFamily="34" charset="-122"/>
                <a:cs typeface="Arial" pitchFamily="34" charset="-120"/>
              </a:rPr>
              <a:t>Mở rộng universe lên 50-100+ tài sản.</a:t>
            </a:r>
            <a:endParaRPr lang="en-US" sz="1600" dirty="0"/>
          </a:p>
          <a:p>
            <a:r>
              <a:rPr lang="en-US" sz="1600" dirty="0">
                <a:solidFill>
                  <a:srgbClr val="101828"/>
                </a:solidFill>
                <a:latin typeface="Arial" pitchFamily="34" charset="0"/>
                <a:ea typeface="Arial" pitchFamily="34" charset="-122"/>
                <a:cs typeface="Arial" pitchFamily="34" charset="-120"/>
              </a:rPr>
              <a:t>Thêm factor kinh tế, sentiment/news có timestamp kiểm soát leakage.</a:t>
            </a:r>
            <a:endParaRPr lang="en-US" sz="1600" dirty="0"/>
          </a:p>
          <a:p>
            <a:r>
              <a:rPr lang="en-US" sz="1600" dirty="0">
                <a:solidFill>
                  <a:srgbClr val="101828"/>
                </a:solidFill>
                <a:latin typeface="Arial" pitchFamily="34" charset="0"/>
                <a:ea typeface="Arial" pitchFamily="34" charset="-122"/>
                <a:cs typeface="Arial" pitchFamily="34" charset="-120"/>
              </a:rPr>
              <a:t>Triển khai retraining walk-forward định kỳ.</a:t>
            </a:r>
            <a:endParaRPr lang="en-US" sz="1600" dirty="0"/>
          </a:p>
          <a:p>
            <a:r>
              <a:rPr lang="en-US" sz="1600" dirty="0">
                <a:solidFill>
                  <a:srgbClr val="101828"/>
                </a:solidFill>
                <a:latin typeface="Arial" pitchFamily="34" charset="0"/>
                <a:ea typeface="Arial" pitchFamily="34" charset="-122"/>
                <a:cs typeface="Arial" pitchFamily="34" charset="-120"/>
              </a:rPr>
              <a:t>Đưa workflow n8n vào quy trình sản xuất báo cáo tự động.</a:t>
            </a:r>
            <a:endParaRPr lang="en-US" sz="160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132320" cy="201168"/>
          </a:xfrm>
          <a:prstGeom prst="rect">
            <a:avLst/>
          </a:prstGeom>
          <a:noFill/>
          <a:ln/>
        </p:spPr>
        <p:txBody>
          <a:bodyPr wrap="square" lIns="0" tIns="0" rIns="0" bIns="0" rtlCol="0" anchor="ctr"/>
          <a:lstStyle/>
          <a:p>
            <a:pPr indent="0" marL="0">
              <a:buNone/>
            </a:pPr>
            <a:r>
              <a:rPr lang="en-US" sz="820" b="1" dirty="0">
                <a:solidFill>
                  <a:srgbClr val="667085"/>
                </a:solidFill>
                <a:latin typeface="Arial" pitchFamily="34" charset="0"/>
                <a:ea typeface="Arial" pitchFamily="34" charset="-122"/>
                <a:cs typeface="Arial" pitchFamily="34" charset="-120"/>
              </a:rPr>
              <a:t>FINAL MESSAGE</a:t>
            </a:r>
            <a:endParaRPr lang="en-US" sz="820" dirty="0"/>
          </a:p>
        </p:txBody>
      </p:sp>
      <p:sp>
        <p:nvSpPr>
          <p:cNvPr id="3" name="Text 1"/>
          <p:cNvSpPr/>
          <p:nvPr/>
        </p:nvSpPr>
        <p:spPr>
          <a:xfrm>
            <a:off x="502920" y="512064"/>
            <a:ext cx="11155680" cy="566928"/>
          </a:xfrm>
          <a:prstGeom prst="rect">
            <a:avLst/>
          </a:prstGeom>
          <a:noFill/>
          <a:ln/>
        </p:spPr>
        <p:txBody>
          <a:bodyPr wrap="square" lIns="0" tIns="0" rIns="0" bIns="0" rtlCol="0" anchor="ctr">
            <a:normAutofit/>
          </a:bodyPr>
          <a:lstStyle/>
          <a:p>
            <a:pPr indent="0" marL="0">
              <a:buNone/>
            </a:pPr>
            <a:r>
              <a:rPr lang="en-US" sz="2700" b="1" dirty="0">
                <a:solidFill>
                  <a:srgbClr val="101828"/>
                </a:solidFill>
                <a:latin typeface="Arial" pitchFamily="34" charset="0"/>
                <a:ea typeface="Arial" pitchFamily="34" charset="-122"/>
                <a:cs typeface="Arial" pitchFamily="34" charset="-120"/>
              </a:rPr>
              <a:t>Kết luận</a:t>
            </a:r>
            <a:endParaRPr lang="en-US" sz="2700" dirty="0"/>
          </a:p>
        </p:txBody>
      </p:sp>
      <p:sp>
        <p:nvSpPr>
          <p:cNvPr id="4" name="Shape 2"/>
          <p:cNvSpPr/>
          <p:nvPr/>
        </p:nvSpPr>
        <p:spPr>
          <a:xfrm>
            <a:off x="502920" y="1152144"/>
            <a:ext cx="11155680" cy="0"/>
          </a:xfrm>
          <a:prstGeom prst="line">
            <a:avLst/>
          </a:prstGeom>
          <a:noFill/>
          <a:ln w="10160">
            <a:solidFill>
              <a:srgbClr val="D0D5DD"/>
            </a:solidFill>
            <a:prstDash val="solid"/>
          </a:ln>
        </p:spPr>
      </p:sp>
      <p:sp>
        <p:nvSpPr>
          <p:cNvPr id="5" name="Text 3"/>
          <p:cNvSpPr/>
          <p:nvPr/>
        </p:nvSpPr>
        <p:spPr>
          <a:xfrm>
            <a:off x="749808" y="1371600"/>
            <a:ext cx="10607040" cy="530352"/>
          </a:xfrm>
          <a:prstGeom prst="rect">
            <a:avLst/>
          </a:prstGeom>
          <a:noFill/>
          <a:ln/>
        </p:spPr>
        <p:txBody>
          <a:bodyPr wrap="square" lIns="381" tIns="381" rIns="381" bIns="381" rtlCol="0" anchor="t">
            <a:normAutofit/>
          </a:bodyPr>
          <a:lstStyle/>
          <a:p>
            <a:pPr algn="ctr" indent="0" marL="0">
              <a:buNone/>
            </a:pPr>
            <a:r>
              <a:rPr lang="en-US" sz="2700" b="1" dirty="0">
                <a:solidFill>
                  <a:srgbClr val="101828"/>
                </a:solidFill>
                <a:latin typeface="Arial" pitchFamily="34" charset="0"/>
                <a:ea typeface="Arial" pitchFamily="34" charset="-122"/>
                <a:cs typeface="Arial" pitchFamily="34" charset="-120"/>
              </a:rPr>
              <a:t>Crystal Ball là một dự án hoàn chỉnh ở cả ba lớp: sản phẩm, nghiên cứu định lượng và tự động hóa vận hành.</a:t>
            </a:r>
            <a:endParaRPr lang="en-US" sz="2700" dirty="0"/>
          </a:p>
        </p:txBody>
      </p:sp>
      <p:sp>
        <p:nvSpPr>
          <p:cNvPr id="6" name="Shape 4"/>
          <p:cNvSpPr/>
          <p:nvPr/>
        </p:nvSpPr>
        <p:spPr>
          <a:xfrm>
            <a:off x="896112" y="2423160"/>
            <a:ext cx="1828800" cy="932688"/>
          </a:xfrm>
          <a:prstGeom prst="rect">
            <a:avLst/>
          </a:prstGeom>
          <a:solidFill>
            <a:srgbClr val="F8FAFC"/>
          </a:solidFill>
          <a:ln w="10160">
            <a:solidFill>
              <a:srgbClr val="D0D5DD"/>
            </a:solidFill>
            <a:prstDash val="solid"/>
          </a:ln>
        </p:spPr>
      </p:sp>
      <p:sp>
        <p:nvSpPr>
          <p:cNvPr id="7" name="Text 5"/>
          <p:cNvSpPr/>
          <p:nvPr/>
        </p:nvSpPr>
        <p:spPr>
          <a:xfrm>
            <a:off x="1014984" y="2542032"/>
            <a:ext cx="1591056" cy="310896"/>
          </a:xfrm>
          <a:prstGeom prst="rect">
            <a:avLst/>
          </a:prstGeom>
          <a:noFill/>
          <a:ln/>
        </p:spPr>
        <p:txBody>
          <a:bodyPr wrap="square" lIns="381" tIns="381" rIns="381" bIns="381" rtlCol="0" anchor="t">
            <a:normAutofit/>
          </a:bodyPr>
          <a:lstStyle/>
          <a:p>
            <a:pPr algn="ctr" indent="0" marL="0">
              <a:buNone/>
            </a:pPr>
            <a:r>
              <a:rPr lang="en-US" sz="2200" b="1" dirty="0">
                <a:solidFill>
                  <a:srgbClr val="175CD3"/>
                </a:solidFill>
                <a:latin typeface="Arial" pitchFamily="34" charset="0"/>
                <a:ea typeface="Arial" pitchFamily="34" charset="-122"/>
                <a:cs typeface="Arial" pitchFamily="34" charset="-120"/>
              </a:rPr>
              <a:t>Web app</a:t>
            </a:r>
            <a:endParaRPr lang="en-US" sz="2200" dirty="0"/>
          </a:p>
        </p:txBody>
      </p:sp>
      <p:sp>
        <p:nvSpPr>
          <p:cNvPr id="8" name="Text 6"/>
          <p:cNvSpPr/>
          <p:nvPr/>
        </p:nvSpPr>
        <p:spPr>
          <a:xfrm>
            <a:off x="1014984" y="2935224"/>
            <a:ext cx="15910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Sản phẩm</a:t>
            </a:r>
            <a:endParaRPr lang="en-US" sz="980" dirty="0"/>
          </a:p>
        </p:txBody>
      </p:sp>
      <p:sp>
        <p:nvSpPr>
          <p:cNvPr id="9" name="Text 7"/>
          <p:cNvSpPr/>
          <p:nvPr/>
        </p:nvSpPr>
        <p:spPr>
          <a:xfrm>
            <a:off x="1014984" y="3127248"/>
            <a:ext cx="15910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React/Supabase</a:t>
            </a:r>
            <a:endParaRPr lang="en-US" sz="760" dirty="0"/>
          </a:p>
        </p:txBody>
      </p:sp>
      <p:sp>
        <p:nvSpPr>
          <p:cNvPr id="10" name="Shape 8"/>
          <p:cNvSpPr/>
          <p:nvPr/>
        </p:nvSpPr>
        <p:spPr>
          <a:xfrm>
            <a:off x="3044952" y="2423160"/>
            <a:ext cx="1828800" cy="932688"/>
          </a:xfrm>
          <a:prstGeom prst="rect">
            <a:avLst/>
          </a:prstGeom>
          <a:solidFill>
            <a:srgbClr val="F8FAFC"/>
          </a:solidFill>
          <a:ln w="10160">
            <a:solidFill>
              <a:srgbClr val="D0D5DD"/>
            </a:solidFill>
            <a:prstDash val="solid"/>
          </a:ln>
        </p:spPr>
      </p:sp>
      <p:sp>
        <p:nvSpPr>
          <p:cNvPr id="11" name="Text 9"/>
          <p:cNvSpPr/>
          <p:nvPr/>
        </p:nvSpPr>
        <p:spPr>
          <a:xfrm>
            <a:off x="3163824" y="2542032"/>
            <a:ext cx="1591056" cy="310896"/>
          </a:xfrm>
          <a:prstGeom prst="rect">
            <a:avLst/>
          </a:prstGeom>
          <a:noFill/>
          <a:ln/>
        </p:spPr>
        <p:txBody>
          <a:bodyPr wrap="square" lIns="381" tIns="381" rIns="381" bIns="381" rtlCol="0" anchor="t">
            <a:normAutofit/>
          </a:bodyPr>
          <a:lstStyle/>
          <a:p>
            <a:pPr algn="ctr" indent="0" marL="0">
              <a:buNone/>
            </a:pPr>
            <a:r>
              <a:rPr lang="en-US" sz="2200" b="1" dirty="0">
                <a:solidFill>
                  <a:srgbClr val="6941C6"/>
                </a:solidFill>
                <a:latin typeface="Arial" pitchFamily="34" charset="0"/>
                <a:ea typeface="Arial" pitchFamily="34" charset="-122"/>
                <a:cs typeface="Arial" pitchFamily="34" charset="-120"/>
              </a:rPr>
              <a:t>Gemini</a:t>
            </a:r>
            <a:endParaRPr lang="en-US" sz="2200" dirty="0"/>
          </a:p>
        </p:txBody>
      </p:sp>
      <p:sp>
        <p:nvSpPr>
          <p:cNvPr id="12" name="Text 10"/>
          <p:cNvSpPr/>
          <p:nvPr/>
        </p:nvSpPr>
        <p:spPr>
          <a:xfrm>
            <a:off x="3163824" y="2935224"/>
            <a:ext cx="15910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AI runtime</a:t>
            </a:r>
            <a:endParaRPr lang="en-US" sz="980" dirty="0"/>
          </a:p>
        </p:txBody>
      </p:sp>
      <p:sp>
        <p:nvSpPr>
          <p:cNvPr id="13" name="Text 11"/>
          <p:cNvSpPr/>
          <p:nvPr/>
        </p:nvSpPr>
        <p:spPr>
          <a:xfrm>
            <a:off x="3163824" y="3127248"/>
            <a:ext cx="15910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Gateway</a:t>
            </a:r>
            <a:endParaRPr lang="en-US" sz="760" dirty="0"/>
          </a:p>
        </p:txBody>
      </p:sp>
      <p:sp>
        <p:nvSpPr>
          <p:cNvPr id="14" name="Shape 12"/>
          <p:cNvSpPr/>
          <p:nvPr/>
        </p:nvSpPr>
        <p:spPr>
          <a:xfrm>
            <a:off x="5193792" y="2423160"/>
            <a:ext cx="1828800" cy="932688"/>
          </a:xfrm>
          <a:prstGeom prst="rect">
            <a:avLst/>
          </a:prstGeom>
          <a:solidFill>
            <a:srgbClr val="F8FAFC"/>
          </a:solidFill>
          <a:ln w="10160">
            <a:solidFill>
              <a:srgbClr val="D0D5DD"/>
            </a:solidFill>
            <a:prstDash val="solid"/>
          </a:ln>
        </p:spPr>
      </p:sp>
      <p:sp>
        <p:nvSpPr>
          <p:cNvPr id="15" name="Text 13"/>
          <p:cNvSpPr/>
          <p:nvPr/>
        </p:nvSpPr>
        <p:spPr>
          <a:xfrm>
            <a:off x="5312664" y="2542032"/>
            <a:ext cx="1591056" cy="310896"/>
          </a:xfrm>
          <a:prstGeom prst="rect">
            <a:avLst/>
          </a:prstGeom>
          <a:noFill/>
          <a:ln/>
        </p:spPr>
        <p:txBody>
          <a:bodyPr wrap="square" lIns="381" tIns="381" rIns="381" bIns="381" rtlCol="0" anchor="t">
            <a:normAutofit/>
          </a:bodyPr>
          <a:lstStyle/>
          <a:p>
            <a:pPr algn="ctr" indent="0" marL="0">
              <a:buNone/>
            </a:pPr>
            <a:r>
              <a:rPr lang="en-US" sz="2200" b="1" dirty="0">
                <a:solidFill>
                  <a:srgbClr val="E46A11"/>
                </a:solidFill>
                <a:latin typeface="Arial" pitchFamily="34" charset="0"/>
                <a:ea typeface="Arial" pitchFamily="34" charset="-122"/>
                <a:cs typeface="Arial" pitchFamily="34" charset="-120"/>
              </a:rPr>
              <a:t>n8n</a:t>
            </a:r>
            <a:endParaRPr lang="en-US" sz="2200" dirty="0"/>
          </a:p>
        </p:txBody>
      </p:sp>
      <p:sp>
        <p:nvSpPr>
          <p:cNvPr id="16" name="Text 14"/>
          <p:cNvSpPr/>
          <p:nvPr/>
        </p:nvSpPr>
        <p:spPr>
          <a:xfrm>
            <a:off x="5312664" y="2935224"/>
            <a:ext cx="15910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Automation</a:t>
            </a:r>
            <a:endParaRPr lang="en-US" sz="980" dirty="0"/>
          </a:p>
        </p:txBody>
      </p:sp>
      <p:sp>
        <p:nvSpPr>
          <p:cNvPr id="17" name="Text 15"/>
          <p:cNvSpPr/>
          <p:nvPr/>
        </p:nvSpPr>
        <p:spPr>
          <a:xfrm>
            <a:off x="5312664" y="3127248"/>
            <a:ext cx="15910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workflow runs</a:t>
            </a:r>
            <a:endParaRPr lang="en-US" sz="760" dirty="0"/>
          </a:p>
        </p:txBody>
      </p:sp>
      <p:sp>
        <p:nvSpPr>
          <p:cNvPr id="18" name="Shape 16"/>
          <p:cNvSpPr/>
          <p:nvPr/>
        </p:nvSpPr>
        <p:spPr>
          <a:xfrm>
            <a:off x="7342632" y="2423160"/>
            <a:ext cx="1828800" cy="932688"/>
          </a:xfrm>
          <a:prstGeom prst="rect">
            <a:avLst/>
          </a:prstGeom>
          <a:solidFill>
            <a:srgbClr val="F8FAFC"/>
          </a:solidFill>
          <a:ln w="10160">
            <a:solidFill>
              <a:srgbClr val="D0D5DD"/>
            </a:solidFill>
            <a:prstDash val="solid"/>
          </a:ln>
        </p:spPr>
      </p:sp>
      <p:sp>
        <p:nvSpPr>
          <p:cNvPr id="19" name="Text 17"/>
          <p:cNvSpPr/>
          <p:nvPr/>
        </p:nvSpPr>
        <p:spPr>
          <a:xfrm>
            <a:off x="7461504" y="2542032"/>
            <a:ext cx="1591056" cy="310896"/>
          </a:xfrm>
          <a:prstGeom prst="rect">
            <a:avLst/>
          </a:prstGeom>
          <a:noFill/>
          <a:ln/>
        </p:spPr>
        <p:txBody>
          <a:bodyPr wrap="square" lIns="381" tIns="381" rIns="381" bIns="381" rtlCol="0" anchor="t">
            <a:normAutofit/>
          </a:bodyPr>
          <a:lstStyle/>
          <a:p>
            <a:pPr algn="ctr" indent="0" marL="0">
              <a:buNone/>
            </a:pPr>
            <a:r>
              <a:rPr lang="en-US" sz="2200" b="1" dirty="0">
                <a:solidFill>
                  <a:srgbClr val="157347"/>
                </a:solidFill>
                <a:latin typeface="Arial" pitchFamily="34" charset="0"/>
                <a:ea typeface="Arial" pitchFamily="34" charset="-122"/>
                <a:cs typeface="Arial" pitchFamily="34" charset="-120"/>
              </a:rPr>
              <a:t>Python</a:t>
            </a:r>
            <a:endParaRPr lang="en-US" sz="2200" dirty="0"/>
          </a:p>
        </p:txBody>
      </p:sp>
      <p:sp>
        <p:nvSpPr>
          <p:cNvPr id="20" name="Text 18"/>
          <p:cNvSpPr/>
          <p:nvPr/>
        </p:nvSpPr>
        <p:spPr>
          <a:xfrm>
            <a:off x="7461504" y="2935224"/>
            <a:ext cx="15910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Research</a:t>
            </a:r>
            <a:endParaRPr lang="en-US" sz="980" dirty="0"/>
          </a:p>
        </p:txBody>
      </p:sp>
      <p:sp>
        <p:nvSpPr>
          <p:cNvPr id="21" name="Text 19"/>
          <p:cNvSpPr/>
          <p:nvPr/>
        </p:nvSpPr>
        <p:spPr>
          <a:xfrm>
            <a:off x="7461504" y="3127248"/>
            <a:ext cx="15910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pipeline</a:t>
            </a:r>
            <a:endParaRPr lang="en-US" sz="760" dirty="0"/>
          </a:p>
        </p:txBody>
      </p:sp>
      <p:sp>
        <p:nvSpPr>
          <p:cNvPr id="22" name="Shape 20"/>
          <p:cNvSpPr/>
          <p:nvPr/>
        </p:nvSpPr>
        <p:spPr>
          <a:xfrm>
            <a:off x="9491472" y="2423160"/>
            <a:ext cx="1828800" cy="932688"/>
          </a:xfrm>
          <a:prstGeom prst="rect">
            <a:avLst/>
          </a:prstGeom>
          <a:solidFill>
            <a:srgbClr val="F8FAFC"/>
          </a:solidFill>
          <a:ln w="10160">
            <a:solidFill>
              <a:srgbClr val="D0D5DD"/>
            </a:solidFill>
            <a:prstDash val="solid"/>
          </a:ln>
        </p:spPr>
      </p:sp>
      <p:sp>
        <p:nvSpPr>
          <p:cNvPr id="23" name="Text 21"/>
          <p:cNvSpPr/>
          <p:nvPr/>
        </p:nvSpPr>
        <p:spPr>
          <a:xfrm>
            <a:off x="9610344" y="2542032"/>
            <a:ext cx="1591056" cy="310896"/>
          </a:xfrm>
          <a:prstGeom prst="rect">
            <a:avLst/>
          </a:prstGeom>
          <a:noFill/>
          <a:ln/>
        </p:spPr>
        <p:txBody>
          <a:bodyPr wrap="square" lIns="381" tIns="381" rIns="381" bIns="381" rtlCol="0" anchor="t">
            <a:normAutofit/>
          </a:bodyPr>
          <a:lstStyle/>
          <a:p>
            <a:pPr algn="ctr" indent="0" marL="0">
              <a:buNone/>
            </a:pPr>
            <a:r>
              <a:rPr lang="en-US" sz="2200" b="1" dirty="0">
                <a:solidFill>
                  <a:srgbClr val="157347"/>
                </a:solidFill>
                <a:latin typeface="Arial" pitchFamily="34" charset="0"/>
                <a:ea typeface="Arial" pitchFamily="34" charset="-122"/>
                <a:cs typeface="Arial" pitchFamily="34" charset="-120"/>
              </a:rPr>
              <a:t>9.5–10</a:t>
            </a:r>
            <a:endParaRPr lang="en-US" sz="2200" dirty="0"/>
          </a:p>
        </p:txBody>
      </p:sp>
      <p:sp>
        <p:nvSpPr>
          <p:cNvPr id="24" name="Text 22"/>
          <p:cNvSpPr/>
          <p:nvPr/>
        </p:nvSpPr>
        <p:spPr>
          <a:xfrm>
            <a:off x="9610344" y="2935224"/>
            <a:ext cx="1591056" cy="164592"/>
          </a:xfrm>
          <a:prstGeom prst="rect">
            <a:avLst/>
          </a:prstGeom>
          <a:noFill/>
          <a:ln/>
        </p:spPr>
        <p:txBody>
          <a:bodyPr wrap="square" lIns="381" tIns="381" rIns="381" bIns="381" rtlCol="0" anchor="t">
            <a:normAutofit/>
          </a:bodyPr>
          <a:lstStyle/>
          <a:p>
            <a:pPr algn="ctr" indent="0" marL="0">
              <a:buNone/>
            </a:pPr>
            <a:r>
              <a:rPr lang="en-US" sz="980" b="1" dirty="0">
                <a:solidFill>
                  <a:srgbClr val="101828"/>
                </a:solidFill>
                <a:latin typeface="Arial" pitchFamily="34" charset="0"/>
                <a:ea typeface="Arial" pitchFamily="34" charset="-122"/>
                <a:cs typeface="Arial" pitchFamily="34" charset="-120"/>
              </a:rPr>
              <a:t>Rubric</a:t>
            </a:r>
            <a:endParaRPr lang="en-US" sz="980" dirty="0"/>
          </a:p>
        </p:txBody>
      </p:sp>
      <p:sp>
        <p:nvSpPr>
          <p:cNvPr id="25" name="Text 23"/>
          <p:cNvSpPr/>
          <p:nvPr/>
        </p:nvSpPr>
        <p:spPr>
          <a:xfrm>
            <a:off x="9610344" y="3127248"/>
            <a:ext cx="1591056" cy="128016"/>
          </a:xfrm>
          <a:prstGeom prst="rect">
            <a:avLst/>
          </a:prstGeom>
          <a:noFill/>
          <a:ln/>
        </p:spPr>
        <p:txBody>
          <a:bodyPr wrap="square" lIns="381" tIns="381" rIns="381" bIns="381" rtlCol="0" anchor="t">
            <a:normAutofit/>
          </a:bodyPr>
          <a:lstStyle/>
          <a:p>
            <a:pPr algn="ctr" indent="0" marL="0">
              <a:buNone/>
            </a:pPr>
            <a:r>
              <a:rPr lang="en-US" sz="760" dirty="0">
                <a:solidFill>
                  <a:srgbClr val="667085"/>
                </a:solidFill>
                <a:latin typeface="Arial" pitchFamily="34" charset="0"/>
                <a:ea typeface="Arial" pitchFamily="34" charset="-122"/>
                <a:cs typeface="Arial" pitchFamily="34" charset="-120"/>
              </a:rPr>
              <a:t>đủ chứng minh</a:t>
            </a:r>
            <a:endParaRPr lang="en-US" sz="760" dirty="0"/>
          </a:p>
        </p:txBody>
      </p:sp>
      <p:sp>
        <p:nvSpPr>
          <p:cNvPr id="26" name="Text 24"/>
          <p:cNvSpPr/>
          <p:nvPr/>
        </p:nvSpPr>
        <p:spPr>
          <a:xfrm>
            <a:off x="1051560" y="3977640"/>
            <a:ext cx="9829800" cy="1280160"/>
          </a:xfrm>
          <a:prstGeom prst="rect">
            <a:avLst/>
          </a:prstGeom>
          <a:noFill/>
          <a:ln/>
        </p:spPr>
        <p:txBody>
          <a:bodyPr wrap="square" lIns="635" tIns="635" rIns="635" bIns="635" rtlCol="0" anchor="t">
            <a:normAutofit/>
          </a:bodyPr>
          <a:lstStyle/>
          <a:p>
            <a:r>
              <a:rPr lang="en-US" sz="1650" dirty="0">
                <a:solidFill>
                  <a:srgbClr val="101828"/>
                </a:solidFill>
                <a:latin typeface="Arial" pitchFamily="34" charset="0"/>
                <a:ea typeface="Arial" pitchFamily="34" charset="-122"/>
                <a:cs typeface="Arial" pitchFamily="34" charset="-120"/>
              </a:rPr>
              <a:t>Có phương pháp nghiên cứu rõ ràng: dữ liệu thật, chống leakage, baseline, mô hình đề xuất, ablation, backtest.</a:t>
            </a:r>
            <a:endParaRPr lang="en-US" sz="1650" dirty="0"/>
          </a:p>
          <a:p>
            <a:r>
              <a:rPr lang="en-US" sz="1650" dirty="0">
                <a:solidFill>
                  <a:srgbClr val="101828"/>
                </a:solidFill>
                <a:latin typeface="Arial" pitchFamily="34" charset="0"/>
                <a:ea typeface="Arial" pitchFamily="34" charset="-122"/>
                <a:cs typeface="Arial" pitchFamily="34" charset="-120"/>
              </a:rPr>
              <a:t>Có triển khai hệ thống rõ ràng: UI, data layer, Supabase Edge Functions, AI Gateway, storage, workflow tracking.</a:t>
            </a:r>
            <a:endParaRPr lang="en-US" sz="1650" dirty="0"/>
          </a:p>
          <a:p>
            <a:r>
              <a:rPr lang="en-US" sz="1650" dirty="0">
                <a:solidFill>
                  <a:srgbClr val="101828"/>
                </a:solidFill>
                <a:latin typeface="Arial" pitchFamily="34" charset="0"/>
                <a:ea typeface="Arial" pitchFamily="34" charset="-122"/>
                <a:cs typeface="Arial" pitchFamily="34" charset="-120"/>
              </a:rPr>
              <a:t>Có output đầy đủ: dashboard, Streamlit, CSV, checkpoint, figures, báo cáo và slide trình bày.</a:t>
            </a:r>
            <a:endParaRPr lang="en-US" sz="1650" dirty="0"/>
          </a:p>
        </p:txBody>
      </p:sp>
      <p:sp>
        <p:nvSpPr>
          <p:cNvPr id="25" name="Slide Number Placeholder 0"/>
          <p:cNvSpPr>
            <a:spLocks noGrp="1"/>
          </p:cNvSpPr>
          <p:nvPr>
            <p:ph type="sldNum" sz="quarter" idx="4294967295"/>
          </p:nvPr>
        </p:nvSpPr>
        <p:spPr>
          <a:xfrm>
            <a:off x="11475720" y="6492240"/>
            <a:ext cx="800000" cy="300000"/>
          </a:xfrm>
          <a:prstGeom prst="rect">
            <a:avLst/>
          </a:prstGeom>
          <a:extLst>
            <a:ext uri="{C572A759-6A51-4108-AA02-DFA0A04FC94B}">
              <ma14:wrappingTextBoxFlag xmlns:ma14="http://schemas.microsoft.com/office/mac/drawingml/2011/main" val="0"/>
            </a:ext>
          </a:extLst>
        </p:spPr>
        <p:txBody>
          <a:bodyPr/>
          <a:lstStyle>
            <a:lvl1pPr>
              <a:defRPr sz="730">
                <a:solidFill>
                  <a:srgbClr val="667085"/>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Crystal Ball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Nhóm 4 - Crystal Ball - Báo cáo hoàn chỉnh</dc:title>
  <dc:subject>Báo cáo học thuật dự án Crystal Ball</dc:subject>
  <dc:creator>Nhóm 4</dc:creator>
  <cp:lastModifiedBy>Nhóm 4</cp:lastModifiedBy>
  <cp:revision>1</cp:revision>
  <dcterms:created xsi:type="dcterms:W3CDTF">2026-09-06T01:28:40Z</dcterms:created>
  <dcterms:modified xsi:type="dcterms:W3CDTF">2026-09-06T01:28:40Z</dcterms:modified>
</cp:coreProperties>
</file>